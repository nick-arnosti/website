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324" r:id="rId2"/>
    <p:sldId id="319" r:id="rId3"/>
    <p:sldId id="323" r:id="rId4"/>
    <p:sldId id="320" r:id="rId5"/>
    <p:sldId id="32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23"/>
    <p:restoredTop sz="96197"/>
  </p:normalViewPr>
  <p:slideViewPr>
    <p:cSldViewPr snapToGrid="0">
      <p:cViewPr varScale="1">
        <p:scale>
          <a:sx n="113" d="100"/>
          <a:sy n="113" d="100"/>
        </p:scale>
        <p:origin x="20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4A52F-60B6-9C4F-AAC9-836925B94DA6}" type="datetimeFigureOut">
              <a:rPr lang="es-ES_tradnl" smtClean="0"/>
              <a:t>19/1/23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F936E-78DC-A646-A981-A9E4F18A5B61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42226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Individually rational: means no individual can single-handedly deviate.</a:t>
            </a:r>
          </a:p>
          <a:p>
            <a:r>
              <a:rPr lang="en-US" dirty="0"/>
              <a:t>Pareto efficient means the entire group can deviate.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7BECB-A304-294D-A408-68983C0E0A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397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Individually rational: means no individual can single-handedly deviate.</a:t>
            </a:r>
          </a:p>
          <a:p>
            <a:r>
              <a:rPr lang="en-US" dirty="0"/>
              <a:t>Pareto efficient means the entire group can deviate.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7BECB-A304-294D-A408-68983C0E0A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12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Individually rational: means no individual can single-handedly deviate.</a:t>
            </a:r>
          </a:p>
          <a:p>
            <a:r>
              <a:rPr lang="en-US" dirty="0"/>
              <a:t>Pareto efficient means the entire group can deviate.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7BECB-A304-294D-A408-68983C0E0A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15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Individually rational: means no individual can single-handedly deviate.</a:t>
            </a:r>
          </a:p>
          <a:p>
            <a:r>
              <a:rPr lang="en-US" dirty="0"/>
              <a:t>Pareto efficient means the entire group can deviate.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7BECB-A304-294D-A408-68983C0E0A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9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Individually rational: means no individual can single-handedly deviate.</a:t>
            </a:r>
          </a:p>
          <a:p>
            <a:r>
              <a:rPr lang="en-US" dirty="0"/>
              <a:t>Pareto efficient means the entire group can deviate.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7BECB-A304-294D-A408-68983C0E0A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5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7424-89B7-FEAB-02C7-4A1A80E6D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F0919-CC47-AD8F-AF0A-A57AD7E96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525D-B18B-7850-165F-EFB4D6D50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5BA9-2C9A-4D49-B4CE-B8D1A41CE2DC}" type="datetimeFigureOut">
              <a:rPr lang="es-ES_tradnl" smtClean="0"/>
              <a:t>19/1/23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E53F5-07AD-A1B9-4F32-1CF2D9E2E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5DA4A-08E6-A154-FA34-9E9C7F778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D09C-D6C4-AC4A-A79A-B14AD9AC4F05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21372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2E906-3CD0-FF95-1065-FA1F547DB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788B6-2C83-0730-0325-197C49574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13B25-D50F-2524-BD82-45BE085DC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5BA9-2C9A-4D49-B4CE-B8D1A41CE2DC}" type="datetimeFigureOut">
              <a:rPr lang="es-ES_tradnl" smtClean="0"/>
              <a:t>19/1/23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E1333-0FF6-8856-A241-54AE2208F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99408-82A2-15F0-495D-23427402B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D09C-D6C4-AC4A-A79A-B14AD9AC4F05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66076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6C70-6A0E-58BD-3169-5AA66192F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548BC-7DB8-211A-EB73-F821AFF04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82142-4DCA-5AAB-4A2F-8FABF058D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5BA9-2C9A-4D49-B4CE-B8D1A41CE2DC}" type="datetimeFigureOut">
              <a:rPr lang="es-ES_tradnl" smtClean="0"/>
              <a:t>19/1/23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729AF-2FDE-E196-B0FD-35D7548E2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ED4EA-4E63-C44B-0C92-62B40E62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D09C-D6C4-AC4A-A79A-B14AD9AC4F05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31844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4A02-404D-9F30-24AF-A346F8599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652DE-4C31-C07D-E23A-65E8F8449F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2F4F2-596A-B0E1-4DCD-A7593B347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C115F-A0F1-A708-DF47-C15A27A9D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5BA9-2C9A-4D49-B4CE-B8D1A41CE2DC}" type="datetimeFigureOut">
              <a:rPr lang="es-ES_tradnl" smtClean="0"/>
              <a:t>19/1/23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433A1-FC3F-D44F-E9D3-9C34326A9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9B467-6AC5-C0D5-6C7F-E286E73EC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D09C-D6C4-AC4A-A79A-B14AD9AC4F05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745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AC1CA-E93B-18DB-3721-190AB001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FDA94-3C69-968D-AA72-DE5671384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319EC-B571-582D-9E09-9C258EA65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A2E074-FF1E-A819-5CD5-B44FA5CC1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87C03C-4263-18EC-38E9-9C87AD7EA7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3DE8B0-0083-701C-99C3-99F972F1C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5BA9-2C9A-4D49-B4CE-B8D1A41CE2DC}" type="datetimeFigureOut">
              <a:rPr lang="es-ES_tradnl" smtClean="0"/>
              <a:t>19/1/23</a:t>
            </a:fld>
            <a:endParaRPr lang="es-ES_trad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C5FE19-A8B3-F8B6-E11C-AB0147829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CF6CEA-27B4-8E81-46DF-9F7658B04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D09C-D6C4-AC4A-A79A-B14AD9AC4F05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2734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4286-D17E-1D78-1A62-E53FAA28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1CC037-7185-2CD9-1746-8E60A57B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5BA9-2C9A-4D49-B4CE-B8D1A41CE2DC}" type="datetimeFigureOut">
              <a:rPr lang="es-ES_tradnl" smtClean="0"/>
              <a:t>19/1/23</a:t>
            </a:fld>
            <a:endParaRPr lang="es-ES_trad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DF7C1B-D0BF-DF5F-3ADC-C847C9C48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4E27B-3228-1091-B2D1-7CC4C27F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D09C-D6C4-AC4A-A79A-B14AD9AC4F05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60585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EE3DA5-2F9D-745D-50A2-EAB5640AC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5BA9-2C9A-4D49-B4CE-B8D1A41CE2DC}" type="datetimeFigureOut">
              <a:rPr lang="es-ES_tradnl" smtClean="0"/>
              <a:t>19/1/23</a:t>
            </a:fld>
            <a:endParaRPr lang="es-ES_trad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B666E6-A970-7EFE-1F40-44F09CA4A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43A16-FED8-3AAC-51F7-0195CBCEB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D09C-D6C4-AC4A-A79A-B14AD9AC4F05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74582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75103-9FE8-5D18-EF55-478D2E56F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A02D2-967C-E91C-397E-BF6D0BD82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B6E46-B6F5-FFC3-64D1-8B63EF666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0F03B-53D1-6142-48D5-B99769BAF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5BA9-2C9A-4D49-B4CE-B8D1A41CE2DC}" type="datetimeFigureOut">
              <a:rPr lang="es-ES_tradnl" smtClean="0"/>
              <a:t>19/1/23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A7E9A-DCAA-42FF-96C3-54F419FD2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498C5-D35A-583D-F4E2-90D945BC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D09C-D6C4-AC4A-A79A-B14AD9AC4F05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10507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09625-183C-E581-A4F3-AEBEFF599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455221-FE33-AE97-109C-C912D16F41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11149-B47F-2D9D-DFDC-E3168F5F6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8D8B4-964D-E056-2470-AEC4566C4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5BA9-2C9A-4D49-B4CE-B8D1A41CE2DC}" type="datetimeFigureOut">
              <a:rPr lang="es-ES_tradnl" smtClean="0"/>
              <a:t>19/1/23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330ED-26D0-F25B-43BD-E6A54AB3B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E3CF7-50B1-37B3-FC3E-21EC07129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D09C-D6C4-AC4A-A79A-B14AD9AC4F05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3405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E4CF-3144-75C0-8398-B93490928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DCB262-95C1-D535-6301-5FCB56AA0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EA7B8-506D-00BF-097B-42CA41A1C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5BA9-2C9A-4D49-B4CE-B8D1A41CE2DC}" type="datetimeFigureOut">
              <a:rPr lang="es-ES_tradnl" smtClean="0"/>
              <a:t>19/1/23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07000-1527-48F9-66C6-C83519C47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FF27D-5D33-9C77-2718-ACFE54B8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D09C-D6C4-AC4A-A79A-B14AD9AC4F05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1357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A57A6A-53E4-800C-4ABA-4DBE4C91E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A6152-CE50-25DB-495A-721CB0AE8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35EBF-4E1E-12A4-9F17-F9657A04A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5BA9-2C9A-4D49-B4CE-B8D1A41CE2DC}" type="datetimeFigureOut">
              <a:rPr lang="es-ES_tradnl" smtClean="0"/>
              <a:t>19/1/23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40076-9141-2002-B63A-465E4B80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47EA1-42B5-87EC-C4D9-99A24D416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D09C-D6C4-AC4A-A79A-B14AD9AC4F05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51611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B7FB9-8C96-F658-1940-DA8F6413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D640C-1740-0C7A-2BAC-0CA4501E6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9F2E0-B7B0-294F-58D7-ABEB2D071A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85BA9-2C9A-4D49-B4CE-B8D1A41CE2DC}" type="datetimeFigureOut">
              <a:rPr lang="es-ES_tradnl" smtClean="0"/>
              <a:t>19/1/23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F6017-DC2F-0B9B-9B1D-8108C9DF0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CD1A1-AD9C-AD75-11AA-1E9B758C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8D09C-D6C4-AC4A-A79A-B14AD9AC4F05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98749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nut 5">
            <a:extLst>
              <a:ext uri="{FF2B5EF4-FFF2-40B4-BE49-F238E27FC236}">
                <a16:creationId xmlns:a16="http://schemas.microsoft.com/office/drawing/2014/main" id="{A6E3BB76-F15B-9545-A7C4-88172A5507A1}"/>
              </a:ext>
            </a:extLst>
          </p:cNvPr>
          <p:cNvSpPr/>
          <p:nvPr/>
        </p:nvSpPr>
        <p:spPr>
          <a:xfrm>
            <a:off x="3567828" y="991006"/>
            <a:ext cx="6781677" cy="3507768"/>
          </a:xfrm>
          <a:prstGeom prst="donut">
            <a:avLst>
              <a:gd name="adj" fmla="val 220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690DB4-3C88-D140-B254-B40DEC33A54D}"/>
              </a:ext>
            </a:extLst>
          </p:cNvPr>
          <p:cNvSpPr txBox="1"/>
          <p:nvPr/>
        </p:nvSpPr>
        <p:spPr>
          <a:xfrm>
            <a:off x="2760669" y="684059"/>
            <a:ext cx="3805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Ordinally Concave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5D5A7-75D7-5D49-B46F-5074CE7B2056}"/>
              </a:ext>
            </a:extLst>
          </p:cNvPr>
          <p:cNvSpPr txBox="1"/>
          <p:nvPr/>
        </p:nvSpPr>
        <p:spPr>
          <a:xfrm>
            <a:off x="8360685" y="2296110"/>
            <a:ext cx="192110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Pseudo </a:t>
            </a:r>
          </a:p>
          <a:p>
            <a:pPr algn="ctr"/>
            <a:r>
              <a:rPr lang="en-US" sz="2800" dirty="0"/>
              <a:t>M</a:t>
            </a:r>
            <a:r>
              <a:rPr lang="en-US" sz="2800" baseline="30000" dirty="0"/>
              <a:t>♮</a:t>
            </a:r>
            <a:r>
              <a:rPr lang="en-US" sz="2800" dirty="0"/>
              <a:t>-Concave</a:t>
            </a:r>
            <a:endParaRPr lang="en-US" sz="2800" baseline="30000" dirty="0"/>
          </a:p>
          <a:p>
            <a:pPr algn="ctr"/>
            <a:endParaRPr lang="en-US" sz="2800" dirty="0"/>
          </a:p>
        </p:txBody>
      </p:sp>
      <p:sp>
        <p:nvSpPr>
          <p:cNvPr id="11" name="Donut 10">
            <a:extLst>
              <a:ext uri="{FF2B5EF4-FFF2-40B4-BE49-F238E27FC236}">
                <a16:creationId xmlns:a16="http://schemas.microsoft.com/office/drawing/2014/main" id="{32FEC694-C7F0-3449-B4AF-50E3214C5C6C}"/>
              </a:ext>
            </a:extLst>
          </p:cNvPr>
          <p:cNvSpPr/>
          <p:nvPr/>
        </p:nvSpPr>
        <p:spPr>
          <a:xfrm>
            <a:off x="4288371" y="2202662"/>
            <a:ext cx="3493968" cy="1797232"/>
          </a:xfrm>
          <a:prstGeom prst="donut">
            <a:avLst>
              <a:gd name="adj" fmla="val 3709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Donut 13">
            <a:extLst>
              <a:ext uri="{FF2B5EF4-FFF2-40B4-BE49-F238E27FC236}">
                <a16:creationId xmlns:a16="http://schemas.microsoft.com/office/drawing/2014/main" id="{79CA31EF-D7D6-9446-90A7-5B14DF7A65BD}"/>
              </a:ext>
            </a:extLst>
          </p:cNvPr>
          <p:cNvSpPr/>
          <p:nvPr/>
        </p:nvSpPr>
        <p:spPr>
          <a:xfrm>
            <a:off x="3902667" y="1250533"/>
            <a:ext cx="4247420" cy="2957741"/>
          </a:xfrm>
          <a:prstGeom prst="donut">
            <a:avLst>
              <a:gd name="adj" fmla="val 332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onut 4">
            <a:extLst>
              <a:ext uri="{FF2B5EF4-FFF2-40B4-BE49-F238E27FC236}">
                <a16:creationId xmlns:a16="http://schemas.microsoft.com/office/drawing/2014/main" id="{B2338DCB-C3F5-C3C4-72BE-FA7F30F0BD10}"/>
              </a:ext>
            </a:extLst>
          </p:cNvPr>
          <p:cNvSpPr/>
          <p:nvPr/>
        </p:nvSpPr>
        <p:spPr>
          <a:xfrm>
            <a:off x="1123218" y="532718"/>
            <a:ext cx="7354859" cy="4138676"/>
          </a:xfrm>
          <a:prstGeom prst="donut">
            <a:avLst>
              <a:gd name="adj" fmla="val 292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Donut 1">
            <a:extLst>
              <a:ext uri="{FF2B5EF4-FFF2-40B4-BE49-F238E27FC236}">
                <a16:creationId xmlns:a16="http://schemas.microsoft.com/office/drawing/2014/main" id="{0216005A-447A-8D6D-CD45-076BE9DB4808}"/>
              </a:ext>
            </a:extLst>
          </p:cNvPr>
          <p:cNvSpPr/>
          <p:nvPr/>
        </p:nvSpPr>
        <p:spPr>
          <a:xfrm>
            <a:off x="1772512" y="2221456"/>
            <a:ext cx="3456878" cy="1778438"/>
          </a:xfrm>
          <a:prstGeom prst="donut">
            <a:avLst>
              <a:gd name="adj" fmla="val 451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1A9F5D-87A5-62A1-47B2-4713488779C3}"/>
              </a:ext>
            </a:extLst>
          </p:cNvPr>
          <p:cNvSpPr txBox="1"/>
          <p:nvPr/>
        </p:nvSpPr>
        <p:spPr>
          <a:xfrm>
            <a:off x="1266788" y="3001694"/>
            <a:ext cx="31304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M-Concave</a:t>
            </a:r>
          </a:p>
          <a:p>
            <a:pPr algn="ctr"/>
            <a:endParaRPr lang="en-US" sz="2800" dirty="0">
              <a:solidFill>
                <a:schemeClr val="accent6"/>
              </a:solidFill>
            </a:endParaRPr>
          </a:p>
        </p:txBody>
      </p:sp>
      <p:sp>
        <p:nvSpPr>
          <p:cNvPr id="4" name="Donut 3">
            <a:extLst>
              <a:ext uri="{FF2B5EF4-FFF2-40B4-BE49-F238E27FC236}">
                <a16:creationId xmlns:a16="http://schemas.microsoft.com/office/drawing/2014/main" id="{52C4EC7E-A22C-9C60-8D2F-7823F312FB89}"/>
              </a:ext>
            </a:extLst>
          </p:cNvPr>
          <p:cNvSpPr/>
          <p:nvPr/>
        </p:nvSpPr>
        <p:spPr>
          <a:xfrm>
            <a:off x="1426564" y="1331377"/>
            <a:ext cx="4131593" cy="2862938"/>
          </a:xfrm>
          <a:prstGeom prst="donut">
            <a:avLst>
              <a:gd name="adj" fmla="val 332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2F2607-9EB5-1759-7086-6897AE66F43B}"/>
              </a:ext>
            </a:extLst>
          </p:cNvPr>
          <p:cNvSpPr txBox="1"/>
          <p:nvPr/>
        </p:nvSpPr>
        <p:spPr>
          <a:xfrm>
            <a:off x="1970691" y="1758508"/>
            <a:ext cx="413159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M</a:t>
            </a:r>
            <a:r>
              <a:rPr lang="en-US" sz="2800" baseline="30000" dirty="0">
                <a:solidFill>
                  <a:schemeClr val="accent2"/>
                </a:solidFill>
              </a:rPr>
              <a:t>♮</a:t>
            </a:r>
            <a:r>
              <a:rPr lang="en-US" sz="2800" dirty="0">
                <a:solidFill>
                  <a:schemeClr val="accent2"/>
                </a:solidFill>
              </a:rPr>
              <a:t>-Concave</a:t>
            </a:r>
            <a:endParaRPr lang="en-US" sz="2800" baseline="30000" dirty="0">
              <a:solidFill>
                <a:schemeClr val="accent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C4F06E-6214-2547-95E7-63A6CF950134}"/>
              </a:ext>
            </a:extLst>
          </p:cNvPr>
          <p:cNvSpPr txBox="1"/>
          <p:nvPr/>
        </p:nvSpPr>
        <p:spPr>
          <a:xfrm>
            <a:off x="5490722" y="2431010"/>
            <a:ext cx="31304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/>
                </a:solidFill>
              </a:rPr>
              <a:t>Semi-Strictly Pseudo </a:t>
            </a:r>
          </a:p>
          <a:p>
            <a:r>
              <a:rPr lang="en-US" sz="2800" dirty="0">
                <a:solidFill>
                  <a:schemeClr val="accent6"/>
                </a:solidFill>
              </a:rPr>
              <a:t>M</a:t>
            </a:r>
            <a:r>
              <a:rPr lang="en-US" sz="2800" baseline="30000" dirty="0">
                <a:solidFill>
                  <a:schemeClr val="accent6"/>
                </a:solidFill>
              </a:rPr>
              <a:t>♮</a:t>
            </a:r>
            <a:r>
              <a:rPr lang="en-US" sz="2800" dirty="0">
                <a:solidFill>
                  <a:schemeClr val="accent6"/>
                </a:solidFill>
              </a:rPr>
              <a:t>-Concave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CAB5C8-4369-AD4E-8D25-2CAC1DB0AF6E}"/>
              </a:ext>
            </a:extLst>
          </p:cNvPr>
          <p:cNvSpPr txBox="1"/>
          <p:nvPr/>
        </p:nvSpPr>
        <p:spPr>
          <a:xfrm>
            <a:off x="5422225" y="1313662"/>
            <a:ext cx="41315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4"/>
                </a:solidFill>
              </a:rPr>
              <a:t>Pseudo 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M</a:t>
            </a:r>
            <a:r>
              <a:rPr lang="en-US" sz="2800" baseline="30000" dirty="0">
                <a:solidFill>
                  <a:schemeClr val="accent4"/>
                </a:solidFill>
              </a:rPr>
              <a:t>♮</a:t>
            </a:r>
            <a:r>
              <a:rPr lang="en-US" sz="2800" dirty="0">
                <a:solidFill>
                  <a:schemeClr val="accent4"/>
                </a:solidFill>
              </a:rPr>
              <a:t>-Concave</a:t>
            </a:r>
            <a:r>
              <a:rPr lang="en-US" sz="2800" baseline="30000" dirty="0">
                <a:solidFill>
                  <a:schemeClr val="accent4"/>
                </a:solidFill>
              </a:rPr>
              <a:t>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840404-87CD-209A-6194-A57E27FC734F}"/>
              </a:ext>
            </a:extLst>
          </p:cNvPr>
          <p:cNvSpPr txBox="1"/>
          <p:nvPr/>
        </p:nvSpPr>
        <p:spPr>
          <a:xfrm>
            <a:off x="2996770" y="6347737"/>
            <a:ext cx="28010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 err="1">
                <a:solidFill>
                  <a:schemeClr val="accent1"/>
                </a:solidFill>
              </a:rPr>
              <a:t>Ordinally</a:t>
            </a:r>
            <a:r>
              <a:rPr lang="es-ES_tradnl" sz="2800" dirty="0">
                <a:solidFill>
                  <a:schemeClr val="accent1"/>
                </a:solidFill>
              </a:rPr>
              <a:t> </a:t>
            </a:r>
            <a:r>
              <a:rPr lang="es-ES_tradnl" sz="2800" dirty="0" err="1">
                <a:solidFill>
                  <a:schemeClr val="accent1"/>
                </a:solidFill>
              </a:rPr>
              <a:t>Concave</a:t>
            </a:r>
            <a:endParaRPr lang="es-ES_tradnl" sz="2800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47461-7C1A-13F5-43BA-7E619E1500D9}"/>
              </a:ext>
            </a:extLst>
          </p:cNvPr>
          <p:cNvSpPr txBox="1"/>
          <p:nvPr/>
        </p:nvSpPr>
        <p:spPr>
          <a:xfrm>
            <a:off x="2388862" y="5610321"/>
            <a:ext cx="413159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M</a:t>
            </a:r>
            <a:r>
              <a:rPr lang="en-US" sz="2800" baseline="30000" dirty="0">
                <a:solidFill>
                  <a:schemeClr val="accent2"/>
                </a:solidFill>
              </a:rPr>
              <a:t>♮</a:t>
            </a:r>
            <a:r>
              <a:rPr lang="en-US" sz="2800" dirty="0">
                <a:solidFill>
                  <a:schemeClr val="accent2"/>
                </a:solidFill>
              </a:rPr>
              <a:t>-Concave</a:t>
            </a:r>
            <a:endParaRPr lang="en-US" sz="2800" baseline="30000" dirty="0">
              <a:solidFill>
                <a:schemeClr val="accent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0CFEA3-1EDE-11A3-5F84-141C866B7440}"/>
              </a:ext>
            </a:extLst>
          </p:cNvPr>
          <p:cNvSpPr txBox="1"/>
          <p:nvPr/>
        </p:nvSpPr>
        <p:spPr>
          <a:xfrm>
            <a:off x="2388862" y="4850076"/>
            <a:ext cx="3130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M-Concave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85D84E-9521-BA24-53F2-BE262EF5057F}"/>
              </a:ext>
            </a:extLst>
          </p:cNvPr>
          <p:cNvSpPr txBox="1"/>
          <p:nvPr/>
        </p:nvSpPr>
        <p:spPr>
          <a:xfrm>
            <a:off x="4745336" y="5621610"/>
            <a:ext cx="3309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4"/>
                </a:solidFill>
              </a:rPr>
              <a:t>Pseudo M</a:t>
            </a:r>
            <a:r>
              <a:rPr lang="en-US" sz="2800" baseline="30000" dirty="0">
                <a:solidFill>
                  <a:schemeClr val="accent4"/>
                </a:solidFill>
              </a:rPr>
              <a:t>♮</a:t>
            </a:r>
            <a:r>
              <a:rPr lang="en-US" sz="2800" dirty="0">
                <a:solidFill>
                  <a:schemeClr val="accent4"/>
                </a:solidFill>
              </a:rPr>
              <a:t>-Concave</a:t>
            </a:r>
            <a:r>
              <a:rPr lang="en-US" sz="2800" baseline="30000" dirty="0">
                <a:solidFill>
                  <a:schemeClr val="accent4"/>
                </a:solidFill>
              </a:rPr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2414F7-A264-11CD-0354-8904F1ECF797}"/>
              </a:ext>
            </a:extLst>
          </p:cNvPr>
          <p:cNvSpPr txBox="1"/>
          <p:nvPr/>
        </p:nvSpPr>
        <p:spPr>
          <a:xfrm>
            <a:off x="4288371" y="4851960"/>
            <a:ext cx="5137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/>
                </a:solidFill>
              </a:rPr>
              <a:t>Semi-Strictly Pseudo M</a:t>
            </a:r>
            <a:r>
              <a:rPr lang="en-US" sz="2800" baseline="30000" dirty="0">
                <a:solidFill>
                  <a:schemeClr val="accent6"/>
                </a:solidFill>
              </a:rPr>
              <a:t>♮</a:t>
            </a:r>
            <a:r>
              <a:rPr lang="en-US" sz="2800" dirty="0">
                <a:solidFill>
                  <a:schemeClr val="accent6"/>
                </a:solidFill>
              </a:rPr>
              <a:t>-Concave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713268-8452-9665-37B6-71F25C909252}"/>
              </a:ext>
            </a:extLst>
          </p:cNvPr>
          <p:cNvSpPr txBox="1"/>
          <p:nvPr/>
        </p:nvSpPr>
        <p:spPr>
          <a:xfrm>
            <a:off x="6400255" y="6307132"/>
            <a:ext cx="3130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Pseudo M</a:t>
            </a:r>
            <a:r>
              <a:rPr lang="en-US" sz="2800" baseline="30000" dirty="0"/>
              <a:t>♮</a:t>
            </a:r>
            <a:r>
              <a:rPr lang="en-US" sz="2800" dirty="0"/>
              <a:t>-Concave</a:t>
            </a:r>
            <a:endParaRPr lang="en-US" sz="2800" baseline="30000" dirty="0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B0D0D39C-19B5-6C3B-D1FE-5B7B0B55D54B}"/>
              </a:ext>
            </a:extLst>
          </p:cNvPr>
          <p:cNvSpPr/>
          <p:nvPr/>
        </p:nvSpPr>
        <p:spPr>
          <a:xfrm rot="5400000">
            <a:off x="3165755" y="5389766"/>
            <a:ext cx="379454" cy="205427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C75734E4-1DD4-D1CA-A5C2-5A19561A262F}"/>
              </a:ext>
            </a:extLst>
          </p:cNvPr>
          <p:cNvSpPr/>
          <p:nvPr/>
        </p:nvSpPr>
        <p:spPr>
          <a:xfrm rot="5400000">
            <a:off x="6924399" y="6132536"/>
            <a:ext cx="379454" cy="205427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61E2DE13-8B7D-AE66-407E-450FB73C7953}"/>
              </a:ext>
            </a:extLst>
          </p:cNvPr>
          <p:cNvSpPr/>
          <p:nvPr/>
        </p:nvSpPr>
        <p:spPr>
          <a:xfrm rot="5400000">
            <a:off x="6054780" y="5395682"/>
            <a:ext cx="379454" cy="205427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A860422D-043A-F5D9-1C39-A257E0FD1151}"/>
              </a:ext>
            </a:extLst>
          </p:cNvPr>
          <p:cNvSpPr/>
          <p:nvPr/>
        </p:nvSpPr>
        <p:spPr>
          <a:xfrm rot="5400000">
            <a:off x="5277051" y="6138224"/>
            <a:ext cx="379454" cy="205427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CE41014A-B263-B694-E4F3-2036A6131BA4}"/>
              </a:ext>
            </a:extLst>
          </p:cNvPr>
          <p:cNvSpPr/>
          <p:nvPr/>
        </p:nvSpPr>
        <p:spPr>
          <a:xfrm rot="5400000">
            <a:off x="3165755" y="6138224"/>
            <a:ext cx="379454" cy="205427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934118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nut 5">
            <a:extLst>
              <a:ext uri="{FF2B5EF4-FFF2-40B4-BE49-F238E27FC236}">
                <a16:creationId xmlns:a16="http://schemas.microsoft.com/office/drawing/2014/main" id="{A6E3BB76-F15B-9545-A7C4-88172A5507A1}"/>
              </a:ext>
            </a:extLst>
          </p:cNvPr>
          <p:cNvSpPr/>
          <p:nvPr/>
        </p:nvSpPr>
        <p:spPr>
          <a:xfrm>
            <a:off x="3620229" y="925383"/>
            <a:ext cx="7218756" cy="3635465"/>
          </a:xfrm>
          <a:prstGeom prst="donut">
            <a:avLst>
              <a:gd name="adj" fmla="val 2928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690DB4-3C88-D140-B254-B40DEC33A54D}"/>
              </a:ext>
            </a:extLst>
          </p:cNvPr>
          <p:cNvSpPr txBox="1"/>
          <p:nvPr/>
        </p:nvSpPr>
        <p:spPr>
          <a:xfrm>
            <a:off x="1669294" y="2048457"/>
            <a:ext cx="1875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</a:rPr>
              <a:t>Ordinally</a:t>
            </a:r>
          </a:p>
          <a:p>
            <a:pPr algn="ctr"/>
            <a:r>
              <a:rPr lang="en-US" sz="3600" dirty="0">
                <a:solidFill>
                  <a:schemeClr val="accent1"/>
                </a:solidFill>
              </a:rPr>
              <a:t>Concave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5D5A7-75D7-5D49-B46F-5074CE7B2056}"/>
              </a:ext>
            </a:extLst>
          </p:cNvPr>
          <p:cNvSpPr txBox="1"/>
          <p:nvPr/>
        </p:nvSpPr>
        <p:spPr>
          <a:xfrm>
            <a:off x="8269835" y="2094626"/>
            <a:ext cx="241765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4"/>
                </a:solidFill>
              </a:rPr>
              <a:t>Pseudo </a:t>
            </a:r>
          </a:p>
          <a:p>
            <a:pPr algn="ctr"/>
            <a:r>
              <a:rPr lang="en-US" sz="3600" dirty="0">
                <a:solidFill>
                  <a:schemeClr val="accent4"/>
                </a:solidFill>
              </a:rPr>
              <a:t>M</a:t>
            </a:r>
            <a:r>
              <a:rPr lang="en-US" sz="3600" baseline="30000" dirty="0">
                <a:solidFill>
                  <a:schemeClr val="accent4"/>
                </a:solidFill>
              </a:rPr>
              <a:t>♮</a:t>
            </a:r>
            <a:r>
              <a:rPr lang="en-US" sz="3600" dirty="0">
                <a:solidFill>
                  <a:schemeClr val="accent4"/>
                </a:solidFill>
              </a:rPr>
              <a:t>-Concave</a:t>
            </a:r>
            <a:endParaRPr lang="en-US" sz="3600" baseline="30000" dirty="0">
              <a:solidFill>
                <a:schemeClr val="accent4"/>
              </a:solidFill>
            </a:endParaRPr>
          </a:p>
          <a:p>
            <a:pPr algn="ctr"/>
            <a:endParaRPr lang="en-US" sz="3600" dirty="0">
              <a:solidFill>
                <a:schemeClr val="accent4"/>
              </a:solidFill>
            </a:endParaRPr>
          </a:p>
        </p:txBody>
      </p:sp>
      <p:sp>
        <p:nvSpPr>
          <p:cNvPr id="11" name="Donut 10">
            <a:extLst>
              <a:ext uri="{FF2B5EF4-FFF2-40B4-BE49-F238E27FC236}">
                <a16:creationId xmlns:a16="http://schemas.microsoft.com/office/drawing/2014/main" id="{32FEC694-C7F0-3449-B4AF-50E3214C5C6C}"/>
              </a:ext>
            </a:extLst>
          </p:cNvPr>
          <p:cNvSpPr/>
          <p:nvPr/>
        </p:nvSpPr>
        <p:spPr>
          <a:xfrm>
            <a:off x="4248615" y="2371625"/>
            <a:ext cx="3456878" cy="1200329"/>
          </a:xfrm>
          <a:prstGeom prst="donut">
            <a:avLst>
              <a:gd name="adj" fmla="val 6188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C4F06E-6214-2547-95E7-63A6CF950134}"/>
              </a:ext>
            </a:extLst>
          </p:cNvPr>
          <p:cNvSpPr txBox="1"/>
          <p:nvPr/>
        </p:nvSpPr>
        <p:spPr>
          <a:xfrm>
            <a:off x="4403216" y="2413928"/>
            <a:ext cx="31304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/>
                </a:solidFill>
              </a:rPr>
              <a:t>Semi-Strictly Pseudo M</a:t>
            </a:r>
            <a:r>
              <a:rPr lang="en-US" sz="2800" baseline="30000" dirty="0">
                <a:solidFill>
                  <a:schemeClr val="accent6"/>
                </a:solidFill>
              </a:rPr>
              <a:t>♮</a:t>
            </a:r>
            <a:r>
              <a:rPr lang="en-US" sz="2800" dirty="0">
                <a:solidFill>
                  <a:schemeClr val="accent6"/>
                </a:solidFill>
              </a:rPr>
              <a:t>-Concave </a:t>
            </a:r>
          </a:p>
        </p:txBody>
      </p:sp>
      <p:sp>
        <p:nvSpPr>
          <p:cNvPr id="14" name="Donut 13">
            <a:extLst>
              <a:ext uri="{FF2B5EF4-FFF2-40B4-BE49-F238E27FC236}">
                <a16:creationId xmlns:a16="http://schemas.microsoft.com/office/drawing/2014/main" id="{79CA31EF-D7D6-9446-90A7-5B14DF7A65BD}"/>
              </a:ext>
            </a:extLst>
          </p:cNvPr>
          <p:cNvSpPr/>
          <p:nvPr/>
        </p:nvSpPr>
        <p:spPr>
          <a:xfrm>
            <a:off x="3902667" y="1481547"/>
            <a:ext cx="4131593" cy="2334156"/>
          </a:xfrm>
          <a:prstGeom prst="donut">
            <a:avLst>
              <a:gd name="adj" fmla="val 332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CAB5C8-4369-AD4E-8D25-2CAC1DB0AF6E}"/>
              </a:ext>
            </a:extLst>
          </p:cNvPr>
          <p:cNvSpPr txBox="1"/>
          <p:nvPr/>
        </p:nvSpPr>
        <p:spPr>
          <a:xfrm>
            <a:off x="4438782" y="1847323"/>
            <a:ext cx="4131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Pseudo M</a:t>
            </a:r>
            <a:r>
              <a:rPr lang="en-US" sz="2800" baseline="30000" dirty="0"/>
              <a:t>♮</a:t>
            </a:r>
            <a:r>
              <a:rPr lang="en-US" sz="2800" dirty="0"/>
              <a:t>-Concave</a:t>
            </a:r>
            <a:r>
              <a:rPr lang="en-US" sz="2800" baseline="30000" dirty="0"/>
              <a:t>+</a:t>
            </a:r>
          </a:p>
        </p:txBody>
      </p:sp>
      <p:sp>
        <p:nvSpPr>
          <p:cNvPr id="5" name="Donut 4">
            <a:extLst>
              <a:ext uri="{FF2B5EF4-FFF2-40B4-BE49-F238E27FC236}">
                <a16:creationId xmlns:a16="http://schemas.microsoft.com/office/drawing/2014/main" id="{B2338DCB-C3F5-C3C4-72BE-FA7F30F0BD10}"/>
              </a:ext>
            </a:extLst>
          </p:cNvPr>
          <p:cNvSpPr/>
          <p:nvPr/>
        </p:nvSpPr>
        <p:spPr>
          <a:xfrm>
            <a:off x="1172914" y="830890"/>
            <a:ext cx="7218756" cy="3635465"/>
          </a:xfrm>
          <a:prstGeom prst="donut">
            <a:avLst>
              <a:gd name="adj" fmla="val 292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3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8690DB4-3C88-D140-B254-B40DEC33A54D}"/>
              </a:ext>
            </a:extLst>
          </p:cNvPr>
          <p:cNvSpPr txBox="1"/>
          <p:nvPr/>
        </p:nvSpPr>
        <p:spPr>
          <a:xfrm>
            <a:off x="4055271" y="870722"/>
            <a:ext cx="382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</a:rPr>
              <a:t>Ordinally Concave</a:t>
            </a:r>
          </a:p>
        </p:txBody>
      </p:sp>
      <p:sp>
        <p:nvSpPr>
          <p:cNvPr id="11" name="Donut 10">
            <a:extLst>
              <a:ext uri="{FF2B5EF4-FFF2-40B4-BE49-F238E27FC236}">
                <a16:creationId xmlns:a16="http://schemas.microsoft.com/office/drawing/2014/main" id="{32FEC694-C7F0-3449-B4AF-50E3214C5C6C}"/>
              </a:ext>
            </a:extLst>
          </p:cNvPr>
          <p:cNvSpPr/>
          <p:nvPr/>
        </p:nvSpPr>
        <p:spPr>
          <a:xfrm>
            <a:off x="4248615" y="2371625"/>
            <a:ext cx="3456878" cy="1200329"/>
          </a:xfrm>
          <a:prstGeom prst="donut">
            <a:avLst>
              <a:gd name="adj" fmla="val 6188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C4F06E-6214-2547-95E7-63A6CF950134}"/>
              </a:ext>
            </a:extLst>
          </p:cNvPr>
          <p:cNvSpPr txBox="1"/>
          <p:nvPr/>
        </p:nvSpPr>
        <p:spPr>
          <a:xfrm>
            <a:off x="4403216" y="2616611"/>
            <a:ext cx="31304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6"/>
                </a:solidFill>
              </a:rPr>
              <a:t>M-Concave</a:t>
            </a:r>
          </a:p>
          <a:p>
            <a:pPr algn="ctr"/>
            <a:endParaRPr lang="en-US" sz="2800" dirty="0">
              <a:solidFill>
                <a:schemeClr val="accent6"/>
              </a:solidFill>
            </a:endParaRPr>
          </a:p>
        </p:txBody>
      </p:sp>
      <p:sp>
        <p:nvSpPr>
          <p:cNvPr id="14" name="Donut 13">
            <a:extLst>
              <a:ext uri="{FF2B5EF4-FFF2-40B4-BE49-F238E27FC236}">
                <a16:creationId xmlns:a16="http://schemas.microsoft.com/office/drawing/2014/main" id="{79CA31EF-D7D6-9446-90A7-5B14DF7A65BD}"/>
              </a:ext>
            </a:extLst>
          </p:cNvPr>
          <p:cNvSpPr/>
          <p:nvPr/>
        </p:nvSpPr>
        <p:spPr>
          <a:xfrm>
            <a:off x="3902667" y="1481547"/>
            <a:ext cx="4131593" cy="2334156"/>
          </a:xfrm>
          <a:prstGeom prst="donut">
            <a:avLst>
              <a:gd name="adj" fmla="val 332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CAB5C8-4369-AD4E-8D25-2CAC1DB0AF6E}"/>
              </a:ext>
            </a:extLst>
          </p:cNvPr>
          <p:cNvSpPr txBox="1"/>
          <p:nvPr/>
        </p:nvSpPr>
        <p:spPr>
          <a:xfrm>
            <a:off x="4756457" y="1770378"/>
            <a:ext cx="4131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</a:t>
            </a:r>
            <a:r>
              <a:rPr lang="en-US" sz="3600" baseline="30000" dirty="0"/>
              <a:t>♮</a:t>
            </a:r>
            <a:r>
              <a:rPr lang="en-US" sz="3600" dirty="0"/>
              <a:t>-Concave</a:t>
            </a:r>
            <a:endParaRPr lang="en-US" sz="3600" baseline="30000" dirty="0"/>
          </a:p>
        </p:txBody>
      </p:sp>
      <p:sp>
        <p:nvSpPr>
          <p:cNvPr id="5" name="Donut 4">
            <a:extLst>
              <a:ext uri="{FF2B5EF4-FFF2-40B4-BE49-F238E27FC236}">
                <a16:creationId xmlns:a16="http://schemas.microsoft.com/office/drawing/2014/main" id="{B2338DCB-C3F5-C3C4-72BE-FA7F30F0BD10}"/>
              </a:ext>
            </a:extLst>
          </p:cNvPr>
          <p:cNvSpPr/>
          <p:nvPr/>
        </p:nvSpPr>
        <p:spPr>
          <a:xfrm>
            <a:off x="3318163" y="467897"/>
            <a:ext cx="5300600" cy="3635465"/>
          </a:xfrm>
          <a:prstGeom prst="donut">
            <a:avLst>
              <a:gd name="adj" fmla="val 292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492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nut 5">
            <a:extLst>
              <a:ext uri="{FF2B5EF4-FFF2-40B4-BE49-F238E27FC236}">
                <a16:creationId xmlns:a16="http://schemas.microsoft.com/office/drawing/2014/main" id="{A6E3BB76-F15B-9545-A7C4-88172A5507A1}"/>
              </a:ext>
            </a:extLst>
          </p:cNvPr>
          <p:cNvSpPr/>
          <p:nvPr/>
        </p:nvSpPr>
        <p:spPr>
          <a:xfrm>
            <a:off x="3620229" y="925383"/>
            <a:ext cx="7218756" cy="3635465"/>
          </a:xfrm>
          <a:prstGeom prst="donut">
            <a:avLst>
              <a:gd name="adj" fmla="val 2928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690DB4-3C88-D140-B254-B40DEC33A54D}"/>
              </a:ext>
            </a:extLst>
          </p:cNvPr>
          <p:cNvSpPr txBox="1"/>
          <p:nvPr/>
        </p:nvSpPr>
        <p:spPr>
          <a:xfrm>
            <a:off x="1669294" y="2048457"/>
            <a:ext cx="1875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</a:rPr>
              <a:t>Ordinally</a:t>
            </a:r>
          </a:p>
          <a:p>
            <a:pPr algn="ctr"/>
            <a:r>
              <a:rPr lang="en-US" sz="3600" dirty="0">
                <a:solidFill>
                  <a:schemeClr val="accent1"/>
                </a:solidFill>
              </a:rPr>
              <a:t>Concave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5D5A7-75D7-5D49-B46F-5074CE7B2056}"/>
              </a:ext>
            </a:extLst>
          </p:cNvPr>
          <p:cNvSpPr txBox="1"/>
          <p:nvPr/>
        </p:nvSpPr>
        <p:spPr>
          <a:xfrm>
            <a:off x="8269835" y="2094626"/>
            <a:ext cx="241765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4"/>
                </a:solidFill>
              </a:rPr>
              <a:t>Pseudo </a:t>
            </a:r>
          </a:p>
          <a:p>
            <a:pPr algn="ctr"/>
            <a:r>
              <a:rPr lang="en-US" sz="3600" dirty="0">
                <a:solidFill>
                  <a:schemeClr val="accent4"/>
                </a:solidFill>
              </a:rPr>
              <a:t>M</a:t>
            </a:r>
            <a:r>
              <a:rPr lang="en-US" sz="3600" baseline="30000" dirty="0">
                <a:solidFill>
                  <a:schemeClr val="accent4"/>
                </a:solidFill>
              </a:rPr>
              <a:t>♮</a:t>
            </a:r>
            <a:r>
              <a:rPr lang="en-US" sz="3600" dirty="0">
                <a:solidFill>
                  <a:schemeClr val="accent4"/>
                </a:solidFill>
              </a:rPr>
              <a:t>-Concave</a:t>
            </a:r>
            <a:endParaRPr lang="en-US" sz="3600" baseline="30000" dirty="0">
              <a:solidFill>
                <a:schemeClr val="accent4"/>
              </a:solidFill>
            </a:endParaRPr>
          </a:p>
          <a:p>
            <a:pPr algn="ctr"/>
            <a:endParaRPr lang="en-US" sz="3600" dirty="0">
              <a:solidFill>
                <a:schemeClr val="accent4"/>
              </a:solidFill>
            </a:endParaRPr>
          </a:p>
        </p:txBody>
      </p:sp>
      <p:sp>
        <p:nvSpPr>
          <p:cNvPr id="11" name="Donut 10">
            <a:extLst>
              <a:ext uri="{FF2B5EF4-FFF2-40B4-BE49-F238E27FC236}">
                <a16:creationId xmlns:a16="http://schemas.microsoft.com/office/drawing/2014/main" id="{32FEC694-C7F0-3449-B4AF-50E3214C5C6C}"/>
              </a:ext>
            </a:extLst>
          </p:cNvPr>
          <p:cNvSpPr/>
          <p:nvPr/>
        </p:nvSpPr>
        <p:spPr>
          <a:xfrm>
            <a:off x="4248615" y="2371625"/>
            <a:ext cx="3456878" cy="1200329"/>
          </a:xfrm>
          <a:prstGeom prst="donut">
            <a:avLst>
              <a:gd name="adj" fmla="val 6188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C4F06E-6214-2547-95E7-63A6CF950134}"/>
              </a:ext>
            </a:extLst>
          </p:cNvPr>
          <p:cNvSpPr txBox="1"/>
          <p:nvPr/>
        </p:nvSpPr>
        <p:spPr>
          <a:xfrm>
            <a:off x="4403216" y="2616611"/>
            <a:ext cx="31304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6"/>
                </a:solidFill>
              </a:rPr>
              <a:t>M-Concave</a:t>
            </a:r>
          </a:p>
          <a:p>
            <a:pPr algn="ctr"/>
            <a:endParaRPr lang="en-US" sz="2800" dirty="0">
              <a:solidFill>
                <a:schemeClr val="accent6"/>
              </a:solidFill>
            </a:endParaRPr>
          </a:p>
        </p:txBody>
      </p:sp>
      <p:sp>
        <p:nvSpPr>
          <p:cNvPr id="14" name="Donut 13">
            <a:extLst>
              <a:ext uri="{FF2B5EF4-FFF2-40B4-BE49-F238E27FC236}">
                <a16:creationId xmlns:a16="http://schemas.microsoft.com/office/drawing/2014/main" id="{79CA31EF-D7D6-9446-90A7-5B14DF7A65BD}"/>
              </a:ext>
            </a:extLst>
          </p:cNvPr>
          <p:cNvSpPr/>
          <p:nvPr/>
        </p:nvSpPr>
        <p:spPr>
          <a:xfrm>
            <a:off x="3902667" y="1481547"/>
            <a:ext cx="4131593" cy="2334156"/>
          </a:xfrm>
          <a:prstGeom prst="donut">
            <a:avLst>
              <a:gd name="adj" fmla="val 332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CAB5C8-4369-AD4E-8D25-2CAC1DB0AF6E}"/>
              </a:ext>
            </a:extLst>
          </p:cNvPr>
          <p:cNvSpPr txBox="1"/>
          <p:nvPr/>
        </p:nvSpPr>
        <p:spPr>
          <a:xfrm>
            <a:off x="4756457" y="1770378"/>
            <a:ext cx="4131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</a:t>
            </a:r>
            <a:r>
              <a:rPr lang="en-US" sz="3600" baseline="30000" dirty="0"/>
              <a:t>♮</a:t>
            </a:r>
            <a:r>
              <a:rPr lang="en-US" sz="3600" dirty="0"/>
              <a:t>-Concave</a:t>
            </a:r>
            <a:endParaRPr lang="en-US" sz="3600" baseline="30000" dirty="0"/>
          </a:p>
        </p:txBody>
      </p:sp>
      <p:sp>
        <p:nvSpPr>
          <p:cNvPr id="5" name="Donut 4">
            <a:extLst>
              <a:ext uri="{FF2B5EF4-FFF2-40B4-BE49-F238E27FC236}">
                <a16:creationId xmlns:a16="http://schemas.microsoft.com/office/drawing/2014/main" id="{B2338DCB-C3F5-C3C4-72BE-FA7F30F0BD10}"/>
              </a:ext>
            </a:extLst>
          </p:cNvPr>
          <p:cNvSpPr/>
          <p:nvPr/>
        </p:nvSpPr>
        <p:spPr>
          <a:xfrm>
            <a:off x="1172914" y="830890"/>
            <a:ext cx="7218756" cy="3635465"/>
          </a:xfrm>
          <a:prstGeom prst="donut">
            <a:avLst>
              <a:gd name="adj" fmla="val 292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F17435-A57A-655B-D179-425FD61E1C54}"/>
              </a:ext>
            </a:extLst>
          </p:cNvPr>
          <p:cNvSpPr txBox="1"/>
          <p:nvPr/>
        </p:nvSpPr>
        <p:spPr>
          <a:xfrm>
            <a:off x="3902667" y="5450926"/>
            <a:ext cx="1886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>
                <a:solidFill>
                  <a:srgbClr val="FF0000"/>
                </a:solidFill>
              </a:rPr>
              <a:t>This</a:t>
            </a:r>
            <a:r>
              <a:rPr lang="es-ES_tradnl" dirty="0">
                <a:solidFill>
                  <a:srgbClr val="FF0000"/>
                </a:solidFill>
              </a:rPr>
              <a:t> </a:t>
            </a:r>
            <a:r>
              <a:rPr lang="es-ES_tradnl" dirty="0" err="1">
                <a:solidFill>
                  <a:srgbClr val="FF0000"/>
                </a:solidFill>
              </a:rPr>
              <a:t>is</a:t>
            </a:r>
            <a:r>
              <a:rPr lang="es-ES_tradnl" dirty="0">
                <a:solidFill>
                  <a:srgbClr val="FF0000"/>
                </a:solidFill>
              </a:rPr>
              <a:t> INCORRECT</a:t>
            </a:r>
          </a:p>
        </p:txBody>
      </p:sp>
    </p:spTree>
    <p:extLst>
      <p:ext uri="{BB962C8B-B14F-4D97-AF65-F5344CB8AC3E}">
        <p14:creationId xmlns:p14="http://schemas.microsoft.com/office/powerpoint/2010/main" val="640698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nut 5">
            <a:extLst>
              <a:ext uri="{FF2B5EF4-FFF2-40B4-BE49-F238E27FC236}">
                <a16:creationId xmlns:a16="http://schemas.microsoft.com/office/drawing/2014/main" id="{A6E3BB76-F15B-9545-A7C4-88172A5507A1}"/>
              </a:ext>
            </a:extLst>
          </p:cNvPr>
          <p:cNvSpPr/>
          <p:nvPr/>
        </p:nvSpPr>
        <p:spPr>
          <a:xfrm>
            <a:off x="3620229" y="925383"/>
            <a:ext cx="7218756" cy="3635465"/>
          </a:xfrm>
          <a:prstGeom prst="donut">
            <a:avLst>
              <a:gd name="adj" fmla="val 2928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690DB4-3C88-D140-B254-B40DEC33A54D}"/>
              </a:ext>
            </a:extLst>
          </p:cNvPr>
          <p:cNvSpPr txBox="1"/>
          <p:nvPr/>
        </p:nvSpPr>
        <p:spPr>
          <a:xfrm>
            <a:off x="1103135" y="2012935"/>
            <a:ext cx="20092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</a:rPr>
              <a:t>Ordinally</a:t>
            </a:r>
          </a:p>
          <a:p>
            <a:pPr algn="ctr"/>
            <a:r>
              <a:rPr lang="en-US" sz="3600" dirty="0">
                <a:solidFill>
                  <a:schemeClr val="accent1"/>
                </a:solidFill>
              </a:rPr>
              <a:t>Concave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5D5A7-75D7-5D49-B46F-5074CE7B2056}"/>
              </a:ext>
            </a:extLst>
          </p:cNvPr>
          <p:cNvSpPr txBox="1"/>
          <p:nvPr/>
        </p:nvSpPr>
        <p:spPr>
          <a:xfrm>
            <a:off x="8269835" y="2094626"/>
            <a:ext cx="241765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4"/>
                </a:solidFill>
              </a:rPr>
              <a:t>Pseudo </a:t>
            </a:r>
          </a:p>
          <a:p>
            <a:pPr algn="ctr"/>
            <a:r>
              <a:rPr lang="en-US" sz="3600" dirty="0">
                <a:solidFill>
                  <a:schemeClr val="accent4"/>
                </a:solidFill>
              </a:rPr>
              <a:t>M</a:t>
            </a:r>
            <a:r>
              <a:rPr lang="en-US" sz="3600" baseline="30000" dirty="0">
                <a:solidFill>
                  <a:schemeClr val="accent4"/>
                </a:solidFill>
              </a:rPr>
              <a:t>♮</a:t>
            </a:r>
            <a:r>
              <a:rPr lang="en-US" sz="3600" dirty="0">
                <a:solidFill>
                  <a:schemeClr val="accent4"/>
                </a:solidFill>
              </a:rPr>
              <a:t>-Concave</a:t>
            </a:r>
            <a:endParaRPr lang="en-US" sz="3600" baseline="30000" dirty="0">
              <a:solidFill>
                <a:schemeClr val="accent4"/>
              </a:solidFill>
            </a:endParaRPr>
          </a:p>
          <a:p>
            <a:pPr algn="ctr"/>
            <a:endParaRPr lang="en-US" sz="3600" dirty="0">
              <a:solidFill>
                <a:schemeClr val="accent4"/>
              </a:solidFill>
            </a:endParaRPr>
          </a:p>
        </p:txBody>
      </p:sp>
      <p:sp>
        <p:nvSpPr>
          <p:cNvPr id="11" name="Donut 10">
            <a:extLst>
              <a:ext uri="{FF2B5EF4-FFF2-40B4-BE49-F238E27FC236}">
                <a16:creationId xmlns:a16="http://schemas.microsoft.com/office/drawing/2014/main" id="{32FEC694-C7F0-3449-B4AF-50E3214C5C6C}"/>
              </a:ext>
            </a:extLst>
          </p:cNvPr>
          <p:cNvSpPr/>
          <p:nvPr/>
        </p:nvSpPr>
        <p:spPr>
          <a:xfrm>
            <a:off x="4248615" y="2371625"/>
            <a:ext cx="3456878" cy="1200329"/>
          </a:xfrm>
          <a:prstGeom prst="donut">
            <a:avLst>
              <a:gd name="adj" fmla="val 6188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C4F06E-6214-2547-95E7-63A6CF950134}"/>
              </a:ext>
            </a:extLst>
          </p:cNvPr>
          <p:cNvSpPr txBox="1"/>
          <p:nvPr/>
        </p:nvSpPr>
        <p:spPr>
          <a:xfrm>
            <a:off x="4403216" y="2616611"/>
            <a:ext cx="31304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6"/>
                </a:solidFill>
              </a:rPr>
              <a:t>M-Concave</a:t>
            </a:r>
          </a:p>
          <a:p>
            <a:pPr algn="ctr"/>
            <a:endParaRPr lang="en-US" sz="2800" dirty="0">
              <a:solidFill>
                <a:schemeClr val="accent6"/>
              </a:solidFill>
            </a:endParaRPr>
          </a:p>
        </p:txBody>
      </p:sp>
      <p:sp>
        <p:nvSpPr>
          <p:cNvPr id="14" name="Donut 13">
            <a:extLst>
              <a:ext uri="{FF2B5EF4-FFF2-40B4-BE49-F238E27FC236}">
                <a16:creationId xmlns:a16="http://schemas.microsoft.com/office/drawing/2014/main" id="{79CA31EF-D7D6-9446-90A7-5B14DF7A65BD}"/>
              </a:ext>
            </a:extLst>
          </p:cNvPr>
          <p:cNvSpPr/>
          <p:nvPr/>
        </p:nvSpPr>
        <p:spPr>
          <a:xfrm>
            <a:off x="2957022" y="1558825"/>
            <a:ext cx="5049554" cy="2334156"/>
          </a:xfrm>
          <a:prstGeom prst="donut">
            <a:avLst>
              <a:gd name="adj" fmla="val 332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CAB5C8-4369-AD4E-8D25-2CAC1DB0AF6E}"/>
              </a:ext>
            </a:extLst>
          </p:cNvPr>
          <p:cNvSpPr txBox="1"/>
          <p:nvPr/>
        </p:nvSpPr>
        <p:spPr>
          <a:xfrm>
            <a:off x="4756457" y="1770378"/>
            <a:ext cx="4131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</a:t>
            </a:r>
            <a:r>
              <a:rPr lang="en-US" sz="3600" baseline="30000" dirty="0"/>
              <a:t>♮</a:t>
            </a:r>
            <a:r>
              <a:rPr lang="en-US" sz="3600" dirty="0"/>
              <a:t>-Concave</a:t>
            </a:r>
            <a:endParaRPr lang="en-US" sz="3600" baseline="30000" dirty="0"/>
          </a:p>
        </p:txBody>
      </p:sp>
      <p:sp>
        <p:nvSpPr>
          <p:cNvPr id="5" name="Donut 4">
            <a:extLst>
              <a:ext uri="{FF2B5EF4-FFF2-40B4-BE49-F238E27FC236}">
                <a16:creationId xmlns:a16="http://schemas.microsoft.com/office/drawing/2014/main" id="{B2338DCB-C3F5-C3C4-72BE-FA7F30F0BD10}"/>
              </a:ext>
            </a:extLst>
          </p:cNvPr>
          <p:cNvSpPr/>
          <p:nvPr/>
        </p:nvSpPr>
        <p:spPr>
          <a:xfrm>
            <a:off x="1051079" y="829656"/>
            <a:ext cx="7218756" cy="3635465"/>
          </a:xfrm>
          <a:prstGeom prst="donut">
            <a:avLst>
              <a:gd name="adj" fmla="val 292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11ECD8-1F70-1DCD-1902-05D96D3EB41D}"/>
              </a:ext>
            </a:extLst>
          </p:cNvPr>
          <p:cNvSpPr txBox="1"/>
          <p:nvPr/>
        </p:nvSpPr>
        <p:spPr>
          <a:xfrm>
            <a:off x="3773425" y="5694141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 err="1">
                <a:solidFill>
                  <a:srgbClr val="FF0000"/>
                </a:solidFill>
              </a:rPr>
              <a:t>This</a:t>
            </a:r>
            <a:r>
              <a:rPr lang="es-ES_tradnl" dirty="0">
                <a:solidFill>
                  <a:srgbClr val="FF0000"/>
                </a:solidFill>
              </a:rPr>
              <a:t> </a:t>
            </a:r>
            <a:r>
              <a:rPr lang="es-ES_tradnl" dirty="0" err="1">
                <a:solidFill>
                  <a:srgbClr val="FF0000"/>
                </a:solidFill>
              </a:rPr>
              <a:t>is</a:t>
            </a:r>
            <a:r>
              <a:rPr lang="es-ES_tradnl" dirty="0">
                <a:solidFill>
                  <a:srgbClr val="FF0000"/>
                </a:solidFill>
              </a:rPr>
              <a:t> INCORRECT</a:t>
            </a:r>
          </a:p>
        </p:txBody>
      </p:sp>
    </p:spTree>
    <p:extLst>
      <p:ext uri="{BB962C8B-B14F-4D97-AF65-F5344CB8AC3E}">
        <p14:creationId xmlns:p14="http://schemas.microsoft.com/office/powerpoint/2010/main" val="1541008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16016</TotalTime>
  <Words>204</Words>
  <Application>Microsoft Macintosh PowerPoint</Application>
  <PresentationFormat>Widescreen</PresentationFormat>
  <Paragraphs>53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 2013 - 2022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Nicholas A Arnosti</dc:creator>
  <cp:lastModifiedBy>Nicholas A Arnosti</cp:lastModifiedBy>
  <cp:revision>3</cp:revision>
  <dcterms:created xsi:type="dcterms:W3CDTF">2023-01-07T17:33:11Z</dcterms:created>
  <dcterms:modified xsi:type="dcterms:W3CDTF">2023-01-20T04:34:48Z</dcterms:modified>
</cp:coreProperties>
</file>