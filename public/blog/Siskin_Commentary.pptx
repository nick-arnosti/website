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3" r:id="rId3"/>
    <p:sldId id="274" r:id="rId4"/>
    <p:sldId id="275" r:id="rId5"/>
    <p:sldId id="276" r:id="rId6"/>
    <p:sldId id="277" r:id="rId7"/>
    <p:sldId id="279" r:id="rId8"/>
    <p:sldId id="278" r:id="rId9"/>
    <p:sldId id="295" r:id="rId10"/>
    <p:sldId id="298" r:id="rId11"/>
    <p:sldId id="299" r:id="rId12"/>
    <p:sldId id="296" r:id="rId13"/>
    <p:sldId id="297" r:id="rId14"/>
    <p:sldId id="294" r:id="rId15"/>
    <p:sldId id="293" r:id="rId16"/>
    <p:sldId id="262" r:id="rId17"/>
    <p:sldId id="280" r:id="rId18"/>
    <p:sldId id="286" r:id="rId19"/>
    <p:sldId id="257" r:id="rId20"/>
    <p:sldId id="285" r:id="rId21"/>
    <p:sldId id="287" r:id="rId22"/>
    <p:sldId id="288" r:id="rId23"/>
    <p:sldId id="290" r:id="rId24"/>
    <p:sldId id="259" r:id="rId25"/>
    <p:sldId id="300" r:id="rId26"/>
    <p:sldId id="301" r:id="rId27"/>
    <p:sldId id="260" r:id="rId28"/>
    <p:sldId id="302" r:id="rId29"/>
    <p:sldId id="303" r:id="rId30"/>
    <p:sldId id="305" r:id="rId31"/>
    <p:sldId id="263" r:id="rId32"/>
    <p:sldId id="304" r:id="rId33"/>
    <p:sldId id="264" r:id="rId34"/>
    <p:sldId id="306" r:id="rId35"/>
    <p:sldId id="307" r:id="rId36"/>
    <p:sldId id="310" r:id="rId37"/>
    <p:sldId id="311" r:id="rId38"/>
    <p:sldId id="312" r:id="rId39"/>
    <p:sldId id="265" r:id="rId40"/>
    <p:sldId id="258" r:id="rId41"/>
    <p:sldId id="289" r:id="rId42"/>
    <p:sldId id="268" r:id="rId43"/>
    <p:sldId id="266" r:id="rId44"/>
    <p:sldId id="270" r:id="rId45"/>
    <p:sldId id="267" r:id="rId46"/>
    <p:sldId id="269"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86"/>
    <p:restoredTop sz="94605"/>
  </p:normalViewPr>
  <p:slideViewPr>
    <p:cSldViewPr snapToGrid="0" snapToObjects="1">
      <p:cViewPr varScale="1">
        <p:scale>
          <a:sx n="88" d="100"/>
          <a:sy n="88" d="100"/>
        </p:scale>
        <p:origin x="216"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5845-F680-A04B-B34B-39DF555633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B2B183-AC80-BD49-B1EF-FACCAF9E31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4AAAEB-431B-B84D-97C3-17E60A501F97}"/>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594127F9-B469-3945-B531-F82800FD7C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FE2005-1F49-0A4F-853E-B4CFD91C5687}"/>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3274410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FD73-8AFE-DB4E-AF24-401B12D6D0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F6F33A-287A-754E-8EAB-5CBC7E195D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C05CB9-0FF2-C542-B05C-7596AE308DBB}"/>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0D03034F-8F1C-BF44-9534-CA218689A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E37244-2D66-084B-9660-ECB905C8C965}"/>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3174301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CA3E8-4404-194B-BA18-A34CB421C3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8DC93E-F8D3-ED45-AD25-6CAB59A009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38940B-C3CD-4642-A7C0-AD19D48ECE10}"/>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F75B25BC-C687-FD48-AF31-CDC107BC98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BE7D6-B13D-D547-BF96-59EED217511F}"/>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688146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2A3A1-D42C-9641-B129-A4C2FFE60E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B57EA0-5E61-7544-8B3C-04E1E63176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A0B6E2-1E51-5647-A4A5-499BE9332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542CF1-5BB9-F842-8482-539CD02C27CC}"/>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6" name="Footer Placeholder 5">
            <a:extLst>
              <a:ext uri="{FF2B5EF4-FFF2-40B4-BE49-F238E27FC236}">
                <a16:creationId xmlns:a16="http://schemas.microsoft.com/office/drawing/2014/main" id="{5FD58057-5498-5F41-AF3A-0DF5D2509C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041C7A-B882-944E-802C-9683932A41A4}"/>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4080803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38CCF-4110-B540-A5AF-DA680A078D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3FED1A-4A50-C446-8BA7-73C7BC335B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62D403-E050-8440-A14C-307DDE5D87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A2F67F-C4C8-C647-9863-AC54E984FD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D3EEE8-B7A4-244A-A285-5FD24C73EA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BDD976-32A2-AE44-B697-E2648D1D1DDD}"/>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8" name="Footer Placeholder 7">
            <a:extLst>
              <a:ext uri="{FF2B5EF4-FFF2-40B4-BE49-F238E27FC236}">
                <a16:creationId xmlns:a16="http://schemas.microsoft.com/office/drawing/2014/main" id="{4985EE88-670B-2344-8B5A-CB500FD0D9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CB62E0-C3F4-6A42-9CB2-7551D1125BE3}"/>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468702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E5D45-1928-9944-8E76-7DBD0B1149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A005EA-C89A-B14E-B4D1-F9ABC98152F6}"/>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4" name="Footer Placeholder 3">
            <a:extLst>
              <a:ext uri="{FF2B5EF4-FFF2-40B4-BE49-F238E27FC236}">
                <a16:creationId xmlns:a16="http://schemas.microsoft.com/office/drawing/2014/main" id="{8F73C63A-6C04-7246-84A3-B17D4A6347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F42939-4F1B-5B4B-B5F1-F6367CCADA77}"/>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221363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23B928-E57A-D341-B7AD-3C9626F6D9EC}"/>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3" name="Footer Placeholder 2">
            <a:extLst>
              <a:ext uri="{FF2B5EF4-FFF2-40B4-BE49-F238E27FC236}">
                <a16:creationId xmlns:a16="http://schemas.microsoft.com/office/drawing/2014/main" id="{32D7B032-0302-2048-86D3-592A603EDD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F3916A-288F-9840-8611-638A9ADAAE75}"/>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2157996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BAA29-B422-4948-A0E0-9FAF8FAE05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126663-CCFE-414D-855C-F075D4B898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017C48-7606-CA45-AF4B-A197F1D423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51E0A4-4E24-E54C-AD4D-4DF87AA8B947}"/>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6" name="Footer Placeholder 5">
            <a:extLst>
              <a:ext uri="{FF2B5EF4-FFF2-40B4-BE49-F238E27FC236}">
                <a16:creationId xmlns:a16="http://schemas.microsoft.com/office/drawing/2014/main" id="{A5262182-2D3C-D745-8101-0E54381D6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76CAD7-008C-2C40-A171-B6AB152880D5}"/>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277566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367FB-1390-1343-BFD8-B00AC07503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3E6730-2A6C-6248-9E27-D4AB113607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8B404F-1256-5C46-AC76-F6F7ECF73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71013-DE3B-C54A-ADB4-40FA8D252521}"/>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6" name="Footer Placeholder 5">
            <a:extLst>
              <a:ext uri="{FF2B5EF4-FFF2-40B4-BE49-F238E27FC236}">
                <a16:creationId xmlns:a16="http://schemas.microsoft.com/office/drawing/2014/main" id="{DA68DACB-A0B2-CF46-B826-2BDAB1A011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A57C08-2A04-A840-8DCB-FE611E6E3864}"/>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1779442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95DD5-975B-4346-BF7E-E09722CCE7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26C886-A7C3-3C40-ACD7-EB1AAAF072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AF4F6F-11FB-8F40-80D4-A43081C64529}"/>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A8965C1C-E231-FD4E-B4EE-F8677030C2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44EC2-6E78-6B43-8EE9-CB46FD07FA02}"/>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4003423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C81327-593B-F94E-9717-EBFD0EC938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F6829D-7CC1-AF45-9486-921213963F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965309-BA66-2C47-9EB3-CA8091D23E97}"/>
              </a:ext>
            </a:extLst>
          </p:cNvPr>
          <p:cNvSpPr>
            <a:spLocks noGrp="1"/>
          </p:cNvSpPr>
          <p:nvPr>
            <p:ph type="dt" sz="half" idx="10"/>
          </p:nvPr>
        </p:nvSpPr>
        <p:spPr/>
        <p:txBody>
          <a:body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392F1C5D-F680-A14A-A575-8B2FD31D66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E1FD5B-26C6-084A-9FD5-57D0BE51161F}"/>
              </a:ext>
            </a:extLst>
          </p:cNvPr>
          <p:cNvSpPr>
            <a:spLocks noGrp="1"/>
          </p:cNvSpPr>
          <p:nvPr>
            <p:ph type="sldNum" sz="quarter" idx="12"/>
          </p:nvPr>
        </p:nvSpPr>
        <p:spPr/>
        <p:txBody>
          <a:bodyPr/>
          <a:lstStyle/>
          <a:p>
            <a:fld id="{5C0F3973-2BE7-8D49-B4B7-EF99BACCD48D}" type="slidenum">
              <a:rPr lang="en-US" smtClean="0"/>
              <a:t>‹#›</a:t>
            </a:fld>
            <a:endParaRPr lang="en-US"/>
          </a:p>
        </p:txBody>
      </p:sp>
    </p:spTree>
    <p:extLst>
      <p:ext uri="{BB962C8B-B14F-4D97-AF65-F5344CB8AC3E}">
        <p14:creationId xmlns:p14="http://schemas.microsoft.com/office/powerpoint/2010/main" val="94222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083E9-1A0F-7F4E-8DD9-CC48791E2A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C775DE-6E8E-2441-8E8D-038B413AFE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60E762-2EC8-1945-B0BC-F125B99F45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221743-D0D5-A943-8D42-58F070AD1897}" type="datetimeFigureOut">
              <a:rPr lang="en-US" smtClean="0"/>
              <a:t>2/6/22</a:t>
            </a:fld>
            <a:endParaRPr lang="en-US"/>
          </a:p>
        </p:txBody>
      </p:sp>
      <p:sp>
        <p:nvSpPr>
          <p:cNvPr id="5" name="Footer Placeholder 4">
            <a:extLst>
              <a:ext uri="{FF2B5EF4-FFF2-40B4-BE49-F238E27FC236}">
                <a16:creationId xmlns:a16="http://schemas.microsoft.com/office/drawing/2014/main" id="{5792B3FC-63B5-5F4C-BDBC-D25F8D9ED7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70776C-1036-0841-A832-626AE486B7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0F3973-2BE7-8D49-B4B7-EF99BACCD48D}" type="slidenum">
              <a:rPr lang="en-US" smtClean="0"/>
              <a:t>‹#›</a:t>
            </a:fld>
            <a:endParaRPr lang="en-US"/>
          </a:p>
        </p:txBody>
      </p:sp>
    </p:spTree>
    <p:extLst>
      <p:ext uri="{BB962C8B-B14F-4D97-AF65-F5344CB8AC3E}">
        <p14:creationId xmlns:p14="http://schemas.microsoft.com/office/powerpoint/2010/main" val="815716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EA247-C052-C944-8AE6-C95450507EC4}"/>
              </a:ext>
            </a:extLst>
          </p:cNvPr>
          <p:cNvSpPr>
            <a:spLocks noGrp="1"/>
          </p:cNvSpPr>
          <p:nvPr>
            <p:ph type="ctrTitle"/>
          </p:nvPr>
        </p:nvSpPr>
        <p:spPr/>
        <p:txBody>
          <a:bodyPr/>
          <a:lstStyle/>
          <a:p>
            <a:r>
              <a:rPr lang="en-US" dirty="0"/>
              <a:t>NYC </a:t>
            </a:r>
          </a:p>
        </p:txBody>
      </p:sp>
      <p:sp>
        <p:nvSpPr>
          <p:cNvPr id="3" name="Subtitle 2">
            <a:extLst>
              <a:ext uri="{FF2B5EF4-FFF2-40B4-BE49-F238E27FC236}">
                <a16:creationId xmlns:a16="http://schemas.microsoft.com/office/drawing/2014/main" id="{ACD6015C-D268-9C45-BBF3-F451C071B257}"/>
              </a:ext>
            </a:extLst>
          </p:cNvPr>
          <p:cNvSpPr>
            <a:spLocks noGrp="1"/>
          </p:cNvSpPr>
          <p:nvPr>
            <p:ph type="subTitle" idx="1"/>
          </p:nvPr>
        </p:nvSpPr>
        <p:spPr/>
        <p:txBody>
          <a:bodyPr/>
          <a:lstStyle/>
          <a:p>
            <a:r>
              <a:rPr lang="en-US" dirty="0"/>
              <a:t>Examining the Plaintiff Analysis</a:t>
            </a:r>
          </a:p>
        </p:txBody>
      </p:sp>
    </p:spTree>
    <p:extLst>
      <p:ext uri="{BB962C8B-B14F-4D97-AF65-F5344CB8AC3E}">
        <p14:creationId xmlns:p14="http://schemas.microsoft.com/office/powerpoint/2010/main" val="95072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2DC-1B3D-5D4E-A5AC-05EB51ACBA08}"/>
              </a:ext>
            </a:extLst>
          </p:cNvPr>
          <p:cNvSpPr>
            <a:spLocks noGrp="1"/>
          </p:cNvSpPr>
          <p:nvPr>
            <p:ph type="title"/>
          </p:nvPr>
        </p:nvSpPr>
        <p:spPr/>
        <p:txBody>
          <a:bodyPr/>
          <a:lstStyle/>
          <a:p>
            <a:r>
              <a:rPr lang="en-US" dirty="0"/>
              <a:t>New York Affordable Housing Lotteries</a:t>
            </a:r>
          </a:p>
        </p:txBody>
      </p:sp>
      <p:pic>
        <p:nvPicPr>
          <p:cNvPr id="20" name="Content Placeholder 19" descr="Graphical user interface, application&#10;&#10;Description automatically generated">
            <a:extLst>
              <a:ext uri="{FF2B5EF4-FFF2-40B4-BE49-F238E27FC236}">
                <a16:creationId xmlns:a16="http://schemas.microsoft.com/office/drawing/2014/main" id="{5F3A9601-3EDC-9547-99BC-49CF99CB59BC}"/>
              </a:ext>
            </a:extLst>
          </p:cNvPr>
          <p:cNvPicPr>
            <a:picLocks noGrp="1" noChangeAspect="1"/>
          </p:cNvPicPr>
          <p:nvPr>
            <p:ph idx="1"/>
          </p:nvPr>
        </p:nvPicPr>
        <p:blipFill>
          <a:blip r:embed="rId2"/>
          <a:stretch>
            <a:fillRect/>
          </a:stretch>
        </p:blipFill>
        <p:spPr>
          <a:xfrm>
            <a:off x="671587" y="1940521"/>
            <a:ext cx="10515600" cy="4177181"/>
          </a:xfrm>
        </p:spPr>
      </p:pic>
    </p:spTree>
    <p:extLst>
      <p:ext uri="{BB962C8B-B14F-4D97-AF65-F5344CB8AC3E}">
        <p14:creationId xmlns:p14="http://schemas.microsoft.com/office/powerpoint/2010/main" val="1334088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2DC-1B3D-5D4E-A5AC-05EB51ACBA08}"/>
              </a:ext>
            </a:extLst>
          </p:cNvPr>
          <p:cNvSpPr>
            <a:spLocks noGrp="1"/>
          </p:cNvSpPr>
          <p:nvPr>
            <p:ph type="title"/>
          </p:nvPr>
        </p:nvSpPr>
        <p:spPr/>
        <p:txBody>
          <a:bodyPr/>
          <a:lstStyle/>
          <a:p>
            <a:r>
              <a:rPr lang="en-US" dirty="0"/>
              <a:t>Community Preference Policy</a:t>
            </a:r>
          </a:p>
        </p:txBody>
      </p:sp>
      <p:sp>
        <p:nvSpPr>
          <p:cNvPr id="4" name="Content Placeholder 3">
            <a:extLst>
              <a:ext uri="{FF2B5EF4-FFF2-40B4-BE49-F238E27FC236}">
                <a16:creationId xmlns:a16="http://schemas.microsoft.com/office/drawing/2014/main" id="{AB00D11B-A84A-2240-ADB3-04201726504B}"/>
              </a:ext>
            </a:extLst>
          </p:cNvPr>
          <p:cNvSpPr>
            <a:spLocks noGrp="1"/>
          </p:cNvSpPr>
          <p:nvPr>
            <p:ph idx="1"/>
          </p:nvPr>
        </p:nvSpPr>
        <p:spPr>
          <a:xfrm>
            <a:off x="838200" y="1618201"/>
            <a:ext cx="7807036" cy="1811193"/>
          </a:xfrm>
        </p:spPr>
        <p:txBody>
          <a:bodyPr/>
          <a:lstStyle/>
          <a:p>
            <a:pPr marL="0" indent="0">
              <a:buNone/>
            </a:pPr>
            <a:r>
              <a:rPr lang="en-US" dirty="0"/>
              <a:t>Community Preference is a longstanding NYC policy that </a:t>
            </a:r>
            <a:r>
              <a:rPr lang="en-US" b="1" dirty="0"/>
              <a:t>reserves 50% of units in most subsidized affordable housing developments</a:t>
            </a:r>
            <a:r>
              <a:rPr lang="en-US" dirty="0"/>
              <a:t> for residents of the local Community District.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60891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2DC-1B3D-5D4E-A5AC-05EB51ACBA08}"/>
              </a:ext>
            </a:extLst>
          </p:cNvPr>
          <p:cNvSpPr>
            <a:spLocks noGrp="1"/>
          </p:cNvSpPr>
          <p:nvPr>
            <p:ph type="title"/>
          </p:nvPr>
        </p:nvSpPr>
        <p:spPr/>
        <p:txBody>
          <a:bodyPr/>
          <a:lstStyle/>
          <a:p>
            <a:r>
              <a:rPr lang="en-US" dirty="0"/>
              <a:t>Community Preference Policy</a:t>
            </a:r>
          </a:p>
        </p:txBody>
      </p:sp>
      <p:pic>
        <p:nvPicPr>
          <p:cNvPr id="18" name="Picture 17" descr="Map&#10;&#10;Description automatically generated">
            <a:extLst>
              <a:ext uri="{FF2B5EF4-FFF2-40B4-BE49-F238E27FC236}">
                <a16:creationId xmlns:a16="http://schemas.microsoft.com/office/drawing/2014/main" id="{F5011A49-A436-A04A-BC25-DA580E8420A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389" b="96708" l="2422" r="95547">
                        <a14:foregroundMark x1="90078" y1="63793" x2="89688" y2="43730"/>
                        <a14:foregroundMark x1="89688" y1="43730" x2="92656" y2="35737"/>
                        <a14:foregroundMark x1="92656" y1="35737" x2="97422" y2="43260"/>
                        <a14:foregroundMark x1="97422" y1="43260" x2="93750" y2="51097"/>
                        <a14:foregroundMark x1="93750" y1="51097" x2="93359" y2="60031"/>
                        <a14:foregroundMark x1="93359" y1="60031" x2="90391" y2="59718"/>
                        <a14:foregroundMark x1="95547" y1="41693" x2="95547" y2="39420"/>
                        <a14:foregroundMark x1="81953" y1="9561" x2="64844" y2="3605"/>
                        <a14:foregroundMark x1="64844" y1="3605" x2="60234" y2="10972"/>
                        <a14:foregroundMark x1="60234" y1="10972" x2="68750" y2="8777"/>
                        <a14:foregroundMark x1="68750" y1="8777" x2="74219" y2="9169"/>
                        <a14:foregroundMark x1="71641" y1="4389" x2="68750" y2="9169"/>
                        <a14:foregroundMark x1="49922" y1="35345" x2="52109" y2="36129"/>
                        <a14:foregroundMark x1="51797" y1="61599" x2="52109" y2="60502"/>
                        <a14:foregroundMark x1="69844" y1="81505" x2="86094" y2="74922"/>
                        <a14:foregroundMark x1="86094" y1="74922" x2="87891" y2="73041"/>
                        <a14:foregroundMark x1="26719" y1="71944" x2="17734" y2="69357"/>
                        <a14:foregroundMark x1="17734" y1="69357" x2="30781" y2="68260"/>
                        <a14:foregroundMark x1="25313" y1="76332" x2="16406" y2="76019"/>
                        <a14:foregroundMark x1="16406" y1="76019" x2="25781" y2="76489"/>
                        <a14:foregroundMark x1="25781" y1="76489" x2="29688" y2="78918"/>
                        <a14:foregroundMark x1="20156" y1="79310" x2="13516" y2="73746"/>
                        <a14:foregroundMark x1="13516" y1="73746" x2="16094" y2="74530"/>
                        <a14:foregroundMark x1="49922" y1="35031" x2="53984" y2="29467"/>
                        <a14:foregroundMark x1="2422" y1="96708" x2="17813" y2="86364"/>
                        <a14:foregroundMark x1="17813" y1="86364" x2="18672" y2="84483"/>
                        <a14:foregroundMark x1="53281" y1="24295" x2="56563" y2="16379"/>
                        <a14:foregroundMark x1="56563" y1="16379" x2="56172" y2="25392"/>
                        <a14:foregroundMark x1="70938" y1="80799" x2="86953" y2="75235"/>
                        <a14:foregroundMark x1="86953" y1="75235" x2="85313" y2="73746"/>
                        <a14:backgroundMark x1="21563" y1="58621" x2="26016" y2="51097"/>
                        <a14:backgroundMark x1="26016" y1="51097" x2="26016" y2="50549"/>
                        <a14:backgroundMark x1="20156" y1="61207" x2="17891" y2="63480"/>
                        <a14:backgroundMark x1="2109" y1="86677" x2="8828" y2="80956"/>
                        <a14:backgroundMark x1="8828" y1="80956" x2="9453" y2="70455"/>
                        <a14:backgroundMark x1="6875" y1="84091" x2="10313" y2="76019"/>
                        <a14:backgroundMark x1="10313" y1="76019" x2="9453" y2="68260"/>
                        <a14:backgroundMark x1="6484" y1="85266" x2="7578" y2="85580"/>
                        <a14:backgroundMark x1="8750" y1="79310" x2="7266" y2="85972"/>
                        <a14:backgroundMark x1="7969" y1="83777" x2="9063" y2="78605"/>
                        <a14:backgroundMark x1="8359" y1="83777" x2="9453" y2="78605"/>
                        <a14:backgroundMark x1="8359" y1="82680" x2="8750" y2="77821"/>
                        <a14:backgroundMark x1="8359" y1="81191" x2="8359" y2="81191"/>
                        <a14:backgroundMark x1="9453" y1="80408" x2="9453" y2="80408"/>
                        <a14:backgroundMark x1="8359" y1="80408" x2="9844" y2="75627"/>
                        <a14:backgroundMark x1="8359" y1="80799" x2="9844" y2="70063"/>
                        <a14:backgroundMark x1="9844" y1="75627" x2="10547" y2="75235"/>
                        <a14:backgroundMark x1="27891" y1="92947" x2="47734" y2="93730"/>
                        <a14:backgroundMark x1="39609" y1="85972" x2="39766" y2="95611"/>
                        <a14:backgroundMark x1="39766" y1="95611" x2="60156" y2="90047"/>
                        <a14:backgroundMark x1="60156" y1="90047" x2="74375" y2="90439"/>
                        <a14:backgroundMark x1="74375" y1="90439" x2="82813" y2="95455"/>
                        <a14:backgroundMark x1="82813" y1="95455" x2="87500" y2="91850"/>
                        <a14:backgroundMark x1="87109" y1="87461" x2="78906" y2="97571"/>
                        <a14:backgroundMark x1="78906" y1="97571" x2="68516" y2="98197"/>
                        <a14:backgroundMark x1="68516" y1="98197" x2="60156" y2="94671"/>
                        <a14:backgroundMark x1="60156" y1="94671" x2="38516" y2="95533"/>
                        <a14:backgroundMark x1="39297" y1="89655" x2="30391" y2="92633"/>
                        <a14:backgroundMark x1="30391" y1="92633" x2="37031" y2="84875"/>
                        <a14:backgroundMark x1="37031" y1="84875" x2="47500" y2="85031"/>
                        <a14:backgroundMark x1="47500" y1="85031" x2="55781" y2="89263"/>
                        <a14:backgroundMark x1="55781" y1="89263" x2="65469" y2="90596"/>
                        <a14:backgroundMark x1="65469" y1="90596" x2="75547" y2="89577"/>
                        <a14:backgroundMark x1="75547" y1="89577" x2="83594" y2="85580"/>
                        <a14:backgroundMark x1="83594" y1="85580" x2="88594" y2="90047"/>
                        <a14:backgroundMark x1="90391" y1="95219" x2="90391" y2="86442"/>
                        <a14:backgroundMark x1="90391" y1="86442" x2="82578" y2="82288"/>
                        <a14:backgroundMark x1="82578" y1="82288" x2="73906" y2="83699"/>
                        <a14:backgroundMark x1="73906" y1="83699" x2="82734" y2="83542"/>
                        <a14:backgroundMark x1="82734" y1="83542" x2="90391" y2="87304"/>
                        <a14:backgroundMark x1="90391" y1="87304" x2="90781" y2="91144"/>
                        <a14:backgroundMark x1="85313" y1="81505" x2="93750" y2="83150"/>
                        <a14:backgroundMark x1="93750" y1="83150" x2="97422" y2="86677"/>
                        <a14:backgroundMark x1="10156" y1="98119" x2="22031" y2="95768"/>
                        <a14:backgroundMark x1="22031" y1="95768" x2="35156" y2="79389"/>
                        <a14:backgroundMark x1="35156" y1="79389" x2="43984" y2="81348"/>
                        <a14:backgroundMark x1="43984" y1="81348" x2="45547" y2="82994"/>
                        <a14:backgroundMark x1="8359" y1="98903" x2="8750" y2="98903"/>
                        <a14:backgroundMark x1="234" y1="99295" x2="2422" y2="90987"/>
                        <a14:backgroundMark x1="2422" y1="90987" x2="1719" y2="87853"/>
                        <a14:backgroundMark x1="21563" y1="88950" x2="21563" y2="88950"/>
                        <a14:backgroundMark x1="21563" y1="88950" x2="21563" y2="88950"/>
                        <a14:backgroundMark x1="23047" y1="88166" x2="20859" y2="91536"/>
                        <a14:backgroundMark x1="52891" y1="87853" x2="53594" y2="84091"/>
                        <a14:backgroundMark x1="53594" y1="83386" x2="69453" y2="80799"/>
                        <a14:backgroundMark x1="83047" y1="68966" x2="81563" y2="68260"/>
                        <a14:backgroundMark x1="81563" y1="67868" x2="83438" y2="68652"/>
                        <a14:backgroundMark x1="83828" y1="68652" x2="75391" y2="63480"/>
                        <a14:backgroundMark x1="75391" y1="63480" x2="82813" y2="69201"/>
                        <a14:backgroundMark x1="82813" y1="69201" x2="71719" y2="67163"/>
                        <a14:backgroundMark x1="71719" y1="67163" x2="73125" y2="75940"/>
                        <a14:backgroundMark x1="73125" y1="75940" x2="79531" y2="70219"/>
                        <a14:backgroundMark x1="79531" y1="70219" x2="80156" y2="70063"/>
                        <a14:backgroundMark x1="81563" y1="73041" x2="72656" y2="76332"/>
                        <a14:backgroundMark x1="72656" y1="76332" x2="67969" y2="69044"/>
                        <a14:backgroundMark x1="67969" y1="69044" x2="71406" y2="77586"/>
                        <a14:backgroundMark x1="71406" y1="77586" x2="78203" y2="68809"/>
                        <a14:backgroundMark x1="78203" y1="68809" x2="86641" y2="71630"/>
                        <a14:backgroundMark x1="86641" y1="71630" x2="75313" y2="76332"/>
                        <a14:backgroundMark x1="75313" y1="76332" x2="67891" y2="71944"/>
                        <a14:backgroundMark x1="67891" y1="71944" x2="73828" y2="75235"/>
                        <a14:backgroundMark x1="67969" y1="69357" x2="67969" y2="70063"/>
                        <a14:backgroundMark x1="69063" y1="68652" x2="66875" y2="71944"/>
                        <a14:backgroundMark x1="67266" y1="67163" x2="76563" y2="66458"/>
                        <a14:backgroundMark x1="76563" y1="66458" x2="68750" y2="69984"/>
                        <a14:backgroundMark x1="68750" y1="69984" x2="69063" y2="69357"/>
                        <a14:backgroundMark x1="35938" y1="64185" x2="38438" y2="56034"/>
                        <a14:backgroundMark x1="38438" y1="56034" x2="36719" y2="65517"/>
                        <a14:backgroundMark x1="36719" y1="65517" x2="40391" y2="80094"/>
                        <a14:backgroundMark x1="40703" y1="50862" x2="45313" y2="34248"/>
                        <a14:backgroundMark x1="45313" y1="34248" x2="58047" y2="10658"/>
                        <a14:backgroundMark x1="58047" y1="10658" x2="58438" y2="8777"/>
                        <a14:backgroundMark x1="69844" y1="29859" x2="69844" y2="29859"/>
                        <a14:backgroundMark x1="91563" y1="8464" x2="92813" y2="18025"/>
                        <a14:backgroundMark x1="92813" y1="18025" x2="86172" y2="24060"/>
                        <a14:backgroundMark x1="86172" y1="24060" x2="84141" y2="25078"/>
                        <a14:backgroundMark x1="83438" y1="25784" x2="80859" y2="19906"/>
                        <a14:backgroundMark x1="84922" y1="26489" x2="85625" y2="24687"/>
                        <a14:backgroundMark x1="85625" y1="28762" x2="85625" y2="26881"/>
                        <a14:backgroundMark x1="82734" y1="29075" x2="77188" y2="27273"/>
                        <a14:backgroundMark x1="69844" y1="29467" x2="70156" y2="29859"/>
                        <a14:backgroundMark x1="70547" y1="30956" x2="75313" y2="28370"/>
                        <a14:backgroundMark x1="49609" y1="50157" x2="51797" y2="41850"/>
                        <a14:backgroundMark x1="51797" y1="41850" x2="49375" y2="51332"/>
                        <a14:backgroundMark x1="49375" y1="51332" x2="44766" y2="51254"/>
                        <a14:backgroundMark x1="56953" y1="33542" x2="65391" y2="31897"/>
                        <a14:backgroundMark x1="65391" y1="31897" x2="65781" y2="28762"/>
                        <a14:backgroundMark x1="22734" y1="65282" x2="30078" y2="63088"/>
                        <a14:backgroundMark x1="9453" y1="72649" x2="13047" y2="64890"/>
                        <a14:backgroundMark x1="13047" y1="64890" x2="10938" y2="64577"/>
                        <a14:backgroundMark x1="68359" y1="30956" x2="72422" y2="36129"/>
                        <a14:backgroundMark x1="85313" y1="28762" x2="87500" y2="32445"/>
                      </a14:backgroundRemoval>
                    </a14:imgEffect>
                  </a14:imgLayer>
                </a14:imgProps>
              </a:ext>
            </a:extLst>
          </a:blip>
          <a:stretch>
            <a:fillRect/>
          </a:stretch>
        </p:blipFill>
        <p:spPr>
          <a:xfrm>
            <a:off x="5929387" y="614958"/>
            <a:ext cx="6262613" cy="6243042"/>
          </a:xfrm>
          <a:prstGeom prst="rect">
            <a:avLst/>
          </a:prstGeom>
        </p:spPr>
      </p:pic>
      <p:sp>
        <p:nvSpPr>
          <p:cNvPr id="4" name="Content Placeholder 3">
            <a:extLst>
              <a:ext uri="{FF2B5EF4-FFF2-40B4-BE49-F238E27FC236}">
                <a16:creationId xmlns:a16="http://schemas.microsoft.com/office/drawing/2014/main" id="{AB00D11B-A84A-2240-ADB3-04201726504B}"/>
              </a:ext>
            </a:extLst>
          </p:cNvPr>
          <p:cNvSpPr>
            <a:spLocks noGrp="1"/>
          </p:cNvSpPr>
          <p:nvPr>
            <p:ph idx="1"/>
          </p:nvPr>
        </p:nvSpPr>
        <p:spPr>
          <a:xfrm>
            <a:off x="838200" y="1618201"/>
            <a:ext cx="7807036" cy="1811193"/>
          </a:xfrm>
        </p:spPr>
        <p:txBody>
          <a:bodyPr/>
          <a:lstStyle/>
          <a:p>
            <a:pPr marL="0" indent="0">
              <a:buNone/>
            </a:pPr>
            <a:r>
              <a:rPr lang="en-US" dirty="0"/>
              <a:t>Community Preference is a longstanding NYC policy that </a:t>
            </a:r>
            <a:r>
              <a:rPr lang="en-US" b="1" dirty="0"/>
              <a:t>reserves 50% of units in most subsidized affordable housing developments</a:t>
            </a:r>
            <a:r>
              <a:rPr lang="en-US" dirty="0"/>
              <a:t> for residents of the local Community District.</a:t>
            </a:r>
          </a:p>
          <a:p>
            <a:pPr marL="0" indent="0">
              <a:buNone/>
            </a:pPr>
            <a:endParaRPr lang="en-US" dirty="0"/>
          </a:p>
          <a:p>
            <a:pPr marL="0" indent="0">
              <a:buNone/>
            </a:pPr>
            <a:endParaRPr lang="en-US" dirty="0"/>
          </a:p>
        </p:txBody>
      </p:sp>
      <p:sp>
        <p:nvSpPr>
          <p:cNvPr id="7" name="TextBox 6">
            <a:extLst>
              <a:ext uri="{FF2B5EF4-FFF2-40B4-BE49-F238E27FC236}">
                <a16:creationId xmlns:a16="http://schemas.microsoft.com/office/drawing/2014/main" id="{9A0A99FD-C857-BB48-B68F-617EB40A336B}"/>
              </a:ext>
            </a:extLst>
          </p:cNvPr>
          <p:cNvSpPr txBox="1"/>
          <p:nvPr/>
        </p:nvSpPr>
        <p:spPr>
          <a:xfrm>
            <a:off x="7350354" y="6231265"/>
            <a:ext cx="4841646" cy="523220"/>
          </a:xfrm>
          <a:prstGeom prst="rect">
            <a:avLst/>
          </a:prstGeom>
          <a:noFill/>
        </p:spPr>
        <p:txBody>
          <a:bodyPr wrap="none" rtlCol="0">
            <a:spAutoFit/>
          </a:bodyPr>
          <a:lstStyle/>
          <a:p>
            <a:r>
              <a:rPr lang="en-US" sz="2800" dirty="0"/>
              <a:t>NYC has 59 Community Districts</a:t>
            </a:r>
          </a:p>
        </p:txBody>
      </p:sp>
    </p:spTree>
    <p:extLst>
      <p:ext uri="{BB962C8B-B14F-4D97-AF65-F5344CB8AC3E}">
        <p14:creationId xmlns:p14="http://schemas.microsoft.com/office/powerpoint/2010/main" val="1001963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2DC-1B3D-5D4E-A5AC-05EB51ACBA08}"/>
              </a:ext>
            </a:extLst>
          </p:cNvPr>
          <p:cNvSpPr>
            <a:spLocks noGrp="1"/>
          </p:cNvSpPr>
          <p:nvPr>
            <p:ph type="title"/>
          </p:nvPr>
        </p:nvSpPr>
        <p:spPr/>
        <p:txBody>
          <a:bodyPr/>
          <a:lstStyle/>
          <a:p>
            <a:r>
              <a:rPr lang="en-US" dirty="0"/>
              <a:t>Community Preference Policy</a:t>
            </a:r>
          </a:p>
        </p:txBody>
      </p:sp>
      <p:pic>
        <p:nvPicPr>
          <p:cNvPr id="18" name="Picture 17" descr="Map&#10;&#10;Description automatically generated">
            <a:extLst>
              <a:ext uri="{FF2B5EF4-FFF2-40B4-BE49-F238E27FC236}">
                <a16:creationId xmlns:a16="http://schemas.microsoft.com/office/drawing/2014/main" id="{F5011A49-A436-A04A-BC25-DA580E8420A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389" b="96708" l="2422" r="95547">
                        <a14:foregroundMark x1="90078" y1="63793" x2="89688" y2="43730"/>
                        <a14:foregroundMark x1="89688" y1="43730" x2="92656" y2="35737"/>
                        <a14:foregroundMark x1="92656" y1="35737" x2="97422" y2="43260"/>
                        <a14:foregroundMark x1="97422" y1="43260" x2="93750" y2="51097"/>
                        <a14:foregroundMark x1="93750" y1="51097" x2="93359" y2="60031"/>
                        <a14:foregroundMark x1="93359" y1="60031" x2="90391" y2="59718"/>
                        <a14:foregroundMark x1="95547" y1="41693" x2="95547" y2="39420"/>
                        <a14:foregroundMark x1="81953" y1="9561" x2="64844" y2="3605"/>
                        <a14:foregroundMark x1="64844" y1="3605" x2="60234" y2="10972"/>
                        <a14:foregroundMark x1="60234" y1="10972" x2="68750" y2="8777"/>
                        <a14:foregroundMark x1="68750" y1="8777" x2="74219" y2="9169"/>
                        <a14:foregroundMark x1="71641" y1="4389" x2="68750" y2="9169"/>
                        <a14:foregroundMark x1="49922" y1="35345" x2="52109" y2="36129"/>
                        <a14:foregroundMark x1="51797" y1="61599" x2="52109" y2="60502"/>
                        <a14:foregroundMark x1="69844" y1="81505" x2="86094" y2="74922"/>
                        <a14:foregroundMark x1="86094" y1="74922" x2="87891" y2="73041"/>
                        <a14:foregroundMark x1="26719" y1="71944" x2="17734" y2="69357"/>
                        <a14:foregroundMark x1="17734" y1="69357" x2="30781" y2="68260"/>
                        <a14:foregroundMark x1="25313" y1="76332" x2="16406" y2="76019"/>
                        <a14:foregroundMark x1="16406" y1="76019" x2="25781" y2="76489"/>
                        <a14:foregroundMark x1="25781" y1="76489" x2="29688" y2="78918"/>
                        <a14:foregroundMark x1="20156" y1="79310" x2="13516" y2="73746"/>
                        <a14:foregroundMark x1="13516" y1="73746" x2="16094" y2="74530"/>
                        <a14:foregroundMark x1="49922" y1="35031" x2="53984" y2="29467"/>
                        <a14:foregroundMark x1="2422" y1="96708" x2="17813" y2="86364"/>
                        <a14:foregroundMark x1="17813" y1="86364" x2="18672" y2="84483"/>
                        <a14:foregroundMark x1="53281" y1="24295" x2="56563" y2="16379"/>
                        <a14:foregroundMark x1="56563" y1="16379" x2="56172" y2="25392"/>
                        <a14:foregroundMark x1="70938" y1="80799" x2="86953" y2="75235"/>
                        <a14:foregroundMark x1="86953" y1="75235" x2="85313" y2="73746"/>
                        <a14:backgroundMark x1="21563" y1="58621" x2="26016" y2="51097"/>
                        <a14:backgroundMark x1="26016" y1="51097" x2="26016" y2="50549"/>
                        <a14:backgroundMark x1="20156" y1="61207" x2="17891" y2="63480"/>
                        <a14:backgroundMark x1="2109" y1="86677" x2="8828" y2="80956"/>
                        <a14:backgroundMark x1="8828" y1="80956" x2="9453" y2="70455"/>
                        <a14:backgroundMark x1="6875" y1="84091" x2="10313" y2="76019"/>
                        <a14:backgroundMark x1="10313" y1="76019" x2="9453" y2="68260"/>
                        <a14:backgroundMark x1="6484" y1="85266" x2="7578" y2="85580"/>
                        <a14:backgroundMark x1="8750" y1="79310" x2="7266" y2="85972"/>
                        <a14:backgroundMark x1="7969" y1="83777" x2="9063" y2="78605"/>
                        <a14:backgroundMark x1="8359" y1="83777" x2="9453" y2="78605"/>
                        <a14:backgroundMark x1="8359" y1="82680" x2="8750" y2="77821"/>
                        <a14:backgroundMark x1="8359" y1="81191" x2="8359" y2="81191"/>
                        <a14:backgroundMark x1="9453" y1="80408" x2="9453" y2="80408"/>
                        <a14:backgroundMark x1="8359" y1="80408" x2="9844" y2="75627"/>
                        <a14:backgroundMark x1="8359" y1="80799" x2="9844" y2="70063"/>
                        <a14:backgroundMark x1="9844" y1="75627" x2="10547" y2="75235"/>
                        <a14:backgroundMark x1="27891" y1="92947" x2="47734" y2="93730"/>
                        <a14:backgroundMark x1="39609" y1="85972" x2="39766" y2="95611"/>
                        <a14:backgroundMark x1="39766" y1="95611" x2="60156" y2="90047"/>
                        <a14:backgroundMark x1="60156" y1="90047" x2="74375" y2="90439"/>
                        <a14:backgroundMark x1="74375" y1="90439" x2="82813" y2="95455"/>
                        <a14:backgroundMark x1="82813" y1="95455" x2="87500" y2="91850"/>
                        <a14:backgroundMark x1="87109" y1="87461" x2="78906" y2="97571"/>
                        <a14:backgroundMark x1="78906" y1="97571" x2="68516" y2="98197"/>
                        <a14:backgroundMark x1="68516" y1="98197" x2="60156" y2="94671"/>
                        <a14:backgroundMark x1="60156" y1="94671" x2="38516" y2="95533"/>
                        <a14:backgroundMark x1="39297" y1="89655" x2="30391" y2="92633"/>
                        <a14:backgroundMark x1="30391" y1="92633" x2="37031" y2="84875"/>
                        <a14:backgroundMark x1="37031" y1="84875" x2="47500" y2="85031"/>
                        <a14:backgroundMark x1="47500" y1="85031" x2="55781" y2="89263"/>
                        <a14:backgroundMark x1="55781" y1="89263" x2="65469" y2="90596"/>
                        <a14:backgroundMark x1="65469" y1="90596" x2="75547" y2="89577"/>
                        <a14:backgroundMark x1="75547" y1="89577" x2="83594" y2="85580"/>
                        <a14:backgroundMark x1="83594" y1="85580" x2="88594" y2="90047"/>
                        <a14:backgroundMark x1="90391" y1="95219" x2="90391" y2="86442"/>
                        <a14:backgroundMark x1="90391" y1="86442" x2="82578" y2="82288"/>
                        <a14:backgroundMark x1="82578" y1="82288" x2="73906" y2="83699"/>
                        <a14:backgroundMark x1="73906" y1="83699" x2="82734" y2="83542"/>
                        <a14:backgroundMark x1="82734" y1="83542" x2="90391" y2="87304"/>
                        <a14:backgroundMark x1="90391" y1="87304" x2="90781" y2="91144"/>
                        <a14:backgroundMark x1="85313" y1="81505" x2="93750" y2="83150"/>
                        <a14:backgroundMark x1="93750" y1="83150" x2="97422" y2="86677"/>
                        <a14:backgroundMark x1="10156" y1="98119" x2="22031" y2="95768"/>
                        <a14:backgroundMark x1="22031" y1="95768" x2="35156" y2="79389"/>
                        <a14:backgroundMark x1="35156" y1="79389" x2="43984" y2="81348"/>
                        <a14:backgroundMark x1="43984" y1="81348" x2="45547" y2="82994"/>
                        <a14:backgroundMark x1="8359" y1="98903" x2="8750" y2="98903"/>
                        <a14:backgroundMark x1="234" y1="99295" x2="2422" y2="90987"/>
                        <a14:backgroundMark x1="2422" y1="90987" x2="1719" y2="87853"/>
                        <a14:backgroundMark x1="21563" y1="88950" x2="21563" y2="88950"/>
                        <a14:backgroundMark x1="21563" y1="88950" x2="21563" y2="88950"/>
                        <a14:backgroundMark x1="23047" y1="88166" x2="20859" y2="91536"/>
                        <a14:backgroundMark x1="52891" y1="87853" x2="53594" y2="84091"/>
                        <a14:backgroundMark x1="53594" y1="83386" x2="69453" y2="80799"/>
                        <a14:backgroundMark x1="83047" y1="68966" x2="81563" y2="68260"/>
                        <a14:backgroundMark x1="81563" y1="67868" x2="83438" y2="68652"/>
                        <a14:backgroundMark x1="83828" y1="68652" x2="75391" y2="63480"/>
                        <a14:backgroundMark x1="75391" y1="63480" x2="82813" y2="69201"/>
                        <a14:backgroundMark x1="82813" y1="69201" x2="71719" y2="67163"/>
                        <a14:backgroundMark x1="71719" y1="67163" x2="73125" y2="75940"/>
                        <a14:backgroundMark x1="73125" y1="75940" x2="79531" y2="70219"/>
                        <a14:backgroundMark x1="79531" y1="70219" x2="80156" y2="70063"/>
                        <a14:backgroundMark x1="81563" y1="73041" x2="72656" y2="76332"/>
                        <a14:backgroundMark x1="72656" y1="76332" x2="67969" y2="69044"/>
                        <a14:backgroundMark x1="67969" y1="69044" x2="71406" y2="77586"/>
                        <a14:backgroundMark x1="71406" y1="77586" x2="78203" y2="68809"/>
                        <a14:backgroundMark x1="78203" y1="68809" x2="86641" y2="71630"/>
                        <a14:backgroundMark x1="86641" y1="71630" x2="75313" y2="76332"/>
                        <a14:backgroundMark x1="75313" y1="76332" x2="67891" y2="71944"/>
                        <a14:backgroundMark x1="67891" y1="71944" x2="73828" y2="75235"/>
                        <a14:backgroundMark x1="67969" y1="69357" x2="67969" y2="70063"/>
                        <a14:backgroundMark x1="69063" y1="68652" x2="66875" y2="71944"/>
                        <a14:backgroundMark x1="67266" y1="67163" x2="76563" y2="66458"/>
                        <a14:backgroundMark x1="76563" y1="66458" x2="68750" y2="69984"/>
                        <a14:backgroundMark x1="68750" y1="69984" x2="69063" y2="69357"/>
                        <a14:backgroundMark x1="35938" y1="64185" x2="38438" y2="56034"/>
                        <a14:backgroundMark x1="38438" y1="56034" x2="36719" y2="65517"/>
                        <a14:backgroundMark x1="36719" y1="65517" x2="40391" y2="80094"/>
                        <a14:backgroundMark x1="40703" y1="50862" x2="45313" y2="34248"/>
                        <a14:backgroundMark x1="45313" y1="34248" x2="58047" y2="10658"/>
                        <a14:backgroundMark x1="58047" y1="10658" x2="58438" y2="8777"/>
                        <a14:backgroundMark x1="69844" y1="29859" x2="69844" y2="29859"/>
                        <a14:backgroundMark x1="91563" y1="8464" x2="92813" y2="18025"/>
                        <a14:backgroundMark x1="92813" y1="18025" x2="86172" y2="24060"/>
                        <a14:backgroundMark x1="86172" y1="24060" x2="84141" y2="25078"/>
                        <a14:backgroundMark x1="83438" y1="25784" x2="80859" y2="19906"/>
                        <a14:backgroundMark x1="84922" y1="26489" x2="85625" y2="24687"/>
                        <a14:backgroundMark x1="85625" y1="28762" x2="85625" y2="26881"/>
                        <a14:backgroundMark x1="82734" y1="29075" x2="77188" y2="27273"/>
                        <a14:backgroundMark x1="69844" y1="29467" x2="70156" y2="29859"/>
                        <a14:backgroundMark x1="70547" y1="30956" x2="75313" y2="28370"/>
                        <a14:backgroundMark x1="49609" y1="50157" x2="51797" y2="41850"/>
                        <a14:backgroundMark x1="51797" y1="41850" x2="49375" y2="51332"/>
                        <a14:backgroundMark x1="49375" y1="51332" x2="44766" y2="51254"/>
                        <a14:backgroundMark x1="56953" y1="33542" x2="65391" y2="31897"/>
                        <a14:backgroundMark x1="65391" y1="31897" x2="65781" y2="28762"/>
                        <a14:backgroundMark x1="22734" y1="65282" x2="30078" y2="63088"/>
                        <a14:backgroundMark x1="9453" y1="72649" x2="13047" y2="64890"/>
                        <a14:backgroundMark x1="13047" y1="64890" x2="10938" y2="64577"/>
                        <a14:backgroundMark x1="68359" y1="30956" x2="72422" y2="36129"/>
                        <a14:backgroundMark x1="85313" y1="28762" x2="87500" y2="32445"/>
                      </a14:backgroundRemoval>
                    </a14:imgEffect>
                  </a14:imgLayer>
                </a14:imgProps>
              </a:ext>
            </a:extLst>
          </a:blip>
          <a:stretch>
            <a:fillRect/>
          </a:stretch>
        </p:blipFill>
        <p:spPr>
          <a:xfrm>
            <a:off x="5929387" y="614958"/>
            <a:ext cx="6262613" cy="6243042"/>
          </a:xfrm>
          <a:prstGeom prst="rect">
            <a:avLst/>
          </a:prstGeom>
        </p:spPr>
      </p:pic>
      <p:sp>
        <p:nvSpPr>
          <p:cNvPr id="4" name="Content Placeholder 3">
            <a:extLst>
              <a:ext uri="{FF2B5EF4-FFF2-40B4-BE49-F238E27FC236}">
                <a16:creationId xmlns:a16="http://schemas.microsoft.com/office/drawing/2014/main" id="{AB00D11B-A84A-2240-ADB3-04201726504B}"/>
              </a:ext>
            </a:extLst>
          </p:cNvPr>
          <p:cNvSpPr>
            <a:spLocks noGrp="1"/>
          </p:cNvSpPr>
          <p:nvPr>
            <p:ph idx="1"/>
          </p:nvPr>
        </p:nvSpPr>
        <p:spPr>
          <a:xfrm>
            <a:off x="838200" y="1618201"/>
            <a:ext cx="7807036" cy="1811193"/>
          </a:xfrm>
        </p:spPr>
        <p:txBody>
          <a:bodyPr/>
          <a:lstStyle/>
          <a:p>
            <a:pPr marL="0" indent="0">
              <a:buNone/>
            </a:pPr>
            <a:r>
              <a:rPr lang="en-US" dirty="0"/>
              <a:t>Community Preference is a longstanding NYC policy that </a:t>
            </a:r>
            <a:r>
              <a:rPr lang="en-US" b="1" dirty="0"/>
              <a:t>reserves 50% of units in most subsidized affordable housing developments</a:t>
            </a:r>
            <a:r>
              <a:rPr lang="en-US" dirty="0"/>
              <a:t> for residents of the local Community District.</a:t>
            </a:r>
          </a:p>
          <a:p>
            <a:pPr marL="0" indent="0">
              <a:buNone/>
            </a:pPr>
            <a:endParaRPr lang="en-US" dirty="0"/>
          </a:p>
          <a:p>
            <a:pPr marL="0" indent="0">
              <a:buNone/>
            </a:pPr>
            <a:endParaRPr lang="en-US" dirty="0"/>
          </a:p>
        </p:txBody>
      </p:sp>
      <p:sp>
        <p:nvSpPr>
          <p:cNvPr id="6" name="Rectangle 5">
            <a:extLst>
              <a:ext uri="{FF2B5EF4-FFF2-40B4-BE49-F238E27FC236}">
                <a16:creationId xmlns:a16="http://schemas.microsoft.com/office/drawing/2014/main" id="{1D046BC0-3F02-7B4D-BDD6-E05A4EE7DDCD}"/>
              </a:ext>
            </a:extLst>
          </p:cNvPr>
          <p:cNvSpPr/>
          <p:nvPr/>
        </p:nvSpPr>
        <p:spPr>
          <a:xfrm>
            <a:off x="838200" y="3429000"/>
            <a:ext cx="6262613" cy="2031325"/>
          </a:xfrm>
          <a:prstGeom prst="rect">
            <a:avLst/>
          </a:prstGeom>
        </p:spPr>
        <p:txBody>
          <a:bodyPr wrap="square">
            <a:spAutoFit/>
          </a:bodyPr>
          <a:lstStyle/>
          <a:p>
            <a:r>
              <a:rPr lang="en-US" sz="4200" b="1" dirty="0">
                <a:solidFill>
                  <a:srgbClr val="FF0000"/>
                </a:solidFill>
              </a:rPr>
              <a:t>Lawsuit!</a:t>
            </a:r>
          </a:p>
          <a:p>
            <a:r>
              <a:rPr lang="en-US" sz="2800" dirty="0"/>
              <a:t>Plaintiffs claim that the policy has racially discriminatory impacts and perpetuates the harmful legacy of segregation.</a:t>
            </a:r>
          </a:p>
        </p:txBody>
      </p:sp>
      <p:sp>
        <p:nvSpPr>
          <p:cNvPr id="7" name="TextBox 6">
            <a:extLst>
              <a:ext uri="{FF2B5EF4-FFF2-40B4-BE49-F238E27FC236}">
                <a16:creationId xmlns:a16="http://schemas.microsoft.com/office/drawing/2014/main" id="{9A0A99FD-C857-BB48-B68F-617EB40A336B}"/>
              </a:ext>
            </a:extLst>
          </p:cNvPr>
          <p:cNvSpPr txBox="1"/>
          <p:nvPr/>
        </p:nvSpPr>
        <p:spPr>
          <a:xfrm>
            <a:off x="7350354" y="6231265"/>
            <a:ext cx="4841646" cy="523220"/>
          </a:xfrm>
          <a:prstGeom prst="rect">
            <a:avLst/>
          </a:prstGeom>
          <a:noFill/>
        </p:spPr>
        <p:txBody>
          <a:bodyPr wrap="none" rtlCol="0">
            <a:spAutoFit/>
          </a:bodyPr>
          <a:lstStyle/>
          <a:p>
            <a:r>
              <a:rPr lang="en-US" sz="2800" dirty="0"/>
              <a:t>NYC has 59 Community Districts</a:t>
            </a:r>
          </a:p>
        </p:txBody>
      </p:sp>
    </p:spTree>
    <p:extLst>
      <p:ext uri="{BB962C8B-B14F-4D97-AF65-F5344CB8AC3E}">
        <p14:creationId xmlns:p14="http://schemas.microsoft.com/office/powerpoint/2010/main" val="3320448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Text&#10;&#10;Description automatically generated">
            <a:extLst>
              <a:ext uri="{FF2B5EF4-FFF2-40B4-BE49-F238E27FC236}">
                <a16:creationId xmlns:a16="http://schemas.microsoft.com/office/drawing/2014/main" id="{E4C9B4CF-B0D4-9343-82DB-CAC98E9C897B}"/>
              </a:ext>
            </a:extLst>
          </p:cNvPr>
          <p:cNvPicPr>
            <a:picLocks noGrp="1" noChangeAspect="1"/>
          </p:cNvPicPr>
          <p:nvPr>
            <p:ph idx="1"/>
          </p:nvPr>
        </p:nvPicPr>
        <p:blipFill>
          <a:blip r:embed="rId2"/>
          <a:stretch>
            <a:fillRect/>
          </a:stretch>
        </p:blipFill>
        <p:spPr>
          <a:xfrm>
            <a:off x="838200" y="497088"/>
            <a:ext cx="10515600" cy="1404610"/>
          </a:xfrm>
        </p:spPr>
      </p:pic>
      <p:pic>
        <p:nvPicPr>
          <p:cNvPr id="4" name="Picture 3" descr="Graphical user interface, text, application&#10;&#10;Description automatically generated">
            <a:extLst>
              <a:ext uri="{FF2B5EF4-FFF2-40B4-BE49-F238E27FC236}">
                <a16:creationId xmlns:a16="http://schemas.microsoft.com/office/drawing/2014/main" id="{404F2053-7AC0-C64B-9038-DCEF2AA4F9FD}"/>
              </a:ext>
            </a:extLst>
          </p:cNvPr>
          <p:cNvPicPr>
            <a:picLocks noChangeAspect="1"/>
          </p:cNvPicPr>
          <p:nvPr/>
        </p:nvPicPr>
        <p:blipFill rotWithShape="1">
          <a:blip r:embed="rId3"/>
          <a:srcRect l="1712"/>
          <a:stretch/>
        </p:blipFill>
        <p:spPr>
          <a:xfrm>
            <a:off x="838200" y="1901698"/>
            <a:ext cx="9149773" cy="2882900"/>
          </a:xfrm>
          <a:prstGeom prst="rect">
            <a:avLst/>
          </a:prstGeom>
        </p:spPr>
      </p:pic>
      <p:pic>
        <p:nvPicPr>
          <p:cNvPr id="8" name="Picture 7" descr="Text&#10;&#10;Description automatically generated">
            <a:extLst>
              <a:ext uri="{FF2B5EF4-FFF2-40B4-BE49-F238E27FC236}">
                <a16:creationId xmlns:a16="http://schemas.microsoft.com/office/drawing/2014/main" id="{10111062-D88C-094B-B73C-CB27E2E097E5}"/>
              </a:ext>
            </a:extLst>
          </p:cNvPr>
          <p:cNvPicPr>
            <a:picLocks noChangeAspect="1"/>
          </p:cNvPicPr>
          <p:nvPr/>
        </p:nvPicPr>
        <p:blipFill>
          <a:blip r:embed="rId4"/>
          <a:stretch>
            <a:fillRect/>
          </a:stretch>
        </p:blipFill>
        <p:spPr>
          <a:xfrm>
            <a:off x="838200" y="4784598"/>
            <a:ext cx="11353800" cy="1950209"/>
          </a:xfrm>
          <a:prstGeom prst="rect">
            <a:avLst/>
          </a:prstGeom>
        </p:spPr>
      </p:pic>
    </p:spTree>
    <p:extLst>
      <p:ext uri="{BB962C8B-B14F-4D97-AF65-F5344CB8AC3E}">
        <p14:creationId xmlns:p14="http://schemas.microsoft.com/office/powerpoint/2010/main" val="2271251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B364C-A2BC-1A47-A910-931F2B95D692}"/>
              </a:ext>
            </a:extLst>
          </p:cNvPr>
          <p:cNvSpPr>
            <a:spLocks noGrp="1"/>
          </p:cNvSpPr>
          <p:nvPr>
            <p:ph type="title"/>
          </p:nvPr>
        </p:nvSpPr>
        <p:spPr/>
        <p:txBody>
          <a:bodyPr>
            <a:normAutofit fontScale="90000"/>
          </a:bodyPr>
          <a:lstStyle/>
          <a:p>
            <a:r>
              <a:rPr lang="en-US" sz="5300" dirty="0"/>
              <a:t>How to establish </a:t>
            </a:r>
            <a:br>
              <a:rPr lang="en-US" sz="5300" dirty="0"/>
            </a:br>
            <a:r>
              <a:rPr lang="en-US" sz="5300" dirty="0"/>
              <a:t>“disparate impact on the basis of race”?</a:t>
            </a:r>
            <a:endParaRPr lang="en-US" dirty="0"/>
          </a:p>
        </p:txBody>
      </p:sp>
      <p:sp>
        <p:nvSpPr>
          <p:cNvPr id="3" name="Content Placeholder 2">
            <a:extLst>
              <a:ext uri="{FF2B5EF4-FFF2-40B4-BE49-F238E27FC236}">
                <a16:creationId xmlns:a16="http://schemas.microsoft.com/office/drawing/2014/main" id="{3CFCF0E2-8BE0-9F4D-8434-B9EAFA4D56FE}"/>
              </a:ext>
            </a:extLst>
          </p:cNvPr>
          <p:cNvSpPr>
            <a:spLocks noGrp="1"/>
          </p:cNvSpPr>
          <p:nvPr>
            <p:ph idx="1"/>
          </p:nvPr>
        </p:nvSpPr>
        <p:spPr/>
        <p:txBody>
          <a:bodyPr>
            <a:normAutofit/>
          </a:bodyPr>
          <a:lstStyle/>
          <a:p>
            <a:pPr marL="0" indent="0">
              <a:buNone/>
            </a:pPr>
            <a:endParaRPr lang="en-US" sz="3200" dirty="0"/>
          </a:p>
          <a:p>
            <a:pPr marL="0" indent="0">
              <a:buNone/>
            </a:pPr>
            <a:endParaRPr lang="en-US" sz="3200" dirty="0"/>
          </a:p>
          <a:p>
            <a:pPr marL="0" indent="0">
              <a:buNone/>
            </a:pPr>
            <a:r>
              <a:rPr lang="en-US" sz="3200" dirty="0"/>
              <a:t>Plaintiffs hired Andrew Beveridge to make the case.</a:t>
            </a:r>
          </a:p>
          <a:p>
            <a:pPr marL="0" indent="0">
              <a:buNone/>
            </a:pPr>
            <a:endParaRPr lang="en-US" sz="3200" dirty="0"/>
          </a:p>
          <a:p>
            <a:pPr marL="0" indent="0">
              <a:buNone/>
            </a:pPr>
            <a:r>
              <a:rPr lang="en-US" sz="3200" dirty="0"/>
              <a:t>The city hired Bernard Siskin to rebut.</a:t>
            </a:r>
          </a:p>
          <a:p>
            <a:pPr marL="0" indent="0">
              <a:buNone/>
            </a:pPr>
            <a:endParaRPr lang="en-US" sz="3200" dirty="0"/>
          </a:p>
          <a:p>
            <a:pPr marL="0" indent="0">
              <a:buNone/>
            </a:pPr>
            <a:r>
              <a:rPr lang="en-US" sz="3200" dirty="0"/>
              <a:t>I offer my own take. </a:t>
            </a:r>
          </a:p>
        </p:txBody>
      </p:sp>
      <p:sp>
        <p:nvSpPr>
          <p:cNvPr id="4" name="TextBox 3">
            <a:extLst>
              <a:ext uri="{FF2B5EF4-FFF2-40B4-BE49-F238E27FC236}">
                <a16:creationId xmlns:a16="http://schemas.microsoft.com/office/drawing/2014/main" id="{C2B4858C-BD88-9F4A-9C84-C1F2B13FBE8F}"/>
              </a:ext>
            </a:extLst>
          </p:cNvPr>
          <p:cNvSpPr txBox="1"/>
          <p:nvPr/>
        </p:nvSpPr>
        <p:spPr>
          <a:xfrm>
            <a:off x="10224655" y="2844225"/>
            <a:ext cx="1166473" cy="584775"/>
          </a:xfrm>
          <a:prstGeom prst="rect">
            <a:avLst/>
          </a:prstGeom>
          <a:noFill/>
        </p:spPr>
        <p:txBody>
          <a:bodyPr wrap="none" rtlCol="0">
            <a:spAutoFit/>
          </a:bodyPr>
          <a:lstStyle/>
          <a:p>
            <a:r>
              <a:rPr lang="en-US" sz="3200" dirty="0">
                <a:solidFill>
                  <a:schemeClr val="accent1"/>
                </a:solidFill>
              </a:rPr>
              <a:t>Part 1</a:t>
            </a:r>
          </a:p>
        </p:txBody>
      </p:sp>
      <p:sp>
        <p:nvSpPr>
          <p:cNvPr id="5" name="TextBox 4">
            <a:extLst>
              <a:ext uri="{FF2B5EF4-FFF2-40B4-BE49-F238E27FC236}">
                <a16:creationId xmlns:a16="http://schemas.microsoft.com/office/drawing/2014/main" id="{0B85E9AE-9C0E-5E49-A93A-1A28F84C4575}"/>
              </a:ext>
            </a:extLst>
          </p:cNvPr>
          <p:cNvSpPr txBox="1"/>
          <p:nvPr/>
        </p:nvSpPr>
        <p:spPr>
          <a:xfrm>
            <a:off x="10224655" y="4155212"/>
            <a:ext cx="1166473" cy="584775"/>
          </a:xfrm>
          <a:prstGeom prst="rect">
            <a:avLst/>
          </a:prstGeom>
          <a:noFill/>
        </p:spPr>
        <p:txBody>
          <a:bodyPr wrap="none" rtlCol="0">
            <a:spAutoFit/>
          </a:bodyPr>
          <a:lstStyle/>
          <a:p>
            <a:r>
              <a:rPr lang="en-US" sz="3200" dirty="0">
                <a:solidFill>
                  <a:schemeClr val="accent1"/>
                </a:solidFill>
              </a:rPr>
              <a:t>Part 2</a:t>
            </a:r>
          </a:p>
        </p:txBody>
      </p:sp>
      <p:sp>
        <p:nvSpPr>
          <p:cNvPr id="6" name="TextBox 5">
            <a:extLst>
              <a:ext uri="{FF2B5EF4-FFF2-40B4-BE49-F238E27FC236}">
                <a16:creationId xmlns:a16="http://schemas.microsoft.com/office/drawing/2014/main" id="{09608E4A-66B0-4D48-855B-4A5A66EC7AF0}"/>
              </a:ext>
            </a:extLst>
          </p:cNvPr>
          <p:cNvSpPr txBox="1"/>
          <p:nvPr/>
        </p:nvSpPr>
        <p:spPr>
          <a:xfrm>
            <a:off x="10224655" y="5173811"/>
            <a:ext cx="1166473" cy="584775"/>
          </a:xfrm>
          <a:prstGeom prst="rect">
            <a:avLst/>
          </a:prstGeom>
          <a:noFill/>
        </p:spPr>
        <p:txBody>
          <a:bodyPr wrap="none" rtlCol="0">
            <a:spAutoFit/>
          </a:bodyPr>
          <a:lstStyle/>
          <a:p>
            <a:r>
              <a:rPr lang="en-US" sz="3200" dirty="0">
                <a:solidFill>
                  <a:schemeClr val="accent1"/>
                </a:solidFill>
              </a:rPr>
              <a:t>Part 3</a:t>
            </a:r>
          </a:p>
        </p:txBody>
      </p:sp>
    </p:spTree>
    <p:extLst>
      <p:ext uri="{BB962C8B-B14F-4D97-AF65-F5344CB8AC3E}">
        <p14:creationId xmlns:p14="http://schemas.microsoft.com/office/powerpoint/2010/main" val="2158624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F328-A7DF-2945-820D-54050C494A5D}"/>
              </a:ext>
            </a:extLst>
          </p:cNvPr>
          <p:cNvSpPr>
            <a:spLocks noGrp="1"/>
          </p:cNvSpPr>
          <p:nvPr>
            <p:ph type="title"/>
          </p:nvPr>
        </p:nvSpPr>
        <p:spPr/>
        <p:txBody>
          <a:bodyPr/>
          <a:lstStyle/>
          <a:p>
            <a:r>
              <a:rPr lang="en-US" dirty="0"/>
              <a:t>Part 1: Beveridge’s Report</a:t>
            </a:r>
          </a:p>
        </p:txBody>
      </p:sp>
      <p:sp>
        <p:nvSpPr>
          <p:cNvPr id="3" name="Content Placeholder 2">
            <a:extLst>
              <a:ext uri="{FF2B5EF4-FFF2-40B4-BE49-F238E27FC236}">
                <a16:creationId xmlns:a16="http://schemas.microsoft.com/office/drawing/2014/main" id="{4B528EB3-93B4-EA43-B773-85CC38EBF59D}"/>
              </a:ext>
            </a:extLst>
          </p:cNvPr>
          <p:cNvSpPr>
            <a:spLocks noGrp="1"/>
          </p:cNvSpPr>
          <p:nvPr>
            <p:ph idx="1"/>
          </p:nvPr>
        </p:nvSpPr>
        <p:spPr/>
        <p:txBody>
          <a:bodyPr/>
          <a:lstStyle/>
          <a:p>
            <a:pPr marL="0" indent="0">
              <a:buNone/>
            </a:pPr>
            <a:r>
              <a:rPr lang="en-US" dirty="0"/>
              <a:t>Analyzes data from 168 lotteries from 2012-2018.</a:t>
            </a:r>
          </a:p>
          <a:p>
            <a:pPr marL="0" indent="0">
              <a:buNone/>
            </a:pPr>
            <a:r>
              <a:rPr lang="en-US" dirty="0"/>
              <a:t>Total units allocated: 10,245.</a:t>
            </a:r>
          </a:p>
          <a:p>
            <a:pPr marL="0" indent="0">
              <a:buNone/>
            </a:pPr>
            <a:r>
              <a:rPr lang="en-US" b="1" dirty="0"/>
              <a:t>68</a:t>
            </a:r>
            <a:r>
              <a:rPr lang="en-US" dirty="0"/>
              <a:t> pages long (22 of them are Beveridge’s CV)</a:t>
            </a:r>
          </a:p>
          <a:p>
            <a:pPr marL="0" indent="0">
              <a:buNone/>
            </a:pPr>
            <a:endParaRPr lang="en-US" dirty="0"/>
          </a:p>
          <a:p>
            <a:pPr marL="0" indent="0">
              <a:buNone/>
            </a:pPr>
            <a:r>
              <a:rPr lang="en-US" dirty="0"/>
              <a:t>My goal: simplify.</a:t>
            </a:r>
          </a:p>
          <a:p>
            <a:r>
              <a:rPr lang="en-US" dirty="0"/>
              <a:t>Focus on key points, </a:t>
            </a:r>
            <a:r>
              <a:rPr lang="en-US" b="1" dirty="0"/>
              <a:t>not </a:t>
            </a:r>
            <a:r>
              <a:rPr lang="en-US" dirty="0"/>
              <a:t>comprehensive.</a:t>
            </a:r>
          </a:p>
          <a:p>
            <a:r>
              <a:rPr lang="en-US" dirty="0"/>
              <a:t>Omit some details (i.e. disability set-asides).</a:t>
            </a:r>
          </a:p>
          <a:p>
            <a:pPr marL="0" indent="0">
              <a:buNone/>
            </a:pPr>
            <a:endParaRPr lang="en-US" dirty="0"/>
          </a:p>
        </p:txBody>
      </p:sp>
    </p:spTree>
    <p:extLst>
      <p:ext uri="{BB962C8B-B14F-4D97-AF65-F5344CB8AC3E}">
        <p14:creationId xmlns:p14="http://schemas.microsoft.com/office/powerpoint/2010/main" val="1087304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FB08A04-7A3D-9B47-8222-D5AB92CEC20E}"/>
              </a:ext>
            </a:extLst>
          </p:cNvPr>
          <p:cNvSpPr>
            <a:spLocks noGrp="1"/>
          </p:cNvSpPr>
          <p:nvPr>
            <p:ph type="title"/>
          </p:nvPr>
        </p:nvSpPr>
        <p:spPr>
          <a:xfrm>
            <a:off x="838200" y="157307"/>
            <a:ext cx="10515600" cy="1325563"/>
          </a:xfrm>
        </p:spPr>
        <p:txBody>
          <a:bodyPr>
            <a:normAutofit fontScale="90000"/>
          </a:bodyPr>
          <a:lstStyle/>
          <a:p>
            <a:pPr marL="0" indent="0"/>
            <a:br>
              <a:rPr lang="en-US" dirty="0"/>
            </a:br>
            <a:r>
              <a:rPr lang="en-US" dirty="0"/>
              <a:t>How to study disparate impact of CP on race?</a:t>
            </a:r>
            <a:br>
              <a:rPr lang="en-US" dirty="0"/>
            </a:br>
            <a:r>
              <a:rPr lang="en-US" dirty="0"/>
              <a:t>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spTree>
    <p:extLst>
      <p:ext uri="{BB962C8B-B14F-4D97-AF65-F5344CB8AC3E}">
        <p14:creationId xmlns:p14="http://schemas.microsoft.com/office/powerpoint/2010/main" val="1084528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FB08A04-7A3D-9B47-8222-D5AB92CEC20E}"/>
              </a:ext>
            </a:extLst>
          </p:cNvPr>
          <p:cNvSpPr>
            <a:spLocks noGrp="1"/>
          </p:cNvSpPr>
          <p:nvPr>
            <p:ph type="title"/>
          </p:nvPr>
        </p:nvSpPr>
        <p:spPr>
          <a:xfrm>
            <a:off x="838200" y="157307"/>
            <a:ext cx="10515600" cy="1325563"/>
          </a:xfrm>
        </p:spPr>
        <p:txBody>
          <a:bodyPr>
            <a:normAutofit fontScale="90000"/>
          </a:bodyPr>
          <a:lstStyle/>
          <a:p>
            <a:pPr marL="0" indent="0"/>
            <a:br>
              <a:rPr lang="en-US" dirty="0"/>
            </a:br>
            <a:r>
              <a:rPr lang="en-US" dirty="0"/>
              <a:t>How to study disparate impact of CP on race?</a:t>
            </a:r>
            <a:br>
              <a:rPr lang="en-US" dirty="0"/>
            </a:br>
            <a:r>
              <a:rPr lang="en-US" dirty="0"/>
              <a:t>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sp>
        <p:nvSpPr>
          <p:cNvPr id="35" name="Content Placeholder 2">
            <a:extLst>
              <a:ext uri="{FF2B5EF4-FFF2-40B4-BE49-F238E27FC236}">
                <a16:creationId xmlns:a16="http://schemas.microsoft.com/office/drawing/2014/main" id="{B075110B-702A-C449-8E65-D3DEF9018699}"/>
              </a:ext>
            </a:extLst>
          </p:cNvPr>
          <p:cNvSpPr>
            <a:spLocks noGrp="1"/>
          </p:cNvSpPr>
          <p:nvPr>
            <p:ph idx="1"/>
          </p:nvPr>
        </p:nvSpPr>
        <p:spPr>
          <a:xfrm>
            <a:off x="838199" y="1668318"/>
            <a:ext cx="11353801" cy="5032375"/>
          </a:xfrm>
        </p:spPr>
        <p:txBody>
          <a:bodyPr>
            <a:normAutofit lnSpcReduction="10000"/>
          </a:bodyPr>
          <a:lstStyle/>
          <a:p>
            <a:pPr marL="0" indent="0">
              <a:buNone/>
            </a:pPr>
            <a:endParaRPr lang="en-US" sz="3200" dirty="0"/>
          </a:p>
          <a:p>
            <a:pPr marL="0" indent="0">
              <a:buNone/>
            </a:pPr>
            <a:r>
              <a:rPr lang="en-US" sz="3200" dirty="0"/>
              <a:t>Difficult Questions: </a:t>
            </a:r>
          </a:p>
          <a:p>
            <a:r>
              <a:rPr lang="en-US" sz="3200" dirty="0"/>
              <a:t>Which outcomes to compare?</a:t>
            </a:r>
          </a:p>
          <a:p>
            <a:r>
              <a:rPr lang="en-US" sz="3200" dirty="0"/>
              <a:t>How to estimate outcomes without CP?</a:t>
            </a:r>
          </a:p>
          <a:p>
            <a:pPr marL="0" indent="0">
              <a:buNone/>
            </a:pPr>
            <a:endParaRPr lang="en-US" sz="3200" dirty="0"/>
          </a:p>
          <a:p>
            <a:pPr marL="0" indent="0">
              <a:buNone/>
            </a:pPr>
            <a:endParaRPr lang="en-US" sz="3200" dirty="0"/>
          </a:p>
          <a:p>
            <a:pPr marL="514350" indent="-514350">
              <a:buFont typeface="+mj-lt"/>
              <a:buAutoNum type="arabicPeriod"/>
            </a:pPr>
            <a:endParaRPr lang="en-US" sz="3200" dirty="0"/>
          </a:p>
          <a:p>
            <a:pPr marL="514350" indent="-514350">
              <a:buFont typeface="+mj-lt"/>
              <a:buAutoNum type="arabicPeriod"/>
            </a:pPr>
            <a:endParaRPr lang="en-US" sz="3200" dirty="0"/>
          </a:p>
          <a:p>
            <a:pPr marL="0" indent="0">
              <a:buNone/>
            </a:pPr>
            <a:r>
              <a:rPr lang="en-US" sz="3200" dirty="0">
                <a:solidFill>
                  <a:schemeClr val="bg1"/>
                </a:solidFill>
              </a:rPr>
              <a:t>.</a:t>
            </a:r>
          </a:p>
          <a:p>
            <a:pPr marL="0" indent="0">
              <a:buNone/>
            </a:pPr>
            <a:endParaRPr lang="en-US" sz="3200" dirty="0">
              <a:solidFill>
                <a:schemeClr val="bg1"/>
              </a:solidFill>
            </a:endParaRPr>
          </a:p>
          <a:p>
            <a:pPr marL="0" indent="0">
              <a:buNone/>
            </a:pPr>
            <a:endParaRPr lang="en-US" sz="3200" dirty="0"/>
          </a:p>
        </p:txBody>
      </p:sp>
    </p:spTree>
    <p:extLst>
      <p:ext uri="{BB962C8B-B14F-4D97-AF65-F5344CB8AC3E}">
        <p14:creationId xmlns:p14="http://schemas.microsoft.com/office/powerpoint/2010/main" val="673961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FB08A04-7A3D-9B47-8222-D5AB92CEC20E}"/>
              </a:ext>
            </a:extLst>
          </p:cNvPr>
          <p:cNvSpPr>
            <a:spLocks noGrp="1"/>
          </p:cNvSpPr>
          <p:nvPr>
            <p:ph type="title"/>
          </p:nvPr>
        </p:nvSpPr>
        <p:spPr>
          <a:xfrm>
            <a:off x="838200" y="157307"/>
            <a:ext cx="10515600" cy="1325563"/>
          </a:xfrm>
        </p:spPr>
        <p:txBody>
          <a:bodyPr>
            <a:normAutofit fontScale="90000"/>
          </a:bodyPr>
          <a:lstStyle/>
          <a:p>
            <a:pPr marL="0" indent="0"/>
            <a:br>
              <a:rPr lang="en-US" dirty="0"/>
            </a:br>
            <a:r>
              <a:rPr lang="en-US" dirty="0"/>
              <a:t>How to study disparate impact of CP on race?</a:t>
            </a:r>
            <a:br>
              <a:rPr lang="en-US" dirty="0"/>
            </a:br>
            <a:r>
              <a:rPr lang="en-US" dirty="0"/>
              <a:t>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sp>
        <p:nvSpPr>
          <p:cNvPr id="35" name="Content Placeholder 2">
            <a:extLst>
              <a:ext uri="{FF2B5EF4-FFF2-40B4-BE49-F238E27FC236}">
                <a16:creationId xmlns:a16="http://schemas.microsoft.com/office/drawing/2014/main" id="{B075110B-702A-C449-8E65-D3DEF9018699}"/>
              </a:ext>
            </a:extLst>
          </p:cNvPr>
          <p:cNvSpPr>
            <a:spLocks noGrp="1"/>
          </p:cNvSpPr>
          <p:nvPr>
            <p:ph idx="1"/>
          </p:nvPr>
        </p:nvSpPr>
        <p:spPr>
          <a:xfrm>
            <a:off x="838199" y="1668318"/>
            <a:ext cx="11353801" cy="5032375"/>
          </a:xfrm>
        </p:spPr>
        <p:txBody>
          <a:bodyPr>
            <a:normAutofit lnSpcReduction="10000"/>
          </a:bodyPr>
          <a:lstStyle/>
          <a:p>
            <a:pPr marL="0" indent="0">
              <a:buNone/>
            </a:pPr>
            <a:endParaRPr lang="en-US" sz="3200" dirty="0"/>
          </a:p>
          <a:p>
            <a:pPr marL="0" indent="0">
              <a:buNone/>
            </a:pPr>
            <a:r>
              <a:rPr lang="en-US" sz="3200" dirty="0"/>
              <a:t>Difficult Questions: </a:t>
            </a:r>
          </a:p>
          <a:p>
            <a:r>
              <a:rPr lang="en-US" sz="3200" dirty="0"/>
              <a:t>Which outcomes to compare?</a:t>
            </a:r>
          </a:p>
          <a:p>
            <a:r>
              <a:rPr lang="en-US" sz="3200" dirty="0"/>
              <a:t>How to estimate outcomes without CP?</a:t>
            </a:r>
          </a:p>
          <a:p>
            <a:pPr marL="0" indent="0">
              <a:buNone/>
            </a:pPr>
            <a:endParaRPr lang="en-US" sz="3200" dirty="0"/>
          </a:p>
          <a:p>
            <a:pPr marL="0" indent="0">
              <a:buNone/>
            </a:pPr>
            <a:r>
              <a:rPr lang="en-US" sz="3200" dirty="0"/>
              <a:t>Beveridge’s analyses don’t even attempt to do this!</a:t>
            </a:r>
          </a:p>
          <a:p>
            <a:pPr marL="514350" indent="-514350">
              <a:buFont typeface="+mj-lt"/>
              <a:buAutoNum type="arabicPeriod"/>
            </a:pPr>
            <a:r>
              <a:rPr lang="en-US" sz="3200" dirty="0"/>
              <a:t>Some don’t incorporate </a:t>
            </a:r>
            <a:r>
              <a:rPr lang="en-US" sz="3200" b="1" dirty="0">
                <a:solidFill>
                  <a:schemeClr val="accent1"/>
                </a:solidFill>
              </a:rPr>
              <a:t>outcomes</a:t>
            </a:r>
            <a:r>
              <a:rPr lang="en-US" sz="3200" dirty="0"/>
              <a:t>.</a:t>
            </a:r>
          </a:p>
          <a:p>
            <a:pPr marL="514350" indent="-514350">
              <a:buFont typeface="+mj-lt"/>
              <a:buAutoNum type="arabicPeriod"/>
            </a:pPr>
            <a:r>
              <a:rPr lang="en-US" sz="3200" dirty="0"/>
              <a:t>Some don’t incorporate </a:t>
            </a:r>
            <a:r>
              <a:rPr lang="en-US" sz="3200" b="1" dirty="0">
                <a:solidFill>
                  <a:srgbClr val="FF0000"/>
                </a:solidFill>
              </a:rPr>
              <a:t>race</a:t>
            </a:r>
            <a:r>
              <a:rPr lang="en-US" sz="3200" dirty="0"/>
              <a:t>.</a:t>
            </a:r>
          </a:p>
          <a:p>
            <a:pPr marL="514350" indent="-514350">
              <a:buFont typeface="+mj-lt"/>
              <a:buAutoNum type="arabicPeriod"/>
            </a:pPr>
            <a:r>
              <a:rPr lang="en-US" sz="3200" dirty="0"/>
              <a:t>None address would happen </a:t>
            </a:r>
            <a:r>
              <a:rPr lang="en-US" sz="3200" b="1" dirty="0">
                <a:solidFill>
                  <a:schemeClr val="accent6"/>
                </a:solidFill>
              </a:rPr>
              <a:t>without</a:t>
            </a:r>
            <a:r>
              <a:rPr lang="en-US" sz="3200" b="1" dirty="0"/>
              <a:t> </a:t>
            </a:r>
            <a:r>
              <a:rPr lang="en-US" sz="3200" dirty="0"/>
              <a:t>the policy.</a:t>
            </a:r>
          </a:p>
          <a:p>
            <a:pPr marL="0" indent="0">
              <a:buNone/>
            </a:pPr>
            <a:endParaRPr lang="en-US" sz="3200" dirty="0">
              <a:solidFill>
                <a:schemeClr val="bg1"/>
              </a:solidFill>
            </a:endParaRPr>
          </a:p>
          <a:p>
            <a:pPr marL="0" indent="0">
              <a:buNone/>
            </a:pPr>
            <a:endParaRPr lang="en-US" sz="3200" dirty="0"/>
          </a:p>
        </p:txBody>
      </p:sp>
    </p:spTree>
    <p:extLst>
      <p:ext uri="{BB962C8B-B14F-4D97-AF65-F5344CB8AC3E}">
        <p14:creationId xmlns:p14="http://schemas.microsoft.com/office/powerpoint/2010/main" val="174128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6">
            <a:extLst>
              <a:ext uri="{FF2B5EF4-FFF2-40B4-BE49-F238E27FC236}">
                <a16:creationId xmlns:a16="http://schemas.microsoft.com/office/drawing/2014/main" id="{4EDB2921-2B2F-614E-AC91-7944EAC91896}"/>
              </a:ext>
            </a:extLst>
          </p:cNvPr>
          <p:cNvGraphicFramePr>
            <a:graphicFrameLocks noGrp="1"/>
          </p:cNvGraphicFramePr>
          <p:nvPr/>
        </p:nvGraphicFramePr>
        <p:xfrm>
          <a:off x="1641763" y="1539790"/>
          <a:ext cx="9003144" cy="5190544"/>
        </p:xfrm>
        <a:graphic>
          <a:graphicData uri="http://schemas.openxmlformats.org/drawingml/2006/table">
            <a:tbl>
              <a:tblPr firstRow="1" firstCol="1" bandRow="1">
                <a:tableStyleId>{5C22544A-7EE6-4342-B048-85BDC9FD1C3A}</a:tableStyleId>
              </a:tblPr>
              <a:tblGrid>
                <a:gridCol w="1376219">
                  <a:extLst>
                    <a:ext uri="{9D8B030D-6E8A-4147-A177-3AD203B41FA5}">
                      <a16:colId xmlns:a16="http://schemas.microsoft.com/office/drawing/2014/main" val="2848947315"/>
                    </a:ext>
                  </a:extLst>
                </a:gridCol>
                <a:gridCol w="2098964">
                  <a:extLst>
                    <a:ext uri="{9D8B030D-6E8A-4147-A177-3AD203B41FA5}">
                      <a16:colId xmlns:a16="http://schemas.microsoft.com/office/drawing/2014/main" val="493647060"/>
                    </a:ext>
                  </a:extLst>
                </a:gridCol>
                <a:gridCol w="2473036">
                  <a:extLst>
                    <a:ext uri="{9D8B030D-6E8A-4147-A177-3AD203B41FA5}">
                      <a16:colId xmlns:a16="http://schemas.microsoft.com/office/drawing/2014/main" val="485211605"/>
                    </a:ext>
                  </a:extLst>
                </a:gridCol>
                <a:gridCol w="3054925">
                  <a:extLst>
                    <a:ext uri="{9D8B030D-6E8A-4147-A177-3AD203B41FA5}">
                      <a16:colId xmlns:a16="http://schemas.microsoft.com/office/drawing/2014/main" val="1740170233"/>
                    </a:ext>
                  </a:extLst>
                </a:gridCol>
              </a:tblGrid>
              <a:tr h="906290">
                <a:tc>
                  <a:txBody>
                    <a:bodyPr/>
                    <a:lstStyle/>
                    <a:p>
                      <a:endParaRPr lang="en-US" sz="2800" dirty="0">
                        <a:solidFill>
                          <a:schemeClr val="tx1"/>
                        </a:solidFill>
                      </a:endParaRPr>
                    </a:p>
                  </a:txBody>
                  <a:tcPr>
                    <a:noFill/>
                  </a:tcPr>
                </a:tc>
                <a:tc>
                  <a:txBody>
                    <a:bodyPr/>
                    <a:lstStyle/>
                    <a:p>
                      <a:r>
                        <a:rPr lang="en-US" sz="2800" dirty="0">
                          <a:solidFill>
                            <a:schemeClr val="tx1"/>
                          </a:solidFill>
                        </a:rPr>
                        <a:t>Incorporates </a:t>
                      </a:r>
                      <a:r>
                        <a:rPr lang="en-US" sz="2800" dirty="0">
                          <a:solidFill>
                            <a:schemeClr val="accent1"/>
                          </a:solidFill>
                        </a:rPr>
                        <a:t>Outcomes</a:t>
                      </a:r>
                    </a:p>
                  </a:txBody>
                  <a:tcPr>
                    <a:lnB w="28575"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Incorporates Applicant </a:t>
                      </a:r>
                      <a:r>
                        <a:rPr lang="en-US" sz="2800" dirty="0">
                          <a:solidFill>
                            <a:srgbClr val="FF0000"/>
                          </a:solidFill>
                        </a:rPr>
                        <a:t>Race</a:t>
                      </a:r>
                    </a:p>
                  </a:txBody>
                  <a:tcPr>
                    <a:lnB w="28575"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Clear what would happen </a:t>
                      </a:r>
                      <a:r>
                        <a:rPr lang="en-US" sz="2800" dirty="0">
                          <a:solidFill>
                            <a:schemeClr val="accent6"/>
                          </a:solidFill>
                        </a:rPr>
                        <a:t>without</a:t>
                      </a:r>
                      <a:r>
                        <a:rPr lang="en-US" sz="2800" dirty="0">
                          <a:solidFill>
                            <a:schemeClr val="tx1"/>
                          </a:solidFill>
                        </a:rPr>
                        <a:t> CP</a:t>
                      </a:r>
                    </a:p>
                  </a:txBody>
                  <a:tcP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096097"/>
                  </a:ext>
                </a:extLst>
              </a:tr>
              <a:tr h="530708">
                <a:tc>
                  <a:txBody>
                    <a:bodyPr/>
                    <a:lstStyle/>
                    <a:p>
                      <a:r>
                        <a:rPr lang="en-US" sz="2800" dirty="0">
                          <a:solidFill>
                            <a:schemeClr val="tx1"/>
                          </a:solidFill>
                        </a:rPr>
                        <a:t>Table 1</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5654970"/>
                  </a:ext>
                </a:extLst>
              </a:tr>
              <a:tr h="530708">
                <a:tc>
                  <a:txBody>
                    <a:bodyPr/>
                    <a:lstStyle/>
                    <a:p>
                      <a:r>
                        <a:rPr lang="en-US" sz="2800" dirty="0">
                          <a:solidFill>
                            <a:schemeClr val="tx1"/>
                          </a:solidFill>
                        </a:rPr>
                        <a:t>Table 2</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5628167"/>
                  </a:ext>
                </a:extLst>
              </a:tr>
              <a:tr h="530708">
                <a:tc>
                  <a:txBody>
                    <a:bodyPr/>
                    <a:lstStyle/>
                    <a:p>
                      <a:r>
                        <a:rPr lang="en-US" sz="2800" dirty="0">
                          <a:solidFill>
                            <a:schemeClr val="tx1"/>
                          </a:solidFill>
                        </a:rPr>
                        <a:t>Table 3</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5635414"/>
                  </a:ext>
                </a:extLst>
              </a:tr>
              <a:tr h="530708">
                <a:tc>
                  <a:txBody>
                    <a:bodyPr/>
                    <a:lstStyle/>
                    <a:p>
                      <a:r>
                        <a:rPr lang="en-US" sz="2800" dirty="0">
                          <a:solidFill>
                            <a:schemeClr val="tx1"/>
                          </a:solidFill>
                        </a:rPr>
                        <a:t>Table 4</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745539"/>
                  </a:ext>
                </a:extLst>
              </a:tr>
              <a:tr h="530708">
                <a:tc>
                  <a:txBody>
                    <a:bodyPr/>
                    <a:lstStyle/>
                    <a:p>
                      <a:r>
                        <a:rPr lang="en-US" sz="2800" dirty="0">
                          <a:solidFill>
                            <a:schemeClr val="tx1"/>
                          </a:solidFill>
                        </a:rPr>
                        <a:t>Table 5</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427005"/>
                  </a:ext>
                </a:extLst>
              </a:tr>
              <a:tr h="530708">
                <a:tc>
                  <a:txBody>
                    <a:bodyPr/>
                    <a:lstStyle/>
                    <a:p>
                      <a:r>
                        <a:rPr lang="en-US" sz="2800" dirty="0">
                          <a:solidFill>
                            <a:schemeClr val="tx1"/>
                          </a:solidFill>
                        </a:rPr>
                        <a:t>Table 6</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355373"/>
                  </a:ext>
                </a:extLst>
              </a:tr>
              <a:tr h="530708">
                <a:tc>
                  <a:txBody>
                    <a:bodyPr/>
                    <a:lstStyle/>
                    <a:p>
                      <a:r>
                        <a:rPr lang="en-US" sz="2800" dirty="0">
                          <a:solidFill>
                            <a:schemeClr val="tx1"/>
                          </a:solidFill>
                        </a:rPr>
                        <a:t>Table 7</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1759209"/>
                  </a:ext>
                </a:extLst>
              </a:tr>
              <a:tr h="530708">
                <a:tc>
                  <a:txBody>
                    <a:bodyPr/>
                    <a:lstStyle/>
                    <a:p>
                      <a:r>
                        <a:rPr lang="en-US" sz="2800" dirty="0">
                          <a:solidFill>
                            <a:schemeClr val="tx1"/>
                          </a:solidFill>
                        </a:rPr>
                        <a:t>Table 8</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2217655"/>
                  </a:ext>
                </a:extLst>
              </a:tr>
            </a:tbl>
          </a:graphicData>
        </a:graphic>
      </p:graphicFrame>
      <p:sp>
        <p:nvSpPr>
          <p:cNvPr id="8" name="Title 7">
            <a:extLst>
              <a:ext uri="{FF2B5EF4-FFF2-40B4-BE49-F238E27FC236}">
                <a16:creationId xmlns:a16="http://schemas.microsoft.com/office/drawing/2014/main" id="{AFB08A04-7A3D-9B47-8222-D5AB92CEC20E}"/>
              </a:ext>
            </a:extLst>
          </p:cNvPr>
          <p:cNvSpPr>
            <a:spLocks noGrp="1"/>
          </p:cNvSpPr>
          <p:nvPr>
            <p:ph type="title"/>
          </p:nvPr>
        </p:nvSpPr>
        <p:spPr>
          <a:xfrm>
            <a:off x="838200" y="157307"/>
            <a:ext cx="10515600" cy="1325563"/>
          </a:xfrm>
        </p:spPr>
        <p:txBody>
          <a:bodyPr>
            <a:normAutofit fontScale="90000"/>
          </a:bodyPr>
          <a:lstStyle/>
          <a:p>
            <a:pPr marL="0" indent="0"/>
            <a:br>
              <a:rPr lang="en-US" dirty="0"/>
            </a:br>
            <a:r>
              <a:rPr lang="en-US" dirty="0"/>
              <a:t>How to study disparate impact of CP on race?</a:t>
            </a:r>
            <a:br>
              <a:rPr lang="en-US" dirty="0"/>
            </a:br>
            <a:r>
              <a:rPr lang="en-US" dirty="0"/>
              <a:t>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spTree>
    <p:extLst>
      <p:ext uri="{BB962C8B-B14F-4D97-AF65-F5344CB8AC3E}">
        <p14:creationId xmlns:p14="http://schemas.microsoft.com/office/powerpoint/2010/main" val="4124543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6">
            <a:extLst>
              <a:ext uri="{FF2B5EF4-FFF2-40B4-BE49-F238E27FC236}">
                <a16:creationId xmlns:a16="http://schemas.microsoft.com/office/drawing/2014/main" id="{4EDB2921-2B2F-614E-AC91-7944EAC91896}"/>
              </a:ext>
            </a:extLst>
          </p:cNvPr>
          <p:cNvGraphicFramePr>
            <a:graphicFrameLocks noGrp="1"/>
          </p:cNvGraphicFramePr>
          <p:nvPr/>
        </p:nvGraphicFramePr>
        <p:xfrm>
          <a:off x="1641763" y="1539790"/>
          <a:ext cx="9003144" cy="5190544"/>
        </p:xfrm>
        <a:graphic>
          <a:graphicData uri="http://schemas.openxmlformats.org/drawingml/2006/table">
            <a:tbl>
              <a:tblPr firstRow="1" firstCol="1" bandRow="1">
                <a:tableStyleId>{5C22544A-7EE6-4342-B048-85BDC9FD1C3A}</a:tableStyleId>
              </a:tblPr>
              <a:tblGrid>
                <a:gridCol w="1376219">
                  <a:extLst>
                    <a:ext uri="{9D8B030D-6E8A-4147-A177-3AD203B41FA5}">
                      <a16:colId xmlns:a16="http://schemas.microsoft.com/office/drawing/2014/main" val="2848947315"/>
                    </a:ext>
                  </a:extLst>
                </a:gridCol>
                <a:gridCol w="2098964">
                  <a:extLst>
                    <a:ext uri="{9D8B030D-6E8A-4147-A177-3AD203B41FA5}">
                      <a16:colId xmlns:a16="http://schemas.microsoft.com/office/drawing/2014/main" val="493647060"/>
                    </a:ext>
                  </a:extLst>
                </a:gridCol>
                <a:gridCol w="2473036">
                  <a:extLst>
                    <a:ext uri="{9D8B030D-6E8A-4147-A177-3AD203B41FA5}">
                      <a16:colId xmlns:a16="http://schemas.microsoft.com/office/drawing/2014/main" val="485211605"/>
                    </a:ext>
                  </a:extLst>
                </a:gridCol>
                <a:gridCol w="3054925">
                  <a:extLst>
                    <a:ext uri="{9D8B030D-6E8A-4147-A177-3AD203B41FA5}">
                      <a16:colId xmlns:a16="http://schemas.microsoft.com/office/drawing/2014/main" val="1740170233"/>
                    </a:ext>
                  </a:extLst>
                </a:gridCol>
              </a:tblGrid>
              <a:tr h="906290">
                <a:tc>
                  <a:txBody>
                    <a:bodyPr/>
                    <a:lstStyle/>
                    <a:p>
                      <a:endParaRPr lang="en-US" sz="2800" dirty="0">
                        <a:solidFill>
                          <a:schemeClr val="tx1"/>
                        </a:solidFill>
                      </a:endParaRPr>
                    </a:p>
                  </a:txBody>
                  <a:tcPr>
                    <a:noFill/>
                  </a:tcPr>
                </a:tc>
                <a:tc>
                  <a:txBody>
                    <a:bodyPr/>
                    <a:lstStyle/>
                    <a:p>
                      <a:r>
                        <a:rPr lang="en-US" sz="2800" dirty="0">
                          <a:solidFill>
                            <a:schemeClr val="tx1"/>
                          </a:solidFill>
                        </a:rPr>
                        <a:t>Incorporates </a:t>
                      </a:r>
                      <a:r>
                        <a:rPr lang="en-US" sz="2800" dirty="0">
                          <a:solidFill>
                            <a:schemeClr val="accent1"/>
                          </a:solidFill>
                        </a:rPr>
                        <a:t>Outcomes</a:t>
                      </a:r>
                    </a:p>
                  </a:txBody>
                  <a:tcPr>
                    <a:lnB w="28575"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Incorporates Applicant </a:t>
                      </a:r>
                      <a:r>
                        <a:rPr lang="en-US" sz="2800" dirty="0">
                          <a:solidFill>
                            <a:srgbClr val="FF0000"/>
                          </a:solidFill>
                        </a:rPr>
                        <a:t>Race</a:t>
                      </a:r>
                    </a:p>
                  </a:txBody>
                  <a:tcPr>
                    <a:lnB w="28575"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Clear what would happen </a:t>
                      </a:r>
                      <a:r>
                        <a:rPr lang="en-US" sz="2800" dirty="0">
                          <a:solidFill>
                            <a:schemeClr val="accent6"/>
                          </a:solidFill>
                        </a:rPr>
                        <a:t>without</a:t>
                      </a:r>
                      <a:r>
                        <a:rPr lang="en-US" sz="2800" dirty="0">
                          <a:solidFill>
                            <a:schemeClr val="tx1"/>
                          </a:solidFill>
                        </a:rPr>
                        <a:t> CP</a:t>
                      </a:r>
                    </a:p>
                  </a:txBody>
                  <a:tcP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096097"/>
                  </a:ext>
                </a:extLst>
              </a:tr>
              <a:tr h="530708">
                <a:tc>
                  <a:txBody>
                    <a:bodyPr/>
                    <a:lstStyle/>
                    <a:p>
                      <a:r>
                        <a:rPr lang="en-US" sz="2800" dirty="0">
                          <a:solidFill>
                            <a:schemeClr val="tx1"/>
                          </a:solidFill>
                        </a:rPr>
                        <a:t>Table 1</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5654970"/>
                  </a:ext>
                </a:extLst>
              </a:tr>
              <a:tr h="530708">
                <a:tc>
                  <a:txBody>
                    <a:bodyPr/>
                    <a:lstStyle/>
                    <a:p>
                      <a:r>
                        <a:rPr lang="en-US" sz="2800" dirty="0">
                          <a:solidFill>
                            <a:schemeClr val="tx1"/>
                          </a:solidFill>
                        </a:rPr>
                        <a:t>Table 2</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5628167"/>
                  </a:ext>
                </a:extLst>
              </a:tr>
              <a:tr h="530708">
                <a:tc>
                  <a:txBody>
                    <a:bodyPr/>
                    <a:lstStyle/>
                    <a:p>
                      <a:r>
                        <a:rPr lang="en-US" sz="2800" dirty="0">
                          <a:solidFill>
                            <a:schemeClr val="tx1"/>
                          </a:solidFill>
                        </a:rPr>
                        <a:t>Table 3</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5635414"/>
                  </a:ext>
                </a:extLst>
              </a:tr>
              <a:tr h="530708">
                <a:tc>
                  <a:txBody>
                    <a:bodyPr/>
                    <a:lstStyle/>
                    <a:p>
                      <a:r>
                        <a:rPr lang="en-US" sz="2800" dirty="0">
                          <a:solidFill>
                            <a:schemeClr val="tx1"/>
                          </a:solidFill>
                        </a:rPr>
                        <a:t>Table 4</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745539"/>
                  </a:ext>
                </a:extLst>
              </a:tr>
              <a:tr h="530708">
                <a:tc>
                  <a:txBody>
                    <a:bodyPr/>
                    <a:lstStyle/>
                    <a:p>
                      <a:r>
                        <a:rPr lang="en-US" sz="2800" dirty="0">
                          <a:solidFill>
                            <a:schemeClr val="tx1"/>
                          </a:solidFill>
                        </a:rPr>
                        <a:t>Table 5</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427005"/>
                  </a:ext>
                </a:extLst>
              </a:tr>
              <a:tr h="530708">
                <a:tc>
                  <a:txBody>
                    <a:bodyPr/>
                    <a:lstStyle/>
                    <a:p>
                      <a:r>
                        <a:rPr lang="en-US" sz="2800" dirty="0">
                          <a:solidFill>
                            <a:schemeClr val="tx1"/>
                          </a:solidFill>
                        </a:rPr>
                        <a:t>Table 6</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355373"/>
                  </a:ext>
                </a:extLst>
              </a:tr>
              <a:tr h="530708">
                <a:tc>
                  <a:txBody>
                    <a:bodyPr/>
                    <a:lstStyle/>
                    <a:p>
                      <a:r>
                        <a:rPr lang="en-US" sz="2800" dirty="0">
                          <a:solidFill>
                            <a:schemeClr val="tx1"/>
                          </a:solidFill>
                        </a:rPr>
                        <a:t>Table 7</a:t>
                      </a:r>
                    </a:p>
                  </a:txBody>
                  <a:tcPr>
                    <a:lnR w="28575" cap="flat" cmpd="sng" algn="ctr">
                      <a:solidFill>
                        <a:schemeClr val="tx1"/>
                      </a:solidFill>
                      <a:prstDash val="solid"/>
                      <a:round/>
                      <a:headEnd type="none" w="med" len="med"/>
                      <a:tailEnd type="none" w="med" len="med"/>
                    </a:lnR>
                    <a:noFill/>
                  </a:tcPr>
                </a:tc>
                <a:tc>
                  <a:txBody>
                    <a:bodyPr/>
                    <a:lstStyle/>
                    <a:p>
                      <a:endParaRPr lang="en-US" sz="280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1759209"/>
                  </a:ext>
                </a:extLst>
              </a:tr>
              <a:tr h="530708">
                <a:tc>
                  <a:txBody>
                    <a:bodyPr/>
                    <a:lstStyle/>
                    <a:p>
                      <a:r>
                        <a:rPr lang="en-US" sz="2800" dirty="0">
                          <a:solidFill>
                            <a:schemeClr val="tx1"/>
                          </a:solidFill>
                        </a:rPr>
                        <a:t>Table 8</a:t>
                      </a:r>
                    </a:p>
                  </a:txBody>
                  <a:tcPr>
                    <a:lnR w="28575" cap="flat" cmpd="sng" algn="ctr">
                      <a:solidFill>
                        <a:schemeClr val="tx1"/>
                      </a:solidFill>
                      <a:prstDash val="solid"/>
                      <a:round/>
                      <a:headEnd type="none" w="med" len="med"/>
                      <a:tailEnd type="none" w="med" len="med"/>
                    </a:lnR>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2217655"/>
                  </a:ext>
                </a:extLst>
              </a:tr>
            </a:tbl>
          </a:graphicData>
        </a:graphic>
      </p:graphicFrame>
      <p:sp>
        <p:nvSpPr>
          <p:cNvPr id="8" name="Title 7">
            <a:extLst>
              <a:ext uri="{FF2B5EF4-FFF2-40B4-BE49-F238E27FC236}">
                <a16:creationId xmlns:a16="http://schemas.microsoft.com/office/drawing/2014/main" id="{AFB08A04-7A3D-9B47-8222-D5AB92CEC20E}"/>
              </a:ext>
            </a:extLst>
          </p:cNvPr>
          <p:cNvSpPr>
            <a:spLocks noGrp="1"/>
          </p:cNvSpPr>
          <p:nvPr>
            <p:ph type="title"/>
          </p:nvPr>
        </p:nvSpPr>
        <p:spPr>
          <a:xfrm>
            <a:off x="838200" y="157307"/>
            <a:ext cx="10515600" cy="1325563"/>
          </a:xfrm>
        </p:spPr>
        <p:txBody>
          <a:bodyPr>
            <a:normAutofit fontScale="90000"/>
          </a:bodyPr>
          <a:lstStyle/>
          <a:p>
            <a:pPr marL="0" indent="0"/>
            <a:br>
              <a:rPr lang="en-US" dirty="0"/>
            </a:br>
            <a:r>
              <a:rPr lang="en-US" dirty="0"/>
              <a:t>How to study disparate impact of CP on race?</a:t>
            </a:r>
            <a:br>
              <a:rPr lang="en-US" dirty="0"/>
            </a:br>
            <a:r>
              <a:rPr lang="en-US" dirty="0"/>
              <a:t>Compare </a:t>
            </a:r>
            <a:r>
              <a:rPr lang="en-US" b="1" dirty="0">
                <a:solidFill>
                  <a:schemeClr val="accent1"/>
                </a:solidFill>
              </a:rPr>
              <a:t>outcomes</a:t>
            </a:r>
            <a:r>
              <a:rPr lang="en-US" dirty="0"/>
              <a:t> by </a:t>
            </a:r>
            <a:r>
              <a:rPr lang="en-US" b="1" dirty="0">
                <a:solidFill>
                  <a:srgbClr val="FF0000"/>
                </a:solidFill>
              </a:rPr>
              <a:t>race</a:t>
            </a:r>
            <a:r>
              <a:rPr lang="en-US" dirty="0"/>
              <a:t>,</a:t>
            </a:r>
            <a:r>
              <a:rPr lang="en-US" b="1" dirty="0"/>
              <a:t> </a:t>
            </a:r>
            <a:r>
              <a:rPr lang="en-US" dirty="0"/>
              <a:t>with and </a:t>
            </a:r>
            <a:r>
              <a:rPr lang="en-US" b="1" dirty="0">
                <a:solidFill>
                  <a:schemeClr val="accent6"/>
                </a:solidFill>
              </a:rPr>
              <a:t>without</a:t>
            </a:r>
            <a:r>
              <a:rPr lang="en-US" dirty="0"/>
              <a:t> CP</a:t>
            </a:r>
            <a:br>
              <a:rPr lang="en-US" dirty="0"/>
            </a:br>
            <a:endParaRPr lang="en-US" dirty="0"/>
          </a:p>
        </p:txBody>
      </p:sp>
      <p:pic>
        <p:nvPicPr>
          <p:cNvPr id="9" name="Picture 8" descr="A picture containing clipart&#10;&#10;Description automatically generated">
            <a:extLst>
              <a:ext uri="{FF2B5EF4-FFF2-40B4-BE49-F238E27FC236}">
                <a16:creationId xmlns:a16="http://schemas.microsoft.com/office/drawing/2014/main" id="{0860CD6C-5863-A648-A9C4-FE8D7076A439}"/>
              </a:ext>
            </a:extLst>
          </p:cNvPr>
          <p:cNvPicPr>
            <a:picLocks noChangeAspect="1"/>
          </p:cNvPicPr>
          <p:nvPr/>
        </p:nvPicPr>
        <p:blipFill>
          <a:blip r:embed="rId2"/>
          <a:stretch>
            <a:fillRect/>
          </a:stretch>
        </p:blipFill>
        <p:spPr>
          <a:xfrm>
            <a:off x="6002833" y="2535303"/>
            <a:ext cx="481094" cy="457277"/>
          </a:xfrm>
          <a:prstGeom prst="rect">
            <a:avLst/>
          </a:prstGeom>
        </p:spPr>
      </p:pic>
      <p:pic>
        <p:nvPicPr>
          <p:cNvPr id="11" name="Picture 10" descr="A picture containing text, clipart&#10;&#10;Description automatically generated">
            <a:extLst>
              <a:ext uri="{FF2B5EF4-FFF2-40B4-BE49-F238E27FC236}">
                <a16:creationId xmlns:a16="http://schemas.microsoft.com/office/drawing/2014/main" id="{8D6678BF-D57C-8645-A150-5B729302214C}"/>
              </a:ext>
            </a:extLst>
          </p:cNvPr>
          <p:cNvPicPr>
            <a:picLocks noChangeAspect="1"/>
          </p:cNvPicPr>
          <p:nvPr/>
        </p:nvPicPr>
        <p:blipFill>
          <a:blip r:embed="rId3"/>
          <a:stretch>
            <a:fillRect/>
          </a:stretch>
        </p:blipFill>
        <p:spPr>
          <a:xfrm>
            <a:off x="3735532" y="2535302"/>
            <a:ext cx="481094" cy="458975"/>
          </a:xfrm>
          <a:prstGeom prst="rect">
            <a:avLst/>
          </a:prstGeom>
        </p:spPr>
      </p:pic>
      <p:pic>
        <p:nvPicPr>
          <p:cNvPr id="12" name="Picture 11" descr="A picture containing text, clipart&#10;&#10;Description automatically generated">
            <a:extLst>
              <a:ext uri="{FF2B5EF4-FFF2-40B4-BE49-F238E27FC236}">
                <a16:creationId xmlns:a16="http://schemas.microsoft.com/office/drawing/2014/main" id="{91B50972-D951-5D46-ABD6-8056A60B3852}"/>
              </a:ext>
            </a:extLst>
          </p:cNvPr>
          <p:cNvPicPr>
            <a:picLocks noChangeAspect="1"/>
          </p:cNvPicPr>
          <p:nvPr/>
        </p:nvPicPr>
        <p:blipFill>
          <a:blip r:embed="rId3"/>
          <a:stretch>
            <a:fillRect/>
          </a:stretch>
        </p:blipFill>
        <p:spPr>
          <a:xfrm>
            <a:off x="3735532" y="4135062"/>
            <a:ext cx="481094" cy="458975"/>
          </a:xfrm>
          <a:prstGeom prst="rect">
            <a:avLst/>
          </a:prstGeom>
        </p:spPr>
      </p:pic>
      <p:pic>
        <p:nvPicPr>
          <p:cNvPr id="13" name="Picture 12" descr="A picture containing text, clipart&#10;&#10;Description automatically generated">
            <a:extLst>
              <a:ext uri="{FF2B5EF4-FFF2-40B4-BE49-F238E27FC236}">
                <a16:creationId xmlns:a16="http://schemas.microsoft.com/office/drawing/2014/main" id="{43E33025-5960-F74C-94BA-8BC2A8C1F6C2}"/>
              </a:ext>
            </a:extLst>
          </p:cNvPr>
          <p:cNvPicPr>
            <a:picLocks noChangeAspect="1"/>
          </p:cNvPicPr>
          <p:nvPr/>
        </p:nvPicPr>
        <p:blipFill>
          <a:blip r:embed="rId3"/>
          <a:stretch>
            <a:fillRect/>
          </a:stretch>
        </p:blipFill>
        <p:spPr>
          <a:xfrm>
            <a:off x="3735532" y="5693218"/>
            <a:ext cx="481094" cy="458975"/>
          </a:xfrm>
          <a:prstGeom prst="rect">
            <a:avLst/>
          </a:prstGeom>
        </p:spPr>
      </p:pic>
      <p:pic>
        <p:nvPicPr>
          <p:cNvPr id="14" name="Picture 13" descr="A picture containing text, clipart&#10;&#10;Description automatically generated">
            <a:extLst>
              <a:ext uri="{FF2B5EF4-FFF2-40B4-BE49-F238E27FC236}">
                <a16:creationId xmlns:a16="http://schemas.microsoft.com/office/drawing/2014/main" id="{80ACBA41-E0AE-BE4E-9891-4FC3DBF310B8}"/>
              </a:ext>
            </a:extLst>
          </p:cNvPr>
          <p:cNvPicPr>
            <a:picLocks noChangeAspect="1"/>
          </p:cNvPicPr>
          <p:nvPr/>
        </p:nvPicPr>
        <p:blipFill>
          <a:blip r:embed="rId3"/>
          <a:stretch>
            <a:fillRect/>
          </a:stretch>
        </p:blipFill>
        <p:spPr>
          <a:xfrm>
            <a:off x="3735532" y="6209113"/>
            <a:ext cx="481094" cy="458975"/>
          </a:xfrm>
          <a:prstGeom prst="rect">
            <a:avLst/>
          </a:prstGeom>
        </p:spPr>
      </p:pic>
      <p:pic>
        <p:nvPicPr>
          <p:cNvPr id="15" name="Picture 14" descr="A picture containing clipart&#10;&#10;Description automatically generated">
            <a:extLst>
              <a:ext uri="{FF2B5EF4-FFF2-40B4-BE49-F238E27FC236}">
                <a16:creationId xmlns:a16="http://schemas.microsoft.com/office/drawing/2014/main" id="{CF336748-6D24-1F44-A986-A09D61C1B5F0}"/>
              </a:ext>
            </a:extLst>
          </p:cNvPr>
          <p:cNvPicPr>
            <a:picLocks noChangeAspect="1"/>
          </p:cNvPicPr>
          <p:nvPr/>
        </p:nvPicPr>
        <p:blipFill>
          <a:blip r:embed="rId2"/>
          <a:stretch>
            <a:fillRect/>
          </a:stretch>
        </p:blipFill>
        <p:spPr>
          <a:xfrm>
            <a:off x="3735532" y="3051197"/>
            <a:ext cx="481094" cy="457277"/>
          </a:xfrm>
          <a:prstGeom prst="rect">
            <a:avLst/>
          </a:prstGeom>
        </p:spPr>
      </p:pic>
      <p:pic>
        <p:nvPicPr>
          <p:cNvPr id="16" name="Picture 15" descr="A picture containing clipart&#10;&#10;Description automatically generated">
            <a:extLst>
              <a:ext uri="{FF2B5EF4-FFF2-40B4-BE49-F238E27FC236}">
                <a16:creationId xmlns:a16="http://schemas.microsoft.com/office/drawing/2014/main" id="{75DE5C9F-531C-DA44-9D79-72FEA5208648}"/>
              </a:ext>
            </a:extLst>
          </p:cNvPr>
          <p:cNvPicPr>
            <a:picLocks noChangeAspect="1"/>
          </p:cNvPicPr>
          <p:nvPr/>
        </p:nvPicPr>
        <p:blipFill>
          <a:blip r:embed="rId2"/>
          <a:stretch>
            <a:fillRect/>
          </a:stretch>
        </p:blipFill>
        <p:spPr>
          <a:xfrm>
            <a:off x="3735532" y="3600787"/>
            <a:ext cx="481094" cy="457277"/>
          </a:xfrm>
          <a:prstGeom prst="rect">
            <a:avLst/>
          </a:prstGeom>
        </p:spPr>
      </p:pic>
      <p:pic>
        <p:nvPicPr>
          <p:cNvPr id="17" name="Picture 16" descr="A picture containing clipart&#10;&#10;Description automatically generated">
            <a:extLst>
              <a:ext uri="{FF2B5EF4-FFF2-40B4-BE49-F238E27FC236}">
                <a16:creationId xmlns:a16="http://schemas.microsoft.com/office/drawing/2014/main" id="{84C97F7C-D445-C248-BACE-EC52E4316843}"/>
              </a:ext>
            </a:extLst>
          </p:cNvPr>
          <p:cNvPicPr>
            <a:picLocks noChangeAspect="1"/>
          </p:cNvPicPr>
          <p:nvPr/>
        </p:nvPicPr>
        <p:blipFill>
          <a:blip r:embed="rId2"/>
          <a:stretch>
            <a:fillRect/>
          </a:stretch>
        </p:blipFill>
        <p:spPr>
          <a:xfrm>
            <a:off x="3735532" y="4650253"/>
            <a:ext cx="481094" cy="457277"/>
          </a:xfrm>
          <a:prstGeom prst="rect">
            <a:avLst/>
          </a:prstGeom>
        </p:spPr>
      </p:pic>
      <p:pic>
        <p:nvPicPr>
          <p:cNvPr id="18" name="Picture 17" descr="A picture containing clipart&#10;&#10;Description automatically generated">
            <a:extLst>
              <a:ext uri="{FF2B5EF4-FFF2-40B4-BE49-F238E27FC236}">
                <a16:creationId xmlns:a16="http://schemas.microsoft.com/office/drawing/2014/main" id="{4216DC37-3053-3845-A0E4-A7309D1D2F5F}"/>
              </a:ext>
            </a:extLst>
          </p:cNvPr>
          <p:cNvPicPr>
            <a:picLocks noChangeAspect="1"/>
          </p:cNvPicPr>
          <p:nvPr/>
        </p:nvPicPr>
        <p:blipFill>
          <a:blip r:embed="rId2"/>
          <a:stretch>
            <a:fillRect/>
          </a:stretch>
        </p:blipFill>
        <p:spPr>
          <a:xfrm>
            <a:off x="3735532" y="5184528"/>
            <a:ext cx="481094" cy="457277"/>
          </a:xfrm>
          <a:prstGeom prst="rect">
            <a:avLst/>
          </a:prstGeom>
        </p:spPr>
      </p:pic>
      <p:pic>
        <p:nvPicPr>
          <p:cNvPr id="19" name="Picture 18" descr="A picture containing clipart&#10;&#10;Description automatically generated">
            <a:extLst>
              <a:ext uri="{FF2B5EF4-FFF2-40B4-BE49-F238E27FC236}">
                <a16:creationId xmlns:a16="http://schemas.microsoft.com/office/drawing/2014/main" id="{8D09E7B5-F941-DB41-95AC-BBCF4AE6A594}"/>
              </a:ext>
            </a:extLst>
          </p:cNvPr>
          <p:cNvPicPr>
            <a:picLocks noChangeAspect="1"/>
          </p:cNvPicPr>
          <p:nvPr/>
        </p:nvPicPr>
        <p:blipFill>
          <a:blip r:embed="rId2"/>
          <a:stretch>
            <a:fillRect/>
          </a:stretch>
        </p:blipFill>
        <p:spPr>
          <a:xfrm>
            <a:off x="6002833" y="4114280"/>
            <a:ext cx="481094" cy="457277"/>
          </a:xfrm>
          <a:prstGeom prst="rect">
            <a:avLst/>
          </a:prstGeom>
        </p:spPr>
      </p:pic>
      <p:pic>
        <p:nvPicPr>
          <p:cNvPr id="20" name="Picture 19" descr="A picture containing clipart&#10;&#10;Description automatically generated">
            <a:extLst>
              <a:ext uri="{FF2B5EF4-FFF2-40B4-BE49-F238E27FC236}">
                <a16:creationId xmlns:a16="http://schemas.microsoft.com/office/drawing/2014/main" id="{4D56615C-681E-E145-B13B-C30D6111F59B}"/>
              </a:ext>
            </a:extLst>
          </p:cNvPr>
          <p:cNvPicPr>
            <a:picLocks noChangeAspect="1"/>
          </p:cNvPicPr>
          <p:nvPr/>
        </p:nvPicPr>
        <p:blipFill>
          <a:blip r:embed="rId2"/>
          <a:stretch>
            <a:fillRect/>
          </a:stretch>
        </p:blipFill>
        <p:spPr>
          <a:xfrm>
            <a:off x="8981560" y="2535303"/>
            <a:ext cx="481094" cy="457277"/>
          </a:xfrm>
          <a:prstGeom prst="rect">
            <a:avLst/>
          </a:prstGeom>
        </p:spPr>
      </p:pic>
      <p:pic>
        <p:nvPicPr>
          <p:cNvPr id="21" name="Picture 20" descr="A picture containing clipart&#10;&#10;Description automatically generated">
            <a:extLst>
              <a:ext uri="{FF2B5EF4-FFF2-40B4-BE49-F238E27FC236}">
                <a16:creationId xmlns:a16="http://schemas.microsoft.com/office/drawing/2014/main" id="{845C8F63-7856-ED41-B513-734C9F6F7C51}"/>
              </a:ext>
            </a:extLst>
          </p:cNvPr>
          <p:cNvPicPr>
            <a:picLocks noChangeAspect="1"/>
          </p:cNvPicPr>
          <p:nvPr/>
        </p:nvPicPr>
        <p:blipFill>
          <a:blip r:embed="rId2"/>
          <a:stretch>
            <a:fillRect/>
          </a:stretch>
        </p:blipFill>
        <p:spPr>
          <a:xfrm>
            <a:off x="8981560" y="4114280"/>
            <a:ext cx="481094" cy="457277"/>
          </a:xfrm>
          <a:prstGeom prst="rect">
            <a:avLst/>
          </a:prstGeom>
        </p:spPr>
      </p:pic>
      <p:pic>
        <p:nvPicPr>
          <p:cNvPr id="22" name="Picture 21" descr="A picture containing clipart&#10;&#10;Description automatically generated">
            <a:extLst>
              <a:ext uri="{FF2B5EF4-FFF2-40B4-BE49-F238E27FC236}">
                <a16:creationId xmlns:a16="http://schemas.microsoft.com/office/drawing/2014/main" id="{A8F10A42-6B18-0644-992D-01000830A476}"/>
              </a:ext>
            </a:extLst>
          </p:cNvPr>
          <p:cNvPicPr>
            <a:picLocks noChangeAspect="1"/>
          </p:cNvPicPr>
          <p:nvPr/>
        </p:nvPicPr>
        <p:blipFill>
          <a:blip r:embed="rId2"/>
          <a:stretch>
            <a:fillRect/>
          </a:stretch>
        </p:blipFill>
        <p:spPr>
          <a:xfrm>
            <a:off x="8981560" y="5694916"/>
            <a:ext cx="481094" cy="457277"/>
          </a:xfrm>
          <a:prstGeom prst="rect">
            <a:avLst/>
          </a:prstGeom>
        </p:spPr>
      </p:pic>
      <p:pic>
        <p:nvPicPr>
          <p:cNvPr id="23" name="Picture 22" descr="A picture containing clipart&#10;&#10;Description automatically generated">
            <a:extLst>
              <a:ext uri="{FF2B5EF4-FFF2-40B4-BE49-F238E27FC236}">
                <a16:creationId xmlns:a16="http://schemas.microsoft.com/office/drawing/2014/main" id="{86A2723B-1CA7-834C-80DB-BD9D39F5532A}"/>
              </a:ext>
            </a:extLst>
          </p:cNvPr>
          <p:cNvPicPr>
            <a:picLocks noChangeAspect="1"/>
          </p:cNvPicPr>
          <p:nvPr/>
        </p:nvPicPr>
        <p:blipFill>
          <a:blip r:embed="rId2"/>
          <a:stretch>
            <a:fillRect/>
          </a:stretch>
        </p:blipFill>
        <p:spPr>
          <a:xfrm>
            <a:off x="8981560" y="6243416"/>
            <a:ext cx="481094" cy="457277"/>
          </a:xfrm>
          <a:prstGeom prst="rect">
            <a:avLst/>
          </a:prstGeom>
        </p:spPr>
      </p:pic>
      <p:pic>
        <p:nvPicPr>
          <p:cNvPr id="24" name="Picture 23" descr="A picture containing text, clipart&#10;&#10;Description automatically generated">
            <a:extLst>
              <a:ext uri="{FF2B5EF4-FFF2-40B4-BE49-F238E27FC236}">
                <a16:creationId xmlns:a16="http://schemas.microsoft.com/office/drawing/2014/main" id="{5BF92B9A-BD48-6747-A0A3-A75D38D4DDE5}"/>
              </a:ext>
            </a:extLst>
          </p:cNvPr>
          <p:cNvPicPr>
            <a:picLocks noChangeAspect="1"/>
          </p:cNvPicPr>
          <p:nvPr/>
        </p:nvPicPr>
        <p:blipFill>
          <a:blip r:embed="rId3"/>
          <a:stretch>
            <a:fillRect/>
          </a:stretch>
        </p:blipFill>
        <p:spPr>
          <a:xfrm>
            <a:off x="6002833" y="3054482"/>
            <a:ext cx="481094" cy="458975"/>
          </a:xfrm>
          <a:prstGeom prst="rect">
            <a:avLst/>
          </a:prstGeom>
        </p:spPr>
      </p:pic>
      <p:pic>
        <p:nvPicPr>
          <p:cNvPr id="25" name="Picture 24" descr="A picture containing text, clipart&#10;&#10;Description automatically generated">
            <a:extLst>
              <a:ext uri="{FF2B5EF4-FFF2-40B4-BE49-F238E27FC236}">
                <a16:creationId xmlns:a16="http://schemas.microsoft.com/office/drawing/2014/main" id="{CF3311B7-9EA5-A344-97BF-8961527E335C}"/>
              </a:ext>
            </a:extLst>
          </p:cNvPr>
          <p:cNvPicPr>
            <a:picLocks noChangeAspect="1"/>
          </p:cNvPicPr>
          <p:nvPr/>
        </p:nvPicPr>
        <p:blipFill>
          <a:blip r:embed="rId3"/>
          <a:stretch>
            <a:fillRect/>
          </a:stretch>
        </p:blipFill>
        <p:spPr>
          <a:xfrm>
            <a:off x="6002833" y="3600787"/>
            <a:ext cx="481094" cy="458975"/>
          </a:xfrm>
          <a:prstGeom prst="rect">
            <a:avLst/>
          </a:prstGeom>
        </p:spPr>
      </p:pic>
      <p:pic>
        <p:nvPicPr>
          <p:cNvPr id="26" name="Picture 25" descr="A picture containing text, clipart&#10;&#10;Description automatically generated">
            <a:extLst>
              <a:ext uri="{FF2B5EF4-FFF2-40B4-BE49-F238E27FC236}">
                <a16:creationId xmlns:a16="http://schemas.microsoft.com/office/drawing/2014/main" id="{2106CBE1-8608-FC48-AF31-FA24A2C29106}"/>
              </a:ext>
            </a:extLst>
          </p:cNvPr>
          <p:cNvPicPr>
            <a:picLocks noChangeAspect="1"/>
          </p:cNvPicPr>
          <p:nvPr/>
        </p:nvPicPr>
        <p:blipFill>
          <a:blip r:embed="rId3"/>
          <a:stretch>
            <a:fillRect/>
          </a:stretch>
        </p:blipFill>
        <p:spPr>
          <a:xfrm>
            <a:off x="6002833" y="4660511"/>
            <a:ext cx="481094" cy="458975"/>
          </a:xfrm>
          <a:prstGeom prst="rect">
            <a:avLst/>
          </a:prstGeom>
        </p:spPr>
      </p:pic>
      <p:pic>
        <p:nvPicPr>
          <p:cNvPr id="27" name="Picture 26" descr="A picture containing text, clipart&#10;&#10;Description automatically generated">
            <a:extLst>
              <a:ext uri="{FF2B5EF4-FFF2-40B4-BE49-F238E27FC236}">
                <a16:creationId xmlns:a16="http://schemas.microsoft.com/office/drawing/2014/main" id="{63B17031-8FE2-D843-A99D-3EC34B2A7B7C}"/>
              </a:ext>
            </a:extLst>
          </p:cNvPr>
          <p:cNvPicPr>
            <a:picLocks noChangeAspect="1"/>
          </p:cNvPicPr>
          <p:nvPr/>
        </p:nvPicPr>
        <p:blipFill>
          <a:blip r:embed="rId3"/>
          <a:stretch>
            <a:fillRect/>
          </a:stretch>
        </p:blipFill>
        <p:spPr>
          <a:xfrm>
            <a:off x="6002833" y="5202170"/>
            <a:ext cx="481094" cy="458975"/>
          </a:xfrm>
          <a:prstGeom prst="rect">
            <a:avLst/>
          </a:prstGeom>
        </p:spPr>
      </p:pic>
      <p:pic>
        <p:nvPicPr>
          <p:cNvPr id="28" name="Picture 27" descr="A picture containing text, clipart&#10;&#10;Description automatically generated">
            <a:extLst>
              <a:ext uri="{FF2B5EF4-FFF2-40B4-BE49-F238E27FC236}">
                <a16:creationId xmlns:a16="http://schemas.microsoft.com/office/drawing/2014/main" id="{DEBED42B-A45E-174F-881D-9A85947B6DBA}"/>
              </a:ext>
            </a:extLst>
          </p:cNvPr>
          <p:cNvPicPr>
            <a:picLocks noChangeAspect="1"/>
          </p:cNvPicPr>
          <p:nvPr/>
        </p:nvPicPr>
        <p:blipFill>
          <a:blip r:embed="rId3"/>
          <a:stretch>
            <a:fillRect/>
          </a:stretch>
        </p:blipFill>
        <p:spPr>
          <a:xfrm>
            <a:off x="6002833" y="5693218"/>
            <a:ext cx="481094" cy="458975"/>
          </a:xfrm>
          <a:prstGeom prst="rect">
            <a:avLst/>
          </a:prstGeom>
        </p:spPr>
      </p:pic>
      <p:pic>
        <p:nvPicPr>
          <p:cNvPr id="29" name="Picture 28" descr="A picture containing text, clipart&#10;&#10;Description automatically generated">
            <a:extLst>
              <a:ext uri="{FF2B5EF4-FFF2-40B4-BE49-F238E27FC236}">
                <a16:creationId xmlns:a16="http://schemas.microsoft.com/office/drawing/2014/main" id="{11D5599D-0138-D545-8690-B5DF1D164AAE}"/>
              </a:ext>
            </a:extLst>
          </p:cNvPr>
          <p:cNvPicPr>
            <a:picLocks noChangeAspect="1"/>
          </p:cNvPicPr>
          <p:nvPr/>
        </p:nvPicPr>
        <p:blipFill>
          <a:blip r:embed="rId3"/>
          <a:stretch>
            <a:fillRect/>
          </a:stretch>
        </p:blipFill>
        <p:spPr>
          <a:xfrm>
            <a:off x="6002833" y="6225387"/>
            <a:ext cx="481094" cy="458975"/>
          </a:xfrm>
          <a:prstGeom prst="rect">
            <a:avLst/>
          </a:prstGeom>
        </p:spPr>
      </p:pic>
      <p:pic>
        <p:nvPicPr>
          <p:cNvPr id="30" name="Picture 29" descr="A picture containing text, clipart&#10;&#10;Description automatically generated">
            <a:extLst>
              <a:ext uri="{FF2B5EF4-FFF2-40B4-BE49-F238E27FC236}">
                <a16:creationId xmlns:a16="http://schemas.microsoft.com/office/drawing/2014/main" id="{8AE4032C-BE2C-6140-A0FA-AD5C58D95307}"/>
              </a:ext>
            </a:extLst>
          </p:cNvPr>
          <p:cNvPicPr>
            <a:picLocks noChangeAspect="1"/>
          </p:cNvPicPr>
          <p:nvPr/>
        </p:nvPicPr>
        <p:blipFill>
          <a:blip r:embed="rId3"/>
          <a:stretch>
            <a:fillRect/>
          </a:stretch>
        </p:blipFill>
        <p:spPr>
          <a:xfrm>
            <a:off x="8981560" y="3052823"/>
            <a:ext cx="481094" cy="458975"/>
          </a:xfrm>
          <a:prstGeom prst="rect">
            <a:avLst/>
          </a:prstGeom>
        </p:spPr>
      </p:pic>
      <p:pic>
        <p:nvPicPr>
          <p:cNvPr id="31" name="Picture 30" descr="A picture containing text, clipart&#10;&#10;Description automatically generated">
            <a:extLst>
              <a:ext uri="{FF2B5EF4-FFF2-40B4-BE49-F238E27FC236}">
                <a16:creationId xmlns:a16="http://schemas.microsoft.com/office/drawing/2014/main" id="{B67E2A2F-3963-B14A-A719-46F97121DCEA}"/>
              </a:ext>
            </a:extLst>
          </p:cNvPr>
          <p:cNvPicPr>
            <a:picLocks noChangeAspect="1"/>
          </p:cNvPicPr>
          <p:nvPr/>
        </p:nvPicPr>
        <p:blipFill>
          <a:blip r:embed="rId3"/>
          <a:stretch>
            <a:fillRect/>
          </a:stretch>
        </p:blipFill>
        <p:spPr>
          <a:xfrm>
            <a:off x="8981560" y="3583551"/>
            <a:ext cx="481094" cy="458975"/>
          </a:xfrm>
          <a:prstGeom prst="rect">
            <a:avLst/>
          </a:prstGeom>
        </p:spPr>
      </p:pic>
      <p:pic>
        <p:nvPicPr>
          <p:cNvPr id="32" name="Picture 31" descr="A picture containing text, clipart&#10;&#10;Description automatically generated">
            <a:extLst>
              <a:ext uri="{FF2B5EF4-FFF2-40B4-BE49-F238E27FC236}">
                <a16:creationId xmlns:a16="http://schemas.microsoft.com/office/drawing/2014/main" id="{84D124E5-D11A-F747-91D0-4DD7375C83A7}"/>
              </a:ext>
            </a:extLst>
          </p:cNvPr>
          <p:cNvPicPr>
            <a:picLocks noChangeAspect="1"/>
          </p:cNvPicPr>
          <p:nvPr/>
        </p:nvPicPr>
        <p:blipFill>
          <a:blip r:embed="rId3"/>
          <a:stretch>
            <a:fillRect/>
          </a:stretch>
        </p:blipFill>
        <p:spPr>
          <a:xfrm>
            <a:off x="8981560" y="4643311"/>
            <a:ext cx="481094" cy="458975"/>
          </a:xfrm>
          <a:prstGeom prst="rect">
            <a:avLst/>
          </a:prstGeom>
        </p:spPr>
      </p:pic>
      <p:pic>
        <p:nvPicPr>
          <p:cNvPr id="33" name="Picture 32" descr="A picture containing text, clipart&#10;&#10;Description automatically generated">
            <a:extLst>
              <a:ext uri="{FF2B5EF4-FFF2-40B4-BE49-F238E27FC236}">
                <a16:creationId xmlns:a16="http://schemas.microsoft.com/office/drawing/2014/main" id="{FD784474-1B6F-9141-BF90-96AF0104FF28}"/>
              </a:ext>
            </a:extLst>
          </p:cNvPr>
          <p:cNvPicPr>
            <a:picLocks noChangeAspect="1"/>
          </p:cNvPicPr>
          <p:nvPr/>
        </p:nvPicPr>
        <p:blipFill>
          <a:blip r:embed="rId3"/>
          <a:stretch>
            <a:fillRect/>
          </a:stretch>
        </p:blipFill>
        <p:spPr>
          <a:xfrm>
            <a:off x="8981560" y="5181387"/>
            <a:ext cx="481094" cy="458975"/>
          </a:xfrm>
          <a:prstGeom prst="rect">
            <a:avLst/>
          </a:prstGeom>
        </p:spPr>
      </p:pic>
    </p:spTree>
    <p:extLst>
      <p:ext uri="{BB962C8B-B14F-4D97-AF65-F5344CB8AC3E}">
        <p14:creationId xmlns:p14="http://schemas.microsoft.com/office/powerpoint/2010/main" val="598412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7D0D9-1EFE-BB43-BA03-53DA8D23DCCD}"/>
              </a:ext>
            </a:extLst>
          </p:cNvPr>
          <p:cNvSpPr>
            <a:spLocks noGrp="1"/>
          </p:cNvSpPr>
          <p:nvPr>
            <p:ph type="title"/>
          </p:nvPr>
        </p:nvSpPr>
        <p:spPr/>
        <p:txBody>
          <a:bodyPr/>
          <a:lstStyle/>
          <a:p>
            <a:r>
              <a:rPr lang="en-US" dirty="0"/>
              <a:t>The Plaintiff’s Argument</a:t>
            </a:r>
          </a:p>
        </p:txBody>
      </p:sp>
      <p:sp>
        <p:nvSpPr>
          <p:cNvPr id="3" name="Content Placeholder 2">
            <a:extLst>
              <a:ext uri="{FF2B5EF4-FFF2-40B4-BE49-F238E27FC236}">
                <a16:creationId xmlns:a16="http://schemas.microsoft.com/office/drawing/2014/main" id="{106C6D18-964D-FC49-B6F7-25D17AD0F34E}"/>
              </a:ext>
            </a:extLst>
          </p:cNvPr>
          <p:cNvSpPr>
            <a:spLocks noGrp="1"/>
          </p:cNvSpPr>
          <p:nvPr>
            <p:ph idx="1"/>
          </p:nvPr>
        </p:nvSpPr>
        <p:spPr>
          <a:xfrm>
            <a:off x="838199" y="1825624"/>
            <a:ext cx="5915891" cy="5510357"/>
          </a:xfrm>
        </p:spPr>
        <p:txBody>
          <a:bodyPr/>
          <a:lstStyle/>
          <a:p>
            <a:pPr marL="0" indent="0">
              <a:buNone/>
            </a:pPr>
            <a:r>
              <a:rPr lang="en-US" dirty="0"/>
              <a:t>Community Preference (CP) significantly advantages insiders.</a:t>
            </a:r>
          </a:p>
          <a:p>
            <a:pPr marL="0" indent="0">
              <a:buNone/>
            </a:pPr>
            <a:r>
              <a:rPr lang="en-US" dirty="0"/>
              <a:t>		   </a:t>
            </a:r>
            <a:r>
              <a:rPr lang="en-US" sz="4800" dirty="0"/>
              <a:t> +</a:t>
            </a:r>
          </a:p>
          <a:p>
            <a:pPr marL="0" indent="0">
              <a:buNone/>
            </a:pPr>
            <a:r>
              <a:rPr lang="en-US" dirty="0"/>
              <a:t>Insiders are more likely to belong to the Community District’s majority race.</a:t>
            </a:r>
          </a:p>
          <a:p>
            <a:pPr marL="0" indent="0">
              <a:buNone/>
            </a:pPr>
            <a:endParaRPr lang="en-US" dirty="0"/>
          </a:p>
          <a:p>
            <a:pPr marL="0" indent="0">
              <a:buNone/>
            </a:pPr>
            <a:endParaRPr lang="en-US" dirty="0"/>
          </a:p>
          <a:p>
            <a:pPr marL="0" indent="0">
              <a:buNone/>
            </a:pPr>
            <a:r>
              <a:rPr lang="en-US" dirty="0"/>
              <a:t>Community Preference increases the number of housed applicants who belong to the CD’s majority race.</a:t>
            </a:r>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A9B327C-3E68-B546-8381-AFAFEC21342E}"/>
                  </a:ext>
                </a:extLst>
              </p:cNvPr>
              <p:cNvSpPr txBox="1"/>
              <p:nvPr/>
            </p:nvSpPr>
            <p:spPr>
              <a:xfrm rot="5400000">
                <a:off x="2873067" y="4409353"/>
                <a:ext cx="878194"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600" b="0" i="1" smtClean="0">
                          <a:latin typeface="Cambria Math" panose="02040503050406030204" pitchFamily="18" charset="0"/>
                        </a:rPr>
                        <m:t>⇒</m:t>
                      </m:r>
                    </m:oMath>
                  </m:oMathPara>
                </a14:m>
                <a:endParaRPr lang="en-US" sz="5600" dirty="0"/>
              </a:p>
            </p:txBody>
          </p:sp>
        </mc:Choice>
        <mc:Fallback xmlns="">
          <p:sp>
            <p:nvSpPr>
              <p:cNvPr id="4" name="TextBox 3">
                <a:extLst>
                  <a:ext uri="{FF2B5EF4-FFF2-40B4-BE49-F238E27FC236}">
                    <a16:creationId xmlns:a16="http://schemas.microsoft.com/office/drawing/2014/main" id="{5A9B327C-3E68-B546-8381-AFAFEC21342E}"/>
                  </a:ext>
                </a:extLst>
              </p:cNvPr>
              <p:cNvSpPr txBox="1">
                <a:spLocks noRot="1" noChangeAspect="1" noMove="1" noResize="1" noEditPoints="1" noAdjustHandles="1" noChangeArrowheads="1" noChangeShapeType="1" noTextEdit="1"/>
              </p:cNvSpPr>
              <p:nvPr/>
            </p:nvSpPr>
            <p:spPr>
              <a:xfrm rot="5400000">
                <a:off x="2873067" y="4409353"/>
                <a:ext cx="878194" cy="954107"/>
              </a:xfrm>
              <a:prstGeom prst="rect">
                <a:avLst/>
              </a:prstGeom>
              <a:blipFill>
                <a:blip r:embed="rId2"/>
                <a:stretch>
                  <a:fillRect t="-7143" b="-7143"/>
                </a:stretch>
              </a:blipFill>
            </p:spPr>
            <p:txBody>
              <a:bodyPr/>
              <a:lstStyle/>
              <a:p>
                <a:r>
                  <a:rPr lang="en-US">
                    <a:noFill/>
                  </a:rPr>
                  <a:t> </a:t>
                </a:r>
              </a:p>
            </p:txBody>
          </p:sp>
        </mc:Fallback>
      </mc:AlternateContent>
    </p:spTree>
    <p:extLst>
      <p:ext uri="{BB962C8B-B14F-4D97-AF65-F5344CB8AC3E}">
        <p14:creationId xmlns:p14="http://schemas.microsoft.com/office/powerpoint/2010/main" val="3135199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7D0D9-1EFE-BB43-BA03-53DA8D23DCCD}"/>
              </a:ext>
            </a:extLst>
          </p:cNvPr>
          <p:cNvSpPr>
            <a:spLocks noGrp="1"/>
          </p:cNvSpPr>
          <p:nvPr>
            <p:ph type="title"/>
          </p:nvPr>
        </p:nvSpPr>
        <p:spPr/>
        <p:txBody>
          <a:bodyPr/>
          <a:lstStyle/>
          <a:p>
            <a:r>
              <a:rPr lang="en-US" dirty="0"/>
              <a:t>The Plaintiff’s Argument</a:t>
            </a:r>
          </a:p>
        </p:txBody>
      </p:sp>
      <p:sp>
        <p:nvSpPr>
          <p:cNvPr id="3" name="Content Placeholder 2">
            <a:extLst>
              <a:ext uri="{FF2B5EF4-FFF2-40B4-BE49-F238E27FC236}">
                <a16:creationId xmlns:a16="http://schemas.microsoft.com/office/drawing/2014/main" id="{106C6D18-964D-FC49-B6F7-25D17AD0F34E}"/>
              </a:ext>
            </a:extLst>
          </p:cNvPr>
          <p:cNvSpPr>
            <a:spLocks noGrp="1"/>
          </p:cNvSpPr>
          <p:nvPr>
            <p:ph idx="1"/>
          </p:nvPr>
        </p:nvSpPr>
        <p:spPr>
          <a:xfrm>
            <a:off x="838199" y="1825624"/>
            <a:ext cx="5915891" cy="5510357"/>
          </a:xfrm>
        </p:spPr>
        <p:txBody>
          <a:bodyPr/>
          <a:lstStyle/>
          <a:p>
            <a:pPr marL="0" indent="0">
              <a:buNone/>
            </a:pPr>
            <a:r>
              <a:rPr lang="en-US" dirty="0"/>
              <a:t>Community Preference (CP) significantly advantages insiders.</a:t>
            </a:r>
          </a:p>
          <a:p>
            <a:pPr marL="0" indent="0">
              <a:buNone/>
            </a:pPr>
            <a:r>
              <a:rPr lang="en-US" dirty="0"/>
              <a:t>		   </a:t>
            </a:r>
            <a:r>
              <a:rPr lang="en-US" sz="4800" dirty="0"/>
              <a:t> +</a:t>
            </a:r>
          </a:p>
          <a:p>
            <a:pPr marL="0" indent="0">
              <a:buNone/>
            </a:pPr>
            <a:r>
              <a:rPr lang="en-US" dirty="0"/>
              <a:t>Insiders are more likely to belong to the Community District’s majority race.</a:t>
            </a:r>
          </a:p>
          <a:p>
            <a:pPr marL="0" indent="0">
              <a:buNone/>
            </a:pPr>
            <a:endParaRPr lang="en-US" dirty="0"/>
          </a:p>
          <a:p>
            <a:pPr marL="0" indent="0">
              <a:buNone/>
            </a:pPr>
            <a:endParaRPr lang="en-US" dirty="0"/>
          </a:p>
          <a:p>
            <a:pPr marL="0" indent="0">
              <a:buNone/>
            </a:pPr>
            <a:r>
              <a:rPr lang="en-US" dirty="0"/>
              <a:t>Community Preference increases the number of housed applicants who belong to the CD’s majority race.</a:t>
            </a:r>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A9B327C-3E68-B546-8381-AFAFEC21342E}"/>
                  </a:ext>
                </a:extLst>
              </p:cNvPr>
              <p:cNvSpPr txBox="1"/>
              <p:nvPr/>
            </p:nvSpPr>
            <p:spPr>
              <a:xfrm rot="5400000">
                <a:off x="2873067" y="4409353"/>
                <a:ext cx="878194"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5600" b="0" i="1" smtClean="0">
                          <a:latin typeface="Cambria Math" panose="02040503050406030204" pitchFamily="18" charset="0"/>
                        </a:rPr>
                        <m:t>⇒</m:t>
                      </m:r>
                    </m:oMath>
                  </m:oMathPara>
                </a14:m>
                <a:endParaRPr lang="en-US" sz="5600" dirty="0"/>
              </a:p>
            </p:txBody>
          </p:sp>
        </mc:Choice>
        <mc:Fallback xmlns="">
          <p:sp>
            <p:nvSpPr>
              <p:cNvPr id="4" name="TextBox 3">
                <a:extLst>
                  <a:ext uri="{FF2B5EF4-FFF2-40B4-BE49-F238E27FC236}">
                    <a16:creationId xmlns:a16="http://schemas.microsoft.com/office/drawing/2014/main" id="{5A9B327C-3E68-B546-8381-AFAFEC21342E}"/>
                  </a:ext>
                </a:extLst>
              </p:cNvPr>
              <p:cNvSpPr txBox="1">
                <a:spLocks noRot="1" noChangeAspect="1" noMove="1" noResize="1" noEditPoints="1" noAdjustHandles="1" noChangeArrowheads="1" noChangeShapeType="1" noTextEdit="1"/>
              </p:cNvSpPr>
              <p:nvPr/>
            </p:nvSpPr>
            <p:spPr>
              <a:xfrm rot="5400000">
                <a:off x="2873067" y="4409353"/>
                <a:ext cx="878194" cy="954107"/>
              </a:xfrm>
              <a:prstGeom prst="rect">
                <a:avLst/>
              </a:prstGeom>
              <a:blipFill>
                <a:blip r:embed="rId2"/>
                <a:stretch>
                  <a:fillRect t="-7143" b="-7143"/>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A35EE008-5E62-AF4A-B8C7-A7D02529B44E}"/>
              </a:ext>
            </a:extLst>
          </p:cNvPr>
          <p:cNvSpPr txBox="1">
            <a:spLocks/>
          </p:cNvSpPr>
          <p:nvPr/>
        </p:nvSpPr>
        <p:spPr>
          <a:xfrm>
            <a:off x="7683971" y="1709736"/>
            <a:ext cx="5915891" cy="47831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dirty="0">
                <a:solidFill>
                  <a:schemeClr val="accent2"/>
                </a:solidFill>
              </a:rPr>
              <a:t>Tables 1, 4</a:t>
            </a:r>
          </a:p>
          <a:p>
            <a:pPr marL="0" indent="0">
              <a:buFont typeface="Arial" panose="020B0604020202020204" pitchFamily="34" charset="0"/>
              <a:buNone/>
            </a:pPr>
            <a:r>
              <a:rPr lang="en-US" sz="3600" dirty="0">
                <a:solidFill>
                  <a:schemeClr val="accent2"/>
                </a:solidFill>
              </a:rPr>
              <a:t>	</a:t>
            </a:r>
          </a:p>
          <a:p>
            <a:pPr marL="0" indent="0">
              <a:buFont typeface="Arial" panose="020B0604020202020204" pitchFamily="34" charset="0"/>
              <a:buNone/>
            </a:pPr>
            <a:endParaRPr lang="en-US" sz="3600" dirty="0">
              <a:solidFill>
                <a:schemeClr val="accent2"/>
              </a:solidFill>
            </a:endParaRPr>
          </a:p>
          <a:p>
            <a:pPr marL="0" indent="0">
              <a:buNone/>
            </a:pPr>
            <a:r>
              <a:rPr lang="en-US" sz="3600" dirty="0">
                <a:solidFill>
                  <a:schemeClr val="accent2"/>
                </a:solidFill>
              </a:rPr>
              <a:t>Tables 2, 3, 5, 6</a:t>
            </a:r>
          </a:p>
          <a:p>
            <a:pPr marL="0" indent="0">
              <a:buNone/>
            </a:pPr>
            <a:endParaRPr lang="en-US" sz="3600" dirty="0">
              <a:solidFill>
                <a:schemeClr val="accent2"/>
              </a:solidFill>
            </a:endParaRPr>
          </a:p>
          <a:p>
            <a:pPr marL="0" indent="0">
              <a:buNone/>
            </a:pPr>
            <a:endParaRPr lang="en-US" sz="3600" dirty="0">
              <a:solidFill>
                <a:schemeClr val="accent2"/>
              </a:solidFill>
            </a:endParaRPr>
          </a:p>
          <a:p>
            <a:pPr marL="0" indent="0">
              <a:buNone/>
            </a:pPr>
            <a:r>
              <a:rPr lang="en-US" sz="3600" dirty="0">
                <a:solidFill>
                  <a:schemeClr val="accent2"/>
                </a:solidFill>
              </a:rPr>
              <a:t>No analysis</a:t>
            </a:r>
          </a:p>
          <a:p>
            <a:pPr marL="0" indent="0">
              <a:buNone/>
            </a:pPr>
            <a:endParaRPr lang="en-US" sz="3600" dirty="0">
              <a:solidFill>
                <a:schemeClr val="accent2"/>
              </a:solidFill>
            </a:endParaRPr>
          </a:p>
          <a:p>
            <a:pPr marL="0" indent="0">
              <a:buFont typeface="Arial" panose="020B0604020202020204" pitchFamily="34" charset="0"/>
              <a:buNone/>
            </a:pPr>
            <a:endParaRPr lang="en-US" sz="3600" dirty="0">
              <a:solidFill>
                <a:schemeClr val="accent2"/>
              </a:solidFill>
            </a:endParaRPr>
          </a:p>
          <a:p>
            <a:pPr marL="0" indent="0">
              <a:buFont typeface="Arial" panose="020B0604020202020204" pitchFamily="34" charset="0"/>
              <a:buNone/>
            </a:pPr>
            <a:endParaRPr lang="en-US" sz="3600" dirty="0">
              <a:solidFill>
                <a:schemeClr val="accent2"/>
              </a:solidFill>
            </a:endParaRPr>
          </a:p>
          <a:p>
            <a:pPr marL="0" indent="0">
              <a:buFont typeface="Arial" panose="020B0604020202020204" pitchFamily="34" charset="0"/>
              <a:buNone/>
            </a:pPr>
            <a:endParaRPr lang="en-US" sz="3600" dirty="0">
              <a:solidFill>
                <a:schemeClr val="accent2"/>
              </a:solidFill>
            </a:endParaRPr>
          </a:p>
        </p:txBody>
      </p:sp>
    </p:spTree>
    <p:extLst>
      <p:ext uri="{BB962C8B-B14F-4D97-AF65-F5344CB8AC3E}">
        <p14:creationId xmlns:p14="http://schemas.microsoft.com/office/powerpoint/2010/main" val="23107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F834-3832-2C44-9A4B-74878B98CE93}"/>
              </a:ext>
            </a:extLst>
          </p:cNvPr>
          <p:cNvSpPr>
            <a:spLocks noGrp="1"/>
          </p:cNvSpPr>
          <p:nvPr>
            <p:ph type="title"/>
          </p:nvPr>
        </p:nvSpPr>
        <p:spPr/>
        <p:txBody>
          <a:bodyPr/>
          <a:lstStyle/>
          <a:p>
            <a:r>
              <a:rPr lang="en-US" dirty="0"/>
              <a:t>Beveridge’s Units of Analysis</a:t>
            </a:r>
          </a:p>
        </p:txBody>
      </p:sp>
      <p:sp>
        <p:nvSpPr>
          <p:cNvPr id="3" name="Content Placeholder 2">
            <a:extLst>
              <a:ext uri="{FF2B5EF4-FFF2-40B4-BE49-F238E27FC236}">
                <a16:creationId xmlns:a16="http://schemas.microsoft.com/office/drawing/2014/main" id="{6EA18271-EB53-3A4C-B54B-B26E12DE8A2B}"/>
              </a:ext>
            </a:extLst>
          </p:cNvPr>
          <p:cNvSpPr>
            <a:spLocks noGrp="1"/>
          </p:cNvSpPr>
          <p:nvPr>
            <p:ph idx="1"/>
          </p:nvPr>
        </p:nvSpPr>
        <p:spPr>
          <a:xfrm>
            <a:off x="838199" y="1825625"/>
            <a:ext cx="10965873" cy="4351338"/>
          </a:xfrm>
        </p:spPr>
        <p:txBody>
          <a:bodyPr/>
          <a:lstStyle/>
          <a:p>
            <a:pPr marL="0" indent="0">
              <a:buNone/>
            </a:pPr>
            <a:r>
              <a:rPr lang="en-US" dirty="0"/>
              <a:t>Applicants classified into 4 (mutually exclusive) racial groups: </a:t>
            </a:r>
          </a:p>
          <a:p>
            <a:r>
              <a:rPr lang="en-US" dirty="0"/>
              <a:t>White, Black, Hispanic, Asian.</a:t>
            </a:r>
          </a:p>
          <a:p>
            <a:endParaRPr lang="en-US" dirty="0"/>
          </a:p>
          <a:p>
            <a:pPr marL="0" indent="0">
              <a:buNone/>
            </a:pPr>
            <a:r>
              <a:rPr lang="en-US" dirty="0"/>
              <a:t>In addition, classified as “Insider” (from CD) or “Outsider” (not from CD)</a:t>
            </a:r>
          </a:p>
          <a:p>
            <a:pPr marL="0" indent="0">
              <a:buNone/>
            </a:pPr>
            <a:endParaRPr lang="en-US" dirty="0"/>
          </a:p>
          <a:p>
            <a:pPr marL="0" indent="0">
              <a:buNone/>
            </a:pPr>
            <a:r>
              <a:rPr lang="en-US" dirty="0"/>
              <a:t>Community Districts classified into 7 “typologies”:</a:t>
            </a:r>
          </a:p>
          <a:p>
            <a:r>
              <a:rPr lang="en-US" b="1" dirty="0"/>
              <a:t>Majority </a:t>
            </a:r>
            <a:r>
              <a:rPr lang="en-US" dirty="0"/>
              <a:t>White, Black, Hispanic, Asian</a:t>
            </a:r>
          </a:p>
          <a:p>
            <a:r>
              <a:rPr lang="en-US" b="1" dirty="0"/>
              <a:t>Plurality </a:t>
            </a:r>
            <a:r>
              <a:rPr lang="en-US" dirty="0"/>
              <a:t>White, Black, Hispanic</a:t>
            </a:r>
          </a:p>
          <a:p>
            <a:endParaRPr lang="en-US" dirty="0"/>
          </a:p>
          <a:p>
            <a:pPr marL="0" indent="0">
              <a:buNone/>
            </a:pPr>
            <a:endParaRPr lang="en-US" dirty="0"/>
          </a:p>
          <a:p>
            <a:endParaRPr lang="en-US" b="1" dirty="0"/>
          </a:p>
        </p:txBody>
      </p:sp>
    </p:spTree>
    <p:extLst>
      <p:ext uri="{BB962C8B-B14F-4D97-AF65-F5344CB8AC3E}">
        <p14:creationId xmlns:p14="http://schemas.microsoft.com/office/powerpoint/2010/main" val="2587755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F834-3832-2C44-9A4B-74878B98CE93}"/>
              </a:ext>
            </a:extLst>
          </p:cNvPr>
          <p:cNvSpPr>
            <a:spLocks noGrp="1"/>
          </p:cNvSpPr>
          <p:nvPr>
            <p:ph type="title"/>
          </p:nvPr>
        </p:nvSpPr>
        <p:spPr/>
        <p:txBody>
          <a:bodyPr/>
          <a:lstStyle/>
          <a:p>
            <a:r>
              <a:rPr lang="en-US" dirty="0"/>
              <a:t>Beveridge’s Units of Analysis</a:t>
            </a:r>
          </a:p>
        </p:txBody>
      </p:sp>
      <p:graphicFrame>
        <p:nvGraphicFramePr>
          <p:cNvPr id="4" name="Table 4">
            <a:extLst>
              <a:ext uri="{FF2B5EF4-FFF2-40B4-BE49-F238E27FC236}">
                <a16:creationId xmlns:a16="http://schemas.microsoft.com/office/drawing/2014/main" id="{6C3E4EDF-2711-4E4C-B1B6-7BADADE9E8B3}"/>
              </a:ext>
            </a:extLst>
          </p:cNvPr>
          <p:cNvGraphicFramePr>
            <a:graphicFrameLocks noGrp="1"/>
          </p:cNvGraphicFramePr>
          <p:nvPr>
            <p:extLst>
              <p:ext uri="{D42A27DB-BD31-4B8C-83A1-F6EECF244321}">
                <p14:modId xmlns:p14="http://schemas.microsoft.com/office/powerpoint/2010/main" val="4189885053"/>
              </p:ext>
            </p:extLst>
          </p:nvPr>
        </p:nvGraphicFramePr>
        <p:xfrm>
          <a:off x="838200" y="1860666"/>
          <a:ext cx="8778240" cy="414528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1047483577"/>
                    </a:ext>
                  </a:extLst>
                </a:gridCol>
                <a:gridCol w="1463040">
                  <a:extLst>
                    <a:ext uri="{9D8B030D-6E8A-4147-A177-3AD203B41FA5}">
                      <a16:colId xmlns:a16="http://schemas.microsoft.com/office/drawing/2014/main" val="1027143066"/>
                    </a:ext>
                  </a:extLst>
                </a:gridCol>
                <a:gridCol w="1463040">
                  <a:extLst>
                    <a:ext uri="{9D8B030D-6E8A-4147-A177-3AD203B41FA5}">
                      <a16:colId xmlns:a16="http://schemas.microsoft.com/office/drawing/2014/main" val="2599489504"/>
                    </a:ext>
                  </a:extLst>
                </a:gridCol>
                <a:gridCol w="1463040">
                  <a:extLst>
                    <a:ext uri="{9D8B030D-6E8A-4147-A177-3AD203B41FA5}">
                      <a16:colId xmlns:a16="http://schemas.microsoft.com/office/drawing/2014/main" val="622257458"/>
                    </a:ext>
                  </a:extLst>
                </a:gridCol>
                <a:gridCol w="1463040">
                  <a:extLst>
                    <a:ext uri="{9D8B030D-6E8A-4147-A177-3AD203B41FA5}">
                      <a16:colId xmlns:a16="http://schemas.microsoft.com/office/drawing/2014/main" val="3522866778"/>
                    </a:ext>
                  </a:extLst>
                </a:gridCol>
                <a:gridCol w="1463040">
                  <a:extLst>
                    <a:ext uri="{9D8B030D-6E8A-4147-A177-3AD203B41FA5}">
                      <a16:colId xmlns:a16="http://schemas.microsoft.com/office/drawing/2014/main" val="2055191919"/>
                    </a:ext>
                  </a:extLst>
                </a:gridCol>
              </a:tblGrid>
              <a:tr h="517779">
                <a:tc>
                  <a:txBody>
                    <a:bodyPr/>
                    <a:lstStyle/>
                    <a:p>
                      <a:endParaRPr lang="en-US" sz="2800" dirty="0">
                        <a:solidFill>
                          <a:schemeClr val="tx1"/>
                        </a:solidFill>
                      </a:endParaRPr>
                    </a:p>
                  </a:txBody>
                  <a:tcPr>
                    <a:solidFill>
                      <a:schemeClr val="bg2"/>
                    </a:solidFill>
                  </a:tcPr>
                </a:tc>
                <a:tc>
                  <a:txBody>
                    <a:bodyPr/>
                    <a:lstStyle/>
                    <a:p>
                      <a:endParaRPr lang="en-US" sz="2800" dirty="0">
                        <a:solidFill>
                          <a:schemeClr val="tx1"/>
                        </a:solidFill>
                      </a:endParaRPr>
                    </a:p>
                  </a:txBody>
                  <a:tcPr>
                    <a:solidFill>
                      <a:schemeClr val="bg2"/>
                    </a:solidFill>
                  </a:tcPr>
                </a:tc>
                <a:tc>
                  <a:txBody>
                    <a:bodyPr/>
                    <a:lstStyle/>
                    <a:p>
                      <a:r>
                        <a:rPr lang="en-US" sz="2800" b="0" dirty="0">
                          <a:solidFill>
                            <a:schemeClr val="tx1"/>
                          </a:solidFill>
                        </a:rPr>
                        <a:t>White</a:t>
                      </a:r>
                    </a:p>
                  </a:txBody>
                  <a:tcPr>
                    <a:lnB w="28575" cap="flat" cmpd="sng" algn="ctr">
                      <a:solidFill>
                        <a:schemeClr val="tx1"/>
                      </a:solidFill>
                      <a:prstDash val="solid"/>
                      <a:round/>
                      <a:headEnd type="none" w="med" len="med"/>
                      <a:tailEnd type="none" w="med" len="med"/>
                    </a:lnB>
                    <a:solidFill>
                      <a:schemeClr val="bg2"/>
                    </a:solidFill>
                  </a:tcPr>
                </a:tc>
                <a:tc>
                  <a:txBody>
                    <a:bodyPr/>
                    <a:lstStyle/>
                    <a:p>
                      <a:r>
                        <a:rPr lang="en-US" sz="2800" b="0" dirty="0">
                          <a:solidFill>
                            <a:schemeClr val="tx1"/>
                          </a:solidFill>
                        </a:rPr>
                        <a:t>Black</a:t>
                      </a:r>
                    </a:p>
                  </a:txBody>
                  <a:tcPr>
                    <a:lnB w="28575" cap="flat" cmpd="sng" algn="ctr">
                      <a:solidFill>
                        <a:schemeClr val="tx1"/>
                      </a:solidFill>
                      <a:prstDash val="solid"/>
                      <a:round/>
                      <a:headEnd type="none" w="med" len="med"/>
                      <a:tailEnd type="none" w="med" len="med"/>
                    </a:lnB>
                    <a:solidFill>
                      <a:schemeClr val="bg2"/>
                    </a:solidFill>
                  </a:tcPr>
                </a:tc>
                <a:tc>
                  <a:txBody>
                    <a:bodyPr/>
                    <a:lstStyle/>
                    <a:p>
                      <a:r>
                        <a:rPr lang="en-US" sz="2800" b="0" dirty="0">
                          <a:solidFill>
                            <a:schemeClr val="tx1"/>
                          </a:solidFill>
                        </a:rPr>
                        <a:t>Hispanic</a:t>
                      </a:r>
                    </a:p>
                  </a:txBody>
                  <a:tcPr>
                    <a:lnB w="28575" cap="flat" cmpd="sng" algn="ctr">
                      <a:solidFill>
                        <a:schemeClr val="tx1"/>
                      </a:solidFill>
                      <a:prstDash val="solid"/>
                      <a:round/>
                      <a:headEnd type="none" w="med" len="med"/>
                      <a:tailEnd type="none" w="med" len="med"/>
                    </a:lnB>
                    <a:solidFill>
                      <a:schemeClr val="bg2"/>
                    </a:solidFill>
                  </a:tcPr>
                </a:tc>
                <a:tc>
                  <a:txBody>
                    <a:bodyPr/>
                    <a:lstStyle/>
                    <a:p>
                      <a:r>
                        <a:rPr lang="en-US" sz="2800" b="0" dirty="0">
                          <a:solidFill>
                            <a:schemeClr val="tx1"/>
                          </a:solidFill>
                        </a:rPr>
                        <a:t>Asian</a:t>
                      </a:r>
                    </a:p>
                  </a:txBody>
                  <a:tcPr>
                    <a:lnB w="285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61545763"/>
                  </a:ext>
                </a:extLst>
              </a:tr>
              <a:tr h="517779">
                <a:tc>
                  <a:txBody>
                    <a:bodyPr/>
                    <a:lstStyle/>
                    <a:p>
                      <a:r>
                        <a:rPr lang="en-US" sz="2800" dirty="0">
                          <a:solidFill>
                            <a:schemeClr val="tx1"/>
                          </a:solidFill>
                        </a:rPr>
                        <a:t>Majority</a:t>
                      </a:r>
                    </a:p>
                  </a:txBody>
                  <a:tcPr>
                    <a:solidFill>
                      <a:schemeClr val="bg2"/>
                    </a:solidFill>
                  </a:tcPr>
                </a:tc>
                <a:tc>
                  <a:txBody>
                    <a:bodyPr/>
                    <a:lstStyle/>
                    <a:p>
                      <a:r>
                        <a:rPr lang="en-US" sz="2800" dirty="0">
                          <a:solidFill>
                            <a:schemeClr val="tx1"/>
                          </a:solidFill>
                        </a:rPr>
                        <a:t>White</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8368612"/>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Black</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0426539"/>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Hispanic</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0242788"/>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Asian</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2905752"/>
                  </a:ext>
                </a:extLst>
              </a:tr>
              <a:tr h="517779">
                <a:tc>
                  <a:txBody>
                    <a:bodyPr/>
                    <a:lstStyle/>
                    <a:p>
                      <a:r>
                        <a:rPr lang="en-US" sz="2800" dirty="0">
                          <a:solidFill>
                            <a:schemeClr val="tx1"/>
                          </a:solidFill>
                        </a:rPr>
                        <a:t>Plurality</a:t>
                      </a:r>
                    </a:p>
                  </a:txBody>
                  <a:tcPr>
                    <a:solidFill>
                      <a:schemeClr val="bg2"/>
                    </a:solidFill>
                  </a:tcPr>
                </a:tc>
                <a:tc>
                  <a:txBody>
                    <a:bodyPr/>
                    <a:lstStyle/>
                    <a:p>
                      <a:r>
                        <a:rPr lang="en-US" sz="2800" dirty="0">
                          <a:solidFill>
                            <a:schemeClr val="tx1"/>
                          </a:solidFill>
                        </a:rPr>
                        <a:t>White</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729445"/>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Black</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2076849"/>
                  </a:ext>
                </a:extLst>
              </a:tr>
              <a:tr h="517779">
                <a:tc>
                  <a:txBody>
                    <a:bodyPr/>
                    <a:lstStyle/>
                    <a:p>
                      <a:endParaRPr lang="en-US" sz="2800">
                        <a:solidFill>
                          <a:schemeClr val="tx1"/>
                        </a:solidFill>
                      </a:endParaRPr>
                    </a:p>
                  </a:txBody>
                  <a:tcPr>
                    <a:solidFill>
                      <a:schemeClr val="bg2"/>
                    </a:solidFill>
                  </a:tcPr>
                </a:tc>
                <a:tc>
                  <a:txBody>
                    <a:bodyPr/>
                    <a:lstStyle/>
                    <a:p>
                      <a:r>
                        <a:rPr lang="en-US" sz="2800" dirty="0">
                          <a:solidFill>
                            <a:schemeClr val="tx1"/>
                          </a:solidFill>
                        </a:rPr>
                        <a:t>Hispanic</a:t>
                      </a:r>
                    </a:p>
                  </a:txBody>
                  <a:tcPr>
                    <a:lnR w="28575" cap="flat" cmpd="sng" algn="ctr">
                      <a:solidFill>
                        <a:schemeClr val="tx1"/>
                      </a:solidFill>
                      <a:prstDash val="solid"/>
                      <a:round/>
                      <a:headEnd type="none" w="med" len="med"/>
                      <a:tailEnd type="none" w="med" len="med"/>
                    </a:lnR>
                    <a:solidFill>
                      <a:schemeClr val="bg2"/>
                    </a:solid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9633319"/>
                  </a:ext>
                </a:extLst>
              </a:tr>
            </a:tbl>
          </a:graphicData>
        </a:graphic>
      </p:graphicFrame>
    </p:spTree>
    <p:extLst>
      <p:ext uri="{BB962C8B-B14F-4D97-AF65-F5344CB8AC3E}">
        <p14:creationId xmlns:p14="http://schemas.microsoft.com/office/powerpoint/2010/main" val="2516797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p:spTree>
    <p:extLst>
      <p:ext uri="{BB962C8B-B14F-4D97-AF65-F5344CB8AC3E}">
        <p14:creationId xmlns:p14="http://schemas.microsoft.com/office/powerpoint/2010/main" val="2074111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B0E1A73-B40C-B54E-A072-70A40F368893}"/>
                  </a:ext>
                </a:extLst>
              </p:cNvPr>
              <p:cNvSpPr txBox="1"/>
              <p:nvPr/>
            </p:nvSpPr>
            <p:spPr>
              <a:xfrm>
                <a:off x="6791479" y="793194"/>
                <a:ext cx="5314917"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type m:val="lin"/>
                          <m:ctrlPr>
                            <a:rPr lang="en-US" sz="2400" b="0" i="1" smtClean="0">
                              <a:solidFill>
                                <a:schemeClr val="accent2"/>
                              </a:solidFill>
                              <a:latin typeface="Cambria Math" panose="02040503050406030204" pitchFamily="18" charset="0"/>
                            </a:rPr>
                          </m:ctrlPr>
                        </m:fPr>
                        <m:num>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num>
                        <m:den>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den>
                      </m:f>
                    </m:oMath>
                  </m:oMathPara>
                </a14:m>
                <a:endParaRPr lang="en-US" sz="2400" dirty="0">
                  <a:solidFill>
                    <a:schemeClr val="accent2"/>
                  </a:solidFill>
                </a:endParaRPr>
              </a:p>
            </p:txBody>
          </p:sp>
        </mc:Choice>
        <mc:Fallback xmlns="">
          <p:sp>
            <p:nvSpPr>
              <p:cNvPr id="7" name="TextBox 6">
                <a:extLst>
                  <a:ext uri="{FF2B5EF4-FFF2-40B4-BE49-F238E27FC236}">
                    <a16:creationId xmlns:a16="http://schemas.microsoft.com/office/drawing/2014/main" id="{9B0E1A73-B40C-B54E-A072-70A40F368893}"/>
                  </a:ext>
                </a:extLst>
              </p:cNvPr>
              <p:cNvSpPr txBox="1">
                <a:spLocks noRot="1" noChangeAspect="1" noMove="1" noResize="1" noEditPoints="1" noAdjustHandles="1" noChangeArrowheads="1" noChangeShapeType="1" noTextEdit="1"/>
              </p:cNvSpPr>
              <p:nvPr/>
            </p:nvSpPr>
            <p:spPr>
              <a:xfrm>
                <a:off x="6791479" y="793194"/>
                <a:ext cx="5314917" cy="855812"/>
              </a:xfrm>
              <a:prstGeom prst="rect">
                <a:avLst/>
              </a:prstGeom>
              <a:blipFill>
                <a:blip r:embed="rId3"/>
                <a:stretch>
                  <a:fillRect t="-150725" b="-218841"/>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0C6129A-4B83-CB41-BEA5-C8F29F1E11B9}"/>
              </a:ext>
            </a:extLst>
          </p:cNvPr>
          <p:cNvCxnSpPr>
            <a:cxnSpLocks/>
          </p:cNvCxnSpPr>
          <p:nvPr/>
        </p:nvCxnSpPr>
        <p:spPr>
          <a:xfrm flipH="1">
            <a:off x="6641096" y="1707870"/>
            <a:ext cx="1105868"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B8ABD4-5447-6042-BA03-C9C12DB12133}"/>
                  </a:ext>
                </a:extLst>
              </p:cNvPr>
              <p:cNvSpPr txBox="1"/>
              <p:nvPr/>
            </p:nvSpPr>
            <p:spPr>
              <a:xfrm>
                <a:off x="3866840" y="793076"/>
                <a:ext cx="25539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i="1" dirty="0">
                              <a:solidFill>
                                <a:schemeClr val="accent2"/>
                              </a:solidFill>
                              <a:latin typeface="Cambria Math" panose="02040503050406030204" pitchFamily="18" charset="0"/>
                            </a:rPr>
                            <m:t>𝐼𝑛𝑠𝑖𝑑𝑒𝑟𝑠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𝐼𝑛𝑠𝑖𝑑𝑒𝑟𝑠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59B8ABD4-5447-6042-BA03-C9C12DB12133}"/>
                  </a:ext>
                </a:extLst>
              </p:cNvPr>
              <p:cNvSpPr txBox="1">
                <a:spLocks noRot="1" noChangeAspect="1" noMove="1" noResize="1" noEditPoints="1" noAdjustHandles="1" noChangeArrowheads="1" noChangeShapeType="1" noTextEdit="1"/>
              </p:cNvSpPr>
              <p:nvPr/>
            </p:nvSpPr>
            <p:spPr>
              <a:xfrm>
                <a:off x="3866840" y="793076"/>
                <a:ext cx="2553904" cy="855812"/>
              </a:xfrm>
              <a:prstGeom prst="rect">
                <a:avLst/>
              </a:prstGeom>
              <a:blipFill>
                <a:blip r:embed="rId4"/>
                <a:stretch>
                  <a:fillRect t="-2941" b="-1176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07EF50F-43C6-ED48-A1D2-42DC0AE39480}"/>
              </a:ext>
            </a:extLst>
          </p:cNvPr>
          <p:cNvCxnSpPr>
            <a:cxnSpLocks/>
          </p:cNvCxnSpPr>
          <p:nvPr/>
        </p:nvCxnSpPr>
        <p:spPr>
          <a:xfrm flipH="1">
            <a:off x="4500978" y="1707870"/>
            <a:ext cx="774852"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CC863-6AAB-6740-914F-ED46162C5FBD}"/>
              </a:ext>
            </a:extLst>
          </p:cNvPr>
          <p:cNvCxnSpPr>
            <a:cxnSpLocks/>
          </p:cNvCxnSpPr>
          <p:nvPr/>
        </p:nvCxnSpPr>
        <p:spPr>
          <a:xfrm>
            <a:off x="2119745" y="1631706"/>
            <a:ext cx="740892" cy="160955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7E5387D-0BC7-EF4F-A582-B0E874598251}"/>
                  </a:ext>
                </a:extLst>
              </p:cNvPr>
              <p:cNvSpPr txBox="1"/>
              <p:nvPr/>
            </p:nvSpPr>
            <p:spPr>
              <a:xfrm>
                <a:off x="938223" y="775894"/>
                <a:ext cx="27671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b="0" i="1" dirty="0" smtClean="0">
                              <a:solidFill>
                                <a:schemeClr val="accent2"/>
                              </a:solidFill>
                              <a:latin typeface="Cambria Math" panose="02040503050406030204" pitchFamily="18" charset="0"/>
                            </a:rPr>
                            <m:t>𝑂𝑢𝑡𝑠𝑖𝑑𝑒𝑟</m:t>
                          </m:r>
                          <m:r>
                            <a:rPr lang="en-US" sz="2400" i="1" dirty="0">
                              <a:solidFill>
                                <a:schemeClr val="accent2"/>
                              </a:solidFill>
                              <a:latin typeface="Cambria Math" panose="02040503050406030204" pitchFamily="18" charset="0"/>
                            </a:rPr>
                            <m:t>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𝑂𝑢𝑡𝑠𝑖𝑑𝑒𝑟𝑠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9" name="TextBox 18">
                <a:extLst>
                  <a:ext uri="{FF2B5EF4-FFF2-40B4-BE49-F238E27FC236}">
                    <a16:creationId xmlns:a16="http://schemas.microsoft.com/office/drawing/2014/main" id="{27E5387D-0BC7-EF4F-A582-B0E874598251}"/>
                  </a:ext>
                </a:extLst>
              </p:cNvPr>
              <p:cNvSpPr txBox="1">
                <a:spLocks noRot="1" noChangeAspect="1" noMove="1" noResize="1" noEditPoints="1" noAdjustHandles="1" noChangeArrowheads="1" noChangeShapeType="1" noTextEdit="1"/>
              </p:cNvSpPr>
              <p:nvPr/>
            </p:nvSpPr>
            <p:spPr>
              <a:xfrm>
                <a:off x="938223" y="775894"/>
                <a:ext cx="2767104" cy="855812"/>
              </a:xfrm>
              <a:prstGeom prst="rect">
                <a:avLst/>
              </a:prstGeom>
              <a:blipFill>
                <a:blip r:embed="rId5"/>
                <a:stretch>
                  <a:fillRect t="-1449" b="-11594"/>
                </a:stretch>
              </a:blipFill>
            </p:spPr>
            <p:txBody>
              <a:bodyPr/>
              <a:lstStyle/>
              <a:p>
                <a:r>
                  <a:rPr lang="en-US">
                    <a:noFill/>
                  </a:rPr>
                  <a:t> </a:t>
                </a:r>
              </a:p>
            </p:txBody>
          </p:sp>
        </mc:Fallback>
      </mc:AlternateContent>
    </p:spTree>
    <p:extLst>
      <p:ext uri="{BB962C8B-B14F-4D97-AF65-F5344CB8AC3E}">
        <p14:creationId xmlns:p14="http://schemas.microsoft.com/office/powerpoint/2010/main" val="3483140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B0E1A73-B40C-B54E-A072-70A40F368893}"/>
                  </a:ext>
                </a:extLst>
              </p:cNvPr>
              <p:cNvSpPr txBox="1"/>
              <p:nvPr/>
            </p:nvSpPr>
            <p:spPr>
              <a:xfrm>
                <a:off x="6791479" y="793194"/>
                <a:ext cx="5314917"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type m:val="lin"/>
                          <m:ctrlPr>
                            <a:rPr lang="en-US" sz="2400" b="0" i="1" smtClean="0">
                              <a:solidFill>
                                <a:schemeClr val="accent2"/>
                              </a:solidFill>
                              <a:latin typeface="Cambria Math" panose="02040503050406030204" pitchFamily="18" charset="0"/>
                            </a:rPr>
                          </m:ctrlPr>
                        </m:fPr>
                        <m:num>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num>
                        <m:den>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den>
                      </m:f>
                    </m:oMath>
                  </m:oMathPara>
                </a14:m>
                <a:endParaRPr lang="en-US" sz="2400" dirty="0">
                  <a:solidFill>
                    <a:schemeClr val="accent2"/>
                  </a:solidFill>
                </a:endParaRPr>
              </a:p>
            </p:txBody>
          </p:sp>
        </mc:Choice>
        <mc:Fallback xmlns="">
          <p:sp>
            <p:nvSpPr>
              <p:cNvPr id="7" name="TextBox 6">
                <a:extLst>
                  <a:ext uri="{FF2B5EF4-FFF2-40B4-BE49-F238E27FC236}">
                    <a16:creationId xmlns:a16="http://schemas.microsoft.com/office/drawing/2014/main" id="{9B0E1A73-B40C-B54E-A072-70A40F368893}"/>
                  </a:ext>
                </a:extLst>
              </p:cNvPr>
              <p:cNvSpPr txBox="1">
                <a:spLocks noRot="1" noChangeAspect="1" noMove="1" noResize="1" noEditPoints="1" noAdjustHandles="1" noChangeArrowheads="1" noChangeShapeType="1" noTextEdit="1"/>
              </p:cNvSpPr>
              <p:nvPr/>
            </p:nvSpPr>
            <p:spPr>
              <a:xfrm>
                <a:off x="6791479" y="793194"/>
                <a:ext cx="5314917" cy="855812"/>
              </a:xfrm>
              <a:prstGeom prst="rect">
                <a:avLst/>
              </a:prstGeom>
              <a:blipFill>
                <a:blip r:embed="rId3"/>
                <a:stretch>
                  <a:fillRect t="-150725" b="-21884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36BC94A-0DD3-FA43-B863-38FBF275D486}"/>
              </a:ext>
            </a:extLst>
          </p:cNvPr>
          <p:cNvSpPr txBox="1"/>
          <p:nvPr/>
        </p:nvSpPr>
        <p:spPr>
          <a:xfrm>
            <a:off x="8066440" y="2023151"/>
            <a:ext cx="4025475" cy="3416320"/>
          </a:xfrm>
          <a:prstGeom prst="rect">
            <a:avLst/>
          </a:prstGeom>
          <a:noFill/>
        </p:spPr>
        <p:txBody>
          <a:bodyPr wrap="square" rtlCol="0">
            <a:spAutoFit/>
          </a:bodyPr>
          <a:lstStyle/>
          <a:p>
            <a:r>
              <a:rPr lang="en-US" sz="2400" dirty="0"/>
              <a:t>Intuitive meaning: </a:t>
            </a:r>
            <a:br>
              <a:rPr lang="en-US" sz="2400" dirty="0"/>
            </a:br>
            <a:r>
              <a:rPr lang="en-US" sz="2400" dirty="0"/>
              <a:t>“How much advantage do insiders get?”</a:t>
            </a:r>
          </a:p>
          <a:p>
            <a:endParaRPr lang="en-US" sz="2400" dirty="0"/>
          </a:p>
          <a:p>
            <a:r>
              <a:rPr lang="en-US" sz="2400" dirty="0"/>
              <a:t>Observations:</a:t>
            </a:r>
          </a:p>
          <a:p>
            <a:pPr marL="457200" indent="-457200">
              <a:buFont typeface="+mj-lt"/>
              <a:buAutoNum type="arabicPeriod" startAt="2"/>
            </a:pPr>
            <a:r>
              <a:rPr lang="en-US" sz="2400" dirty="0"/>
              <a:t>No incorporation of applicant </a:t>
            </a:r>
            <a:r>
              <a:rPr lang="en-US" sz="2400" b="1" dirty="0">
                <a:solidFill>
                  <a:srgbClr val="FF0000"/>
                </a:solidFill>
              </a:rPr>
              <a:t>race</a:t>
            </a:r>
            <a:r>
              <a:rPr lang="en-US" sz="2400" dirty="0"/>
              <a:t>.</a:t>
            </a:r>
          </a:p>
          <a:p>
            <a:pPr marL="457200" indent="-457200">
              <a:buFont typeface="+mj-lt"/>
              <a:buAutoNum type="arabicPeriod" startAt="2"/>
            </a:pPr>
            <a:r>
              <a:rPr lang="en-US" sz="2400" dirty="0"/>
              <a:t>Not clear what numbers would be </a:t>
            </a:r>
            <a:r>
              <a:rPr lang="en-US" sz="2400" b="1" dirty="0">
                <a:solidFill>
                  <a:schemeClr val="accent6"/>
                </a:solidFill>
              </a:rPr>
              <a:t>without</a:t>
            </a:r>
            <a:r>
              <a:rPr lang="en-US" sz="2400" dirty="0"/>
              <a:t> CP.  </a:t>
            </a:r>
          </a:p>
        </p:txBody>
      </p:sp>
      <p:cxnSp>
        <p:nvCxnSpPr>
          <p:cNvPr id="10" name="Straight Arrow Connector 9">
            <a:extLst>
              <a:ext uri="{FF2B5EF4-FFF2-40B4-BE49-F238E27FC236}">
                <a16:creationId xmlns:a16="http://schemas.microsoft.com/office/drawing/2014/main" id="{20C6129A-4B83-CB41-BEA5-C8F29F1E11B9}"/>
              </a:ext>
            </a:extLst>
          </p:cNvPr>
          <p:cNvCxnSpPr>
            <a:cxnSpLocks/>
          </p:cNvCxnSpPr>
          <p:nvPr/>
        </p:nvCxnSpPr>
        <p:spPr>
          <a:xfrm flipH="1">
            <a:off x="6641096" y="1707870"/>
            <a:ext cx="1105868"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B8ABD4-5447-6042-BA03-C9C12DB12133}"/>
                  </a:ext>
                </a:extLst>
              </p:cNvPr>
              <p:cNvSpPr txBox="1"/>
              <p:nvPr/>
            </p:nvSpPr>
            <p:spPr>
              <a:xfrm>
                <a:off x="3866840" y="793076"/>
                <a:ext cx="25539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i="1" dirty="0">
                              <a:solidFill>
                                <a:schemeClr val="accent2"/>
                              </a:solidFill>
                              <a:latin typeface="Cambria Math" panose="02040503050406030204" pitchFamily="18" charset="0"/>
                            </a:rPr>
                            <m:t>𝐼𝑛𝑠𝑖𝑑𝑒𝑟𝑠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𝐼𝑛𝑠𝑖𝑑𝑒𝑟𝑠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59B8ABD4-5447-6042-BA03-C9C12DB12133}"/>
                  </a:ext>
                </a:extLst>
              </p:cNvPr>
              <p:cNvSpPr txBox="1">
                <a:spLocks noRot="1" noChangeAspect="1" noMove="1" noResize="1" noEditPoints="1" noAdjustHandles="1" noChangeArrowheads="1" noChangeShapeType="1" noTextEdit="1"/>
              </p:cNvSpPr>
              <p:nvPr/>
            </p:nvSpPr>
            <p:spPr>
              <a:xfrm>
                <a:off x="3866840" y="793076"/>
                <a:ext cx="2553904" cy="855812"/>
              </a:xfrm>
              <a:prstGeom prst="rect">
                <a:avLst/>
              </a:prstGeom>
              <a:blipFill>
                <a:blip r:embed="rId4"/>
                <a:stretch>
                  <a:fillRect t="-2941" b="-1176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07EF50F-43C6-ED48-A1D2-42DC0AE39480}"/>
              </a:ext>
            </a:extLst>
          </p:cNvPr>
          <p:cNvCxnSpPr>
            <a:cxnSpLocks/>
          </p:cNvCxnSpPr>
          <p:nvPr/>
        </p:nvCxnSpPr>
        <p:spPr>
          <a:xfrm flipH="1">
            <a:off x="4500978" y="1707870"/>
            <a:ext cx="774852"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CC863-6AAB-6740-914F-ED46162C5FBD}"/>
              </a:ext>
            </a:extLst>
          </p:cNvPr>
          <p:cNvCxnSpPr>
            <a:cxnSpLocks/>
          </p:cNvCxnSpPr>
          <p:nvPr/>
        </p:nvCxnSpPr>
        <p:spPr>
          <a:xfrm>
            <a:off x="2119745" y="1631706"/>
            <a:ext cx="740892" cy="160955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7E5387D-0BC7-EF4F-A582-B0E874598251}"/>
                  </a:ext>
                </a:extLst>
              </p:cNvPr>
              <p:cNvSpPr txBox="1"/>
              <p:nvPr/>
            </p:nvSpPr>
            <p:spPr>
              <a:xfrm>
                <a:off x="938223" y="775894"/>
                <a:ext cx="27671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b="0" i="1" dirty="0" smtClean="0">
                              <a:solidFill>
                                <a:schemeClr val="accent2"/>
                              </a:solidFill>
                              <a:latin typeface="Cambria Math" panose="02040503050406030204" pitchFamily="18" charset="0"/>
                            </a:rPr>
                            <m:t>𝑂𝑢𝑡𝑠𝑖𝑑𝑒𝑟</m:t>
                          </m:r>
                          <m:r>
                            <a:rPr lang="en-US" sz="2400" i="1" dirty="0">
                              <a:solidFill>
                                <a:schemeClr val="accent2"/>
                              </a:solidFill>
                              <a:latin typeface="Cambria Math" panose="02040503050406030204" pitchFamily="18" charset="0"/>
                            </a:rPr>
                            <m:t>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𝑂𝑢𝑡𝑠𝑖𝑑𝑒𝑟𝑠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9" name="TextBox 18">
                <a:extLst>
                  <a:ext uri="{FF2B5EF4-FFF2-40B4-BE49-F238E27FC236}">
                    <a16:creationId xmlns:a16="http://schemas.microsoft.com/office/drawing/2014/main" id="{27E5387D-0BC7-EF4F-A582-B0E874598251}"/>
                  </a:ext>
                </a:extLst>
              </p:cNvPr>
              <p:cNvSpPr txBox="1">
                <a:spLocks noRot="1" noChangeAspect="1" noMove="1" noResize="1" noEditPoints="1" noAdjustHandles="1" noChangeArrowheads="1" noChangeShapeType="1" noTextEdit="1"/>
              </p:cNvSpPr>
              <p:nvPr/>
            </p:nvSpPr>
            <p:spPr>
              <a:xfrm>
                <a:off x="938223" y="775894"/>
                <a:ext cx="2767104" cy="855812"/>
              </a:xfrm>
              <a:prstGeom prst="rect">
                <a:avLst/>
              </a:prstGeom>
              <a:blipFill>
                <a:blip r:embed="rId5"/>
                <a:stretch>
                  <a:fillRect t="-1449" b="-11594"/>
                </a:stretch>
              </a:blipFill>
            </p:spPr>
            <p:txBody>
              <a:bodyPr/>
              <a:lstStyle/>
              <a:p>
                <a:r>
                  <a:rPr lang="en-US">
                    <a:noFill/>
                  </a:rPr>
                  <a:t> </a:t>
                </a:r>
              </a:p>
            </p:txBody>
          </p:sp>
        </mc:Fallback>
      </mc:AlternateContent>
    </p:spTree>
    <p:extLst>
      <p:ext uri="{BB962C8B-B14F-4D97-AF65-F5344CB8AC3E}">
        <p14:creationId xmlns:p14="http://schemas.microsoft.com/office/powerpoint/2010/main" val="2032464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80A25-DFDD-AE4D-9ADF-CE277B0A2430}"/>
              </a:ext>
            </a:extLst>
          </p:cNvPr>
          <p:cNvSpPr>
            <a:spLocks noGrp="1"/>
          </p:cNvSpPr>
          <p:nvPr>
            <p:ph type="title"/>
          </p:nvPr>
        </p:nvSpPr>
        <p:spPr/>
        <p:txBody>
          <a:bodyPr/>
          <a:lstStyle/>
          <a:p>
            <a:r>
              <a:rPr lang="en-US" dirty="0"/>
              <a:t>Multi-Stage Pipeline</a:t>
            </a:r>
          </a:p>
        </p:txBody>
      </p:sp>
      <p:sp>
        <p:nvSpPr>
          <p:cNvPr id="4" name="Rectangle 3">
            <a:extLst>
              <a:ext uri="{FF2B5EF4-FFF2-40B4-BE49-F238E27FC236}">
                <a16:creationId xmlns:a16="http://schemas.microsoft.com/office/drawing/2014/main" id="{D40C1794-3AA5-7444-A25F-3A6250305E57}"/>
              </a:ext>
            </a:extLst>
          </p:cNvPr>
          <p:cNvSpPr/>
          <p:nvPr/>
        </p:nvSpPr>
        <p:spPr>
          <a:xfrm>
            <a:off x="1863434" y="1975060"/>
            <a:ext cx="2133600" cy="5507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Applicants</a:t>
            </a:r>
          </a:p>
        </p:txBody>
      </p:sp>
      <p:sp>
        <p:nvSpPr>
          <p:cNvPr id="5" name="Rectangle 4">
            <a:extLst>
              <a:ext uri="{FF2B5EF4-FFF2-40B4-BE49-F238E27FC236}">
                <a16:creationId xmlns:a16="http://schemas.microsoft.com/office/drawing/2014/main" id="{08D437D6-2E0B-0F42-AC8B-72D973F74EAA}"/>
              </a:ext>
            </a:extLst>
          </p:cNvPr>
          <p:cNvSpPr/>
          <p:nvPr/>
        </p:nvSpPr>
        <p:spPr>
          <a:xfrm>
            <a:off x="1863434" y="3281366"/>
            <a:ext cx="2133600" cy="5507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Considered</a:t>
            </a:r>
          </a:p>
        </p:txBody>
      </p:sp>
      <p:sp>
        <p:nvSpPr>
          <p:cNvPr id="6" name="Rectangle 5">
            <a:extLst>
              <a:ext uri="{FF2B5EF4-FFF2-40B4-BE49-F238E27FC236}">
                <a16:creationId xmlns:a16="http://schemas.microsoft.com/office/drawing/2014/main" id="{26FE032A-421C-D043-9DB5-EBDA2ADDD8B5}"/>
              </a:ext>
            </a:extLst>
          </p:cNvPr>
          <p:cNvSpPr/>
          <p:nvPr/>
        </p:nvSpPr>
        <p:spPr>
          <a:xfrm>
            <a:off x="1863433" y="4587677"/>
            <a:ext cx="2073581" cy="550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Offered</a:t>
            </a:r>
          </a:p>
        </p:txBody>
      </p:sp>
      <p:sp>
        <p:nvSpPr>
          <p:cNvPr id="7" name="Rectangle 6">
            <a:extLst>
              <a:ext uri="{FF2B5EF4-FFF2-40B4-BE49-F238E27FC236}">
                <a16:creationId xmlns:a16="http://schemas.microsoft.com/office/drawing/2014/main" id="{83B2582B-E711-6D4E-B28C-DEC747D6D912}"/>
              </a:ext>
            </a:extLst>
          </p:cNvPr>
          <p:cNvSpPr/>
          <p:nvPr/>
        </p:nvSpPr>
        <p:spPr>
          <a:xfrm>
            <a:off x="1863433" y="5942156"/>
            <a:ext cx="2085114" cy="550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Housed</a:t>
            </a:r>
          </a:p>
        </p:txBody>
      </p:sp>
      <p:cxnSp>
        <p:nvCxnSpPr>
          <p:cNvPr id="9" name="Straight Arrow Connector 8">
            <a:extLst>
              <a:ext uri="{FF2B5EF4-FFF2-40B4-BE49-F238E27FC236}">
                <a16:creationId xmlns:a16="http://schemas.microsoft.com/office/drawing/2014/main" id="{12FED948-5464-614B-8E79-199E86CE666D}"/>
              </a:ext>
            </a:extLst>
          </p:cNvPr>
          <p:cNvCxnSpPr>
            <a:cxnSpLocks/>
            <a:stCxn id="4" idx="2"/>
            <a:endCxn id="5" idx="0"/>
          </p:cNvCxnSpPr>
          <p:nvPr/>
        </p:nvCxnSpPr>
        <p:spPr>
          <a:xfrm>
            <a:off x="2930234" y="2525778"/>
            <a:ext cx="0" cy="755588"/>
          </a:xfrm>
          <a:prstGeom prst="straightConnector1">
            <a:avLst/>
          </a:prstGeom>
          <a:ln w="635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86B342D-F42B-604D-AF33-D3EA9178BED7}"/>
              </a:ext>
            </a:extLst>
          </p:cNvPr>
          <p:cNvCxnSpPr>
            <a:cxnSpLocks/>
            <a:stCxn id="4" idx="2"/>
          </p:cNvCxnSpPr>
          <p:nvPr/>
        </p:nvCxnSpPr>
        <p:spPr>
          <a:xfrm>
            <a:off x="2930234" y="2525778"/>
            <a:ext cx="1293667" cy="485066"/>
          </a:xfrm>
          <a:prstGeom prst="straightConnector1">
            <a:avLst/>
          </a:prstGeom>
          <a:ln w="635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5825033-DB9E-304E-BD56-8172753BB9FB}"/>
              </a:ext>
            </a:extLst>
          </p:cNvPr>
          <p:cNvSpPr txBox="1"/>
          <p:nvPr/>
        </p:nvSpPr>
        <p:spPr>
          <a:xfrm>
            <a:off x="4696686" y="2479475"/>
            <a:ext cx="7495307" cy="3108543"/>
          </a:xfrm>
          <a:prstGeom prst="rect">
            <a:avLst/>
          </a:prstGeom>
          <a:noFill/>
        </p:spPr>
        <p:txBody>
          <a:bodyPr wrap="square" rtlCol="0">
            <a:spAutoFit/>
          </a:bodyPr>
          <a:lstStyle/>
          <a:p>
            <a:r>
              <a:rPr lang="en-US" sz="2800" dirty="0"/>
              <a:t>Community Preference affects who is </a:t>
            </a:r>
            <a:r>
              <a:rPr lang="en-US" sz="2800" b="1" dirty="0"/>
              <a:t>considered.</a:t>
            </a:r>
          </a:p>
          <a:p>
            <a:endParaRPr lang="en-US" sz="2800" b="1" dirty="0"/>
          </a:p>
          <a:p>
            <a:endParaRPr lang="en-US" sz="2800" b="1" dirty="0"/>
          </a:p>
          <a:p>
            <a:r>
              <a:rPr lang="en-US" sz="2800" dirty="0"/>
              <a:t>Outsiders could be less likely to be eligible.</a:t>
            </a:r>
            <a:endParaRPr lang="en-US" sz="2800" b="1" dirty="0"/>
          </a:p>
          <a:p>
            <a:endParaRPr lang="en-US" sz="2800" b="1" dirty="0"/>
          </a:p>
          <a:p>
            <a:endParaRPr lang="en-US" sz="2800" b="1" dirty="0"/>
          </a:p>
          <a:p>
            <a:r>
              <a:rPr lang="en-US" sz="2800" dirty="0"/>
              <a:t>Outsiders could be less likely to accept an offer. </a:t>
            </a:r>
          </a:p>
        </p:txBody>
      </p:sp>
      <p:sp>
        <p:nvSpPr>
          <p:cNvPr id="8" name="TextBox 7">
            <a:extLst>
              <a:ext uri="{FF2B5EF4-FFF2-40B4-BE49-F238E27FC236}">
                <a16:creationId xmlns:a16="http://schemas.microsoft.com/office/drawing/2014/main" id="{1528969A-AFAE-1C44-8384-A9120FF466D7}"/>
              </a:ext>
            </a:extLst>
          </p:cNvPr>
          <p:cNvSpPr txBox="1"/>
          <p:nvPr/>
        </p:nvSpPr>
        <p:spPr>
          <a:xfrm>
            <a:off x="313590" y="2613311"/>
            <a:ext cx="1740348" cy="461665"/>
          </a:xfrm>
          <a:prstGeom prst="rect">
            <a:avLst/>
          </a:prstGeom>
          <a:noFill/>
        </p:spPr>
        <p:txBody>
          <a:bodyPr wrap="none" rtlCol="0">
            <a:spAutoFit/>
          </a:bodyPr>
          <a:lstStyle/>
          <a:p>
            <a:r>
              <a:rPr lang="en-US" sz="2400" dirty="0"/>
              <a:t>Considered?</a:t>
            </a:r>
          </a:p>
        </p:txBody>
      </p:sp>
      <p:sp>
        <p:nvSpPr>
          <p:cNvPr id="18" name="TextBox 17">
            <a:extLst>
              <a:ext uri="{FF2B5EF4-FFF2-40B4-BE49-F238E27FC236}">
                <a16:creationId xmlns:a16="http://schemas.microsoft.com/office/drawing/2014/main" id="{25F7253F-DA67-8443-ADDA-6A7FC998CF73}"/>
              </a:ext>
            </a:extLst>
          </p:cNvPr>
          <p:cNvSpPr txBox="1"/>
          <p:nvPr/>
        </p:nvSpPr>
        <p:spPr>
          <a:xfrm>
            <a:off x="313590" y="4007150"/>
            <a:ext cx="2073581" cy="461665"/>
          </a:xfrm>
          <a:prstGeom prst="rect">
            <a:avLst/>
          </a:prstGeom>
          <a:noFill/>
        </p:spPr>
        <p:txBody>
          <a:bodyPr wrap="none" rtlCol="0">
            <a:spAutoFit/>
          </a:bodyPr>
          <a:lstStyle/>
          <a:p>
            <a:r>
              <a:rPr lang="en-US" sz="2400" dirty="0"/>
              <a:t>Found Eligible?</a:t>
            </a:r>
          </a:p>
        </p:txBody>
      </p:sp>
      <p:sp>
        <p:nvSpPr>
          <p:cNvPr id="19" name="TextBox 18">
            <a:extLst>
              <a:ext uri="{FF2B5EF4-FFF2-40B4-BE49-F238E27FC236}">
                <a16:creationId xmlns:a16="http://schemas.microsoft.com/office/drawing/2014/main" id="{F8FE3959-3FB3-DF49-B9B2-5EDED0D4DDE1}"/>
              </a:ext>
            </a:extLst>
          </p:cNvPr>
          <p:cNvSpPr txBox="1"/>
          <p:nvPr/>
        </p:nvSpPr>
        <p:spPr>
          <a:xfrm>
            <a:off x="313590" y="5304858"/>
            <a:ext cx="2129686" cy="461665"/>
          </a:xfrm>
          <a:prstGeom prst="rect">
            <a:avLst/>
          </a:prstGeom>
          <a:noFill/>
        </p:spPr>
        <p:txBody>
          <a:bodyPr wrap="none" rtlCol="0">
            <a:spAutoFit/>
          </a:bodyPr>
          <a:lstStyle/>
          <a:p>
            <a:r>
              <a:rPr lang="en-US" sz="2400" dirty="0"/>
              <a:t>Still Interested?</a:t>
            </a:r>
          </a:p>
        </p:txBody>
      </p:sp>
      <p:cxnSp>
        <p:nvCxnSpPr>
          <p:cNvPr id="22" name="Straight Arrow Connector 21">
            <a:extLst>
              <a:ext uri="{FF2B5EF4-FFF2-40B4-BE49-F238E27FC236}">
                <a16:creationId xmlns:a16="http://schemas.microsoft.com/office/drawing/2014/main" id="{112AA073-1A88-C842-BD5F-ECA549E56852}"/>
              </a:ext>
            </a:extLst>
          </p:cNvPr>
          <p:cNvCxnSpPr>
            <a:cxnSpLocks/>
          </p:cNvCxnSpPr>
          <p:nvPr/>
        </p:nvCxnSpPr>
        <p:spPr>
          <a:xfrm>
            <a:off x="2895595" y="3832084"/>
            <a:ext cx="0" cy="755588"/>
          </a:xfrm>
          <a:prstGeom prst="straightConnector1">
            <a:avLst/>
          </a:prstGeom>
          <a:ln w="635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38875D0-D6CE-C346-AB14-B19FCF02304E}"/>
              </a:ext>
            </a:extLst>
          </p:cNvPr>
          <p:cNvCxnSpPr>
            <a:cxnSpLocks/>
          </p:cNvCxnSpPr>
          <p:nvPr/>
        </p:nvCxnSpPr>
        <p:spPr>
          <a:xfrm>
            <a:off x="2871351" y="5179722"/>
            <a:ext cx="0" cy="755588"/>
          </a:xfrm>
          <a:prstGeom prst="straightConnector1">
            <a:avLst/>
          </a:prstGeom>
          <a:ln w="635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2D9C192-2C76-DC44-B786-A9B0F2CA1E65}"/>
              </a:ext>
            </a:extLst>
          </p:cNvPr>
          <p:cNvCxnSpPr>
            <a:cxnSpLocks/>
          </p:cNvCxnSpPr>
          <p:nvPr/>
        </p:nvCxnSpPr>
        <p:spPr>
          <a:xfrm>
            <a:off x="2930234" y="3842599"/>
            <a:ext cx="1293667" cy="485066"/>
          </a:xfrm>
          <a:prstGeom prst="straightConnector1">
            <a:avLst/>
          </a:prstGeom>
          <a:ln w="635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4C4722A-F342-DF4F-8385-4691039C796B}"/>
              </a:ext>
            </a:extLst>
          </p:cNvPr>
          <p:cNvCxnSpPr>
            <a:cxnSpLocks/>
          </p:cNvCxnSpPr>
          <p:nvPr/>
        </p:nvCxnSpPr>
        <p:spPr>
          <a:xfrm>
            <a:off x="2907722" y="5179722"/>
            <a:ext cx="1293667" cy="485066"/>
          </a:xfrm>
          <a:prstGeom prst="straightConnector1">
            <a:avLst/>
          </a:prstGeom>
          <a:ln w="635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568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F56374D-FFD2-704F-ADF5-5DF8B8E16291}"/>
              </a:ext>
            </a:extLst>
          </p:cNvPr>
          <p:cNvPicPr>
            <a:picLocks noGrp="1" noChangeAspect="1"/>
          </p:cNvPicPr>
          <p:nvPr>
            <p:ph idx="1"/>
          </p:nvPr>
        </p:nvPicPr>
        <p:blipFill>
          <a:blip r:embed="rId2"/>
          <a:stretch>
            <a:fillRect/>
          </a:stretch>
        </p:blipFill>
        <p:spPr>
          <a:xfrm>
            <a:off x="415111" y="1690688"/>
            <a:ext cx="7900987" cy="4885584"/>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B0E1A73-B40C-B54E-A072-70A40F368893}"/>
                  </a:ext>
                </a:extLst>
              </p:cNvPr>
              <p:cNvSpPr txBox="1"/>
              <p:nvPr/>
            </p:nvSpPr>
            <p:spPr>
              <a:xfrm>
                <a:off x="6791479" y="793194"/>
                <a:ext cx="5314917"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type m:val="lin"/>
                          <m:ctrlPr>
                            <a:rPr lang="en-US" sz="2400" b="0" i="1" smtClean="0">
                              <a:solidFill>
                                <a:schemeClr val="accent2"/>
                              </a:solidFill>
                              <a:latin typeface="Cambria Math" panose="02040503050406030204" pitchFamily="18" charset="0"/>
                            </a:rPr>
                          </m:ctrlPr>
                        </m:fPr>
                        <m:num>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𝐼𝑛𝑠𝑖𝑑𝑒𝑟𝑠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num>
                        <m:den>
                          <m:f>
                            <m:fPr>
                              <m:ctrlPr>
                                <a:rPr lang="en-US" sz="2400" i="1">
                                  <a:solidFill>
                                    <a:schemeClr val="accent2"/>
                                  </a:solidFill>
                                  <a:latin typeface="Cambria Math" panose="02040503050406030204" pitchFamily="18" charset="0"/>
                                </a:rPr>
                              </m:ctrlPr>
                            </m:fPr>
                            <m:num>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b="0" i="1" smtClean="0">
                                  <a:solidFill>
                                    <a:schemeClr val="accent2"/>
                                  </a:solidFill>
                                  <a:latin typeface="Cambria Math" panose="02040503050406030204" pitchFamily="18" charset="0"/>
                                </a:rPr>
                                <m:t>𝐻𝑜𝑢𝑠𝑒𝑑</m:t>
                              </m:r>
                            </m:num>
                            <m:den>
                              <m:r>
                                <a:rPr lang="en-US" sz="2400" i="1">
                                  <a:solidFill>
                                    <a:schemeClr val="accent2"/>
                                  </a:solidFill>
                                  <a:latin typeface="Cambria Math" panose="02040503050406030204" pitchFamily="18" charset="0"/>
                                </a:rPr>
                                <m:t>𝑂𝑢𝑡𝑠𝑖𝑑𝑒𝑟𝑠</m:t>
                              </m:r>
                              <m:r>
                                <a:rPr lang="en-US" sz="2400" i="1">
                                  <a:solidFill>
                                    <a:schemeClr val="accent2"/>
                                  </a:solidFill>
                                  <a:latin typeface="Cambria Math" panose="02040503050406030204" pitchFamily="18" charset="0"/>
                                </a:rPr>
                                <m:t> </m:t>
                              </m:r>
                              <m:r>
                                <a:rPr lang="en-US" sz="2400" i="1">
                                  <a:solidFill>
                                    <a:schemeClr val="accent2"/>
                                  </a:solidFill>
                                  <a:latin typeface="Cambria Math" panose="02040503050406030204" pitchFamily="18" charset="0"/>
                                </a:rPr>
                                <m:t>𝐴𝑝𝑝𝑙𝑖𝑒𝑑</m:t>
                              </m:r>
                            </m:den>
                          </m:f>
                        </m:den>
                      </m:f>
                    </m:oMath>
                  </m:oMathPara>
                </a14:m>
                <a:endParaRPr lang="en-US" sz="2400" dirty="0">
                  <a:solidFill>
                    <a:schemeClr val="accent2"/>
                  </a:solidFill>
                </a:endParaRPr>
              </a:p>
            </p:txBody>
          </p:sp>
        </mc:Choice>
        <mc:Fallback xmlns="">
          <p:sp>
            <p:nvSpPr>
              <p:cNvPr id="7" name="TextBox 6">
                <a:extLst>
                  <a:ext uri="{FF2B5EF4-FFF2-40B4-BE49-F238E27FC236}">
                    <a16:creationId xmlns:a16="http://schemas.microsoft.com/office/drawing/2014/main" id="{9B0E1A73-B40C-B54E-A072-70A40F368893}"/>
                  </a:ext>
                </a:extLst>
              </p:cNvPr>
              <p:cNvSpPr txBox="1">
                <a:spLocks noRot="1" noChangeAspect="1" noMove="1" noResize="1" noEditPoints="1" noAdjustHandles="1" noChangeArrowheads="1" noChangeShapeType="1" noTextEdit="1"/>
              </p:cNvSpPr>
              <p:nvPr/>
            </p:nvSpPr>
            <p:spPr>
              <a:xfrm>
                <a:off x="6791479" y="793194"/>
                <a:ext cx="5314917" cy="855812"/>
              </a:xfrm>
              <a:prstGeom prst="rect">
                <a:avLst/>
              </a:prstGeom>
              <a:blipFill>
                <a:blip r:embed="rId3"/>
                <a:stretch>
                  <a:fillRect t="-150725" b="-218841"/>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0C6129A-4B83-CB41-BEA5-C8F29F1E11B9}"/>
              </a:ext>
            </a:extLst>
          </p:cNvPr>
          <p:cNvCxnSpPr>
            <a:cxnSpLocks/>
          </p:cNvCxnSpPr>
          <p:nvPr/>
        </p:nvCxnSpPr>
        <p:spPr>
          <a:xfrm flipH="1">
            <a:off x="6641096" y="1707870"/>
            <a:ext cx="1105868"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B8ABD4-5447-6042-BA03-C9C12DB12133}"/>
                  </a:ext>
                </a:extLst>
              </p:cNvPr>
              <p:cNvSpPr txBox="1"/>
              <p:nvPr/>
            </p:nvSpPr>
            <p:spPr>
              <a:xfrm>
                <a:off x="3866840" y="793076"/>
                <a:ext cx="25539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i="1" dirty="0">
                              <a:solidFill>
                                <a:schemeClr val="accent2"/>
                              </a:solidFill>
                              <a:latin typeface="Cambria Math" panose="02040503050406030204" pitchFamily="18" charset="0"/>
                            </a:rPr>
                            <m:t>𝐼𝑛𝑠𝑖𝑑𝑒𝑟𝑠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𝐼𝑛𝑠𝑖𝑑𝑒𝑟𝑠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59B8ABD4-5447-6042-BA03-C9C12DB12133}"/>
                  </a:ext>
                </a:extLst>
              </p:cNvPr>
              <p:cNvSpPr txBox="1">
                <a:spLocks noRot="1" noChangeAspect="1" noMove="1" noResize="1" noEditPoints="1" noAdjustHandles="1" noChangeArrowheads="1" noChangeShapeType="1" noTextEdit="1"/>
              </p:cNvSpPr>
              <p:nvPr/>
            </p:nvSpPr>
            <p:spPr>
              <a:xfrm>
                <a:off x="3866840" y="793076"/>
                <a:ext cx="2553904" cy="855812"/>
              </a:xfrm>
              <a:prstGeom prst="rect">
                <a:avLst/>
              </a:prstGeom>
              <a:blipFill>
                <a:blip r:embed="rId4"/>
                <a:stretch>
                  <a:fillRect t="-2941" b="-1176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07EF50F-43C6-ED48-A1D2-42DC0AE39480}"/>
              </a:ext>
            </a:extLst>
          </p:cNvPr>
          <p:cNvCxnSpPr>
            <a:cxnSpLocks/>
          </p:cNvCxnSpPr>
          <p:nvPr/>
        </p:nvCxnSpPr>
        <p:spPr>
          <a:xfrm flipH="1">
            <a:off x="4500978" y="1707870"/>
            <a:ext cx="774852" cy="153339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5CC863-6AAB-6740-914F-ED46162C5FBD}"/>
              </a:ext>
            </a:extLst>
          </p:cNvPr>
          <p:cNvCxnSpPr>
            <a:cxnSpLocks/>
          </p:cNvCxnSpPr>
          <p:nvPr/>
        </p:nvCxnSpPr>
        <p:spPr>
          <a:xfrm>
            <a:off x="2119745" y="1631706"/>
            <a:ext cx="740892" cy="160955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7E5387D-0BC7-EF4F-A582-B0E874598251}"/>
                  </a:ext>
                </a:extLst>
              </p:cNvPr>
              <p:cNvSpPr txBox="1"/>
              <p:nvPr/>
            </p:nvSpPr>
            <p:spPr>
              <a:xfrm>
                <a:off x="938223" y="775894"/>
                <a:ext cx="2767104" cy="8558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dirty="0" smtClean="0">
                              <a:solidFill>
                                <a:schemeClr val="accent2"/>
                              </a:solidFill>
                              <a:latin typeface="Cambria Math" panose="02040503050406030204" pitchFamily="18" charset="0"/>
                            </a:rPr>
                          </m:ctrlPr>
                        </m:fPr>
                        <m:num>
                          <m:r>
                            <a:rPr lang="en-US" sz="2400" b="0" i="1" dirty="0" smtClean="0">
                              <a:solidFill>
                                <a:schemeClr val="accent2"/>
                              </a:solidFill>
                              <a:latin typeface="Cambria Math" panose="02040503050406030204" pitchFamily="18" charset="0"/>
                            </a:rPr>
                            <m:t>𝑂𝑢𝑡𝑠𝑖𝑑𝑒𝑟</m:t>
                          </m:r>
                          <m:r>
                            <a:rPr lang="en-US" sz="2400" i="1" dirty="0">
                              <a:solidFill>
                                <a:schemeClr val="accent2"/>
                              </a:solidFill>
                              <a:latin typeface="Cambria Math" panose="02040503050406030204" pitchFamily="18" charset="0"/>
                            </a:rPr>
                            <m:t>𝑠</m:t>
                          </m:r>
                          <m:r>
                            <a:rPr lang="en-US" sz="2400" i="1" dirty="0">
                              <a:solidFill>
                                <a:schemeClr val="accent2"/>
                              </a:solidFill>
                              <a:latin typeface="Cambria Math" panose="02040503050406030204" pitchFamily="18" charset="0"/>
                            </a:rPr>
                            <m:t> </m:t>
                          </m:r>
                          <m:r>
                            <a:rPr lang="en-US" sz="2400" i="1" dirty="0">
                              <a:solidFill>
                                <a:schemeClr val="accent2"/>
                              </a:solidFill>
                              <a:latin typeface="Cambria Math" panose="02040503050406030204" pitchFamily="18" charset="0"/>
                            </a:rPr>
                            <m:t>𝐻𝑜𝑢𝑠𝑒𝑑</m:t>
                          </m:r>
                        </m:num>
                        <m:den>
                          <m:r>
                            <a:rPr lang="en-US" sz="2400" b="0" i="1" dirty="0" smtClean="0">
                              <a:solidFill>
                                <a:schemeClr val="accent2"/>
                              </a:solidFill>
                              <a:latin typeface="Cambria Math" panose="02040503050406030204" pitchFamily="18" charset="0"/>
                            </a:rPr>
                            <m:t>𝑂𝑢𝑡𝑠𝑖𝑑𝑒𝑟𝑠</m:t>
                          </m:r>
                          <m:r>
                            <a:rPr lang="en-US" sz="2400" b="0" i="1" dirty="0" smtClean="0">
                              <a:solidFill>
                                <a:schemeClr val="accent2"/>
                              </a:solidFill>
                              <a:latin typeface="Cambria Math" panose="02040503050406030204" pitchFamily="18" charset="0"/>
                            </a:rPr>
                            <m:t> </m:t>
                          </m:r>
                          <m:r>
                            <a:rPr lang="en-US" sz="2400" b="0" i="1" dirty="0" smtClean="0">
                              <a:solidFill>
                                <a:schemeClr val="accent2"/>
                              </a:solidFill>
                              <a:latin typeface="Cambria Math" panose="02040503050406030204" pitchFamily="18" charset="0"/>
                            </a:rPr>
                            <m:t>𝐴𝑝𝑝𝑙𝑖𝑒𝑑</m:t>
                          </m:r>
                        </m:den>
                      </m:f>
                    </m:oMath>
                  </m:oMathPara>
                </a14:m>
                <a:endParaRPr lang="en-US" sz="2400" dirty="0">
                  <a:solidFill>
                    <a:schemeClr val="accent2"/>
                  </a:solidFill>
                </a:endParaRPr>
              </a:p>
            </p:txBody>
          </p:sp>
        </mc:Choice>
        <mc:Fallback xmlns="">
          <p:sp>
            <p:nvSpPr>
              <p:cNvPr id="19" name="TextBox 18">
                <a:extLst>
                  <a:ext uri="{FF2B5EF4-FFF2-40B4-BE49-F238E27FC236}">
                    <a16:creationId xmlns:a16="http://schemas.microsoft.com/office/drawing/2014/main" id="{27E5387D-0BC7-EF4F-A582-B0E874598251}"/>
                  </a:ext>
                </a:extLst>
              </p:cNvPr>
              <p:cNvSpPr txBox="1">
                <a:spLocks noRot="1" noChangeAspect="1" noMove="1" noResize="1" noEditPoints="1" noAdjustHandles="1" noChangeArrowheads="1" noChangeShapeType="1" noTextEdit="1"/>
              </p:cNvSpPr>
              <p:nvPr/>
            </p:nvSpPr>
            <p:spPr>
              <a:xfrm>
                <a:off x="938223" y="775894"/>
                <a:ext cx="2767104" cy="855812"/>
              </a:xfrm>
              <a:prstGeom prst="rect">
                <a:avLst/>
              </a:prstGeom>
              <a:blipFill>
                <a:blip r:embed="rId5"/>
                <a:stretch>
                  <a:fillRect t="-1449" b="-11594"/>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EA8A7EAE-585B-624C-BE37-0AE2696F57A6}"/>
              </a:ext>
            </a:extLst>
          </p:cNvPr>
          <p:cNvSpPr txBox="1"/>
          <p:nvPr/>
        </p:nvSpPr>
        <p:spPr>
          <a:xfrm>
            <a:off x="8180100" y="3198999"/>
            <a:ext cx="4052455" cy="1384995"/>
          </a:xfrm>
          <a:prstGeom prst="rect">
            <a:avLst/>
          </a:prstGeom>
          <a:noFill/>
        </p:spPr>
        <p:txBody>
          <a:bodyPr wrap="square" rtlCol="0">
            <a:spAutoFit/>
          </a:bodyPr>
          <a:lstStyle/>
          <a:p>
            <a:r>
              <a:rPr lang="en-US" sz="2800" b="1" dirty="0">
                <a:solidFill>
                  <a:schemeClr val="accent6"/>
                </a:solidFill>
              </a:rPr>
              <a:t>Without</a:t>
            </a:r>
            <a:r>
              <a:rPr lang="en-US" sz="2800" dirty="0"/>
              <a:t> policy, would insiders still be housed at significantly higher rates?</a:t>
            </a:r>
          </a:p>
        </p:txBody>
      </p:sp>
    </p:spTree>
    <p:extLst>
      <p:ext uri="{BB962C8B-B14F-4D97-AF65-F5344CB8AC3E}">
        <p14:creationId xmlns:p14="http://schemas.microsoft.com/office/powerpoint/2010/main" val="1118192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D73C0-8ADC-B24C-8518-414A82154576}"/>
              </a:ext>
            </a:extLst>
          </p:cNvPr>
          <p:cNvSpPr>
            <a:spLocks noGrp="1"/>
          </p:cNvSpPr>
          <p:nvPr>
            <p:ph type="title"/>
          </p:nvPr>
        </p:nvSpPr>
        <p:spPr/>
        <p:txBody>
          <a:bodyPr/>
          <a:lstStyle/>
          <a:p>
            <a:r>
              <a:rPr lang="en-US" dirty="0"/>
              <a:t>Siskin’s Rebuttal to Table 1</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974EF53-CDEE-A344-AF34-B2C776B97332}"/>
                  </a:ext>
                </a:extLst>
              </p:cNvPr>
              <p:cNvSpPr>
                <a:spLocks noGrp="1"/>
              </p:cNvSpPr>
              <p:nvPr>
                <p:ph idx="1"/>
              </p:nvPr>
            </p:nvSpPr>
            <p:spPr>
              <a:xfrm>
                <a:off x="838200" y="1690688"/>
                <a:ext cx="10515600" cy="4833118"/>
              </a:xfrm>
              <a:prstGeom prst="rect">
                <a:avLst/>
              </a:prstGeom>
            </p:spPr>
            <p:txBody>
              <a:bodyPr>
                <a:spAutoFit/>
              </a:bodyPr>
              <a:lstStyle/>
              <a:p>
                <a:pPr marL="0" indent="0">
                  <a:buNone/>
                </a:pPr>
                <a:r>
                  <a:rPr lang="en-US" i="1" dirty="0"/>
                  <a:t>The CP policy was specifically designed to be a preference and give a boost to applications from within the community preference area. The fact that it succeeds in the objective for which it is designed… does not address the impact of the CP policy by race. </a:t>
                </a:r>
              </a:p>
              <a:p>
                <a:pPr marL="0" indent="0">
                  <a:buNone/>
                </a:pPr>
                <a:endParaRPr lang="en-US" sz="800" i="1" dirty="0"/>
              </a:p>
              <a:p>
                <a:pPr marL="0" indent="0">
                  <a:buNone/>
                </a:pPr>
                <a:r>
                  <a:rPr lang="en-US" i="1" dirty="0"/>
                  <a:t>Dr. Beveridge Conflates Correlation with Causation… While people may apply to many lotteries in many locations, they tend to follow through more during the confirmation stage if they are from the community preference area.</a:t>
                </a:r>
              </a:p>
              <a:p>
                <a:pPr marL="0" indent="0">
                  <a:buNone/>
                </a:pPr>
                <a:endParaRPr lang="en-US" sz="800" i="1" dirty="0">
                  <a:latin typeface="TimesNewRoman"/>
                </a:endParaRPr>
              </a:p>
              <a:p>
                <a:pPr marL="0" indent="0">
                  <a:buNone/>
                </a:pPr>
                <a:r>
                  <a:rPr lang="en-US" dirty="0">
                    <a:latin typeface="TimesNewRoman"/>
                  </a:rPr>
                  <a:t>Logistic Regression: among considered applicants, </a:t>
                </a:r>
              </a:p>
              <a:p>
                <a:pPr marL="0" indent="0">
                  <a:buNone/>
                </a:pPr>
                <a:r>
                  <a:rPr lang="en-US" dirty="0">
                    <a:latin typeface="TimesNewRoman"/>
                  </a:rPr>
                  <a:t>	“insider” status </a:t>
                </a:r>
                <a14:m>
                  <m:oMath xmlns:m="http://schemas.openxmlformats.org/officeDocument/2006/math">
                    <m:r>
                      <a:rPr lang="en-US" b="0" i="1" dirty="0" smtClean="0">
                        <a:latin typeface="Cambria Math" panose="02040503050406030204" pitchFamily="18" charset="0"/>
                      </a:rPr>
                      <m:t>⇒ </m:t>
                    </m:r>
                  </m:oMath>
                </a14:m>
                <a:r>
                  <a:rPr lang="en-US" dirty="0">
                    <a:latin typeface="TimesNewRoman"/>
                  </a:rPr>
                  <a:t>7x more likely to be housed.</a:t>
                </a:r>
              </a:p>
            </p:txBody>
          </p:sp>
        </mc:Choice>
        <mc:Fallback xmlns="">
          <p:sp>
            <p:nvSpPr>
              <p:cNvPr id="4" name="Content Placeholder 3">
                <a:extLst>
                  <a:ext uri="{FF2B5EF4-FFF2-40B4-BE49-F238E27FC236}">
                    <a16:creationId xmlns:a16="http://schemas.microsoft.com/office/drawing/2014/main" id="{5974EF53-CDEE-A344-AF34-B2C776B97332}"/>
                  </a:ext>
                </a:extLst>
              </p:cNvPr>
              <p:cNvSpPr>
                <a:spLocks noGrp="1" noRot="1" noChangeAspect="1" noMove="1" noResize="1" noEditPoints="1" noAdjustHandles="1" noChangeArrowheads="1" noChangeShapeType="1" noTextEdit="1"/>
              </p:cNvSpPr>
              <p:nvPr>
                <p:ph idx="1"/>
              </p:nvPr>
            </p:nvSpPr>
            <p:spPr>
              <a:xfrm>
                <a:off x="838200" y="1690688"/>
                <a:ext cx="10515600" cy="4833118"/>
              </a:xfrm>
              <a:prstGeom prst="rect">
                <a:avLst/>
              </a:prstGeom>
              <a:blipFill>
                <a:blip r:embed="rId2"/>
                <a:stretch>
                  <a:fillRect l="-1206" t="-2094" r="-483" b="-2880"/>
                </a:stretch>
              </a:blipFill>
            </p:spPr>
            <p:txBody>
              <a:bodyPr/>
              <a:lstStyle/>
              <a:p>
                <a:r>
                  <a:rPr lang="en-US">
                    <a:noFill/>
                  </a:rPr>
                  <a:t> </a:t>
                </a:r>
              </a:p>
            </p:txBody>
          </p:sp>
        </mc:Fallback>
      </mc:AlternateContent>
    </p:spTree>
    <p:extLst>
      <p:ext uri="{BB962C8B-B14F-4D97-AF65-F5344CB8AC3E}">
        <p14:creationId xmlns:p14="http://schemas.microsoft.com/office/powerpoint/2010/main" val="462728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3F7F-9889-EB49-BB73-B657C0947FE4}"/>
              </a:ext>
            </a:extLst>
          </p:cNvPr>
          <p:cNvSpPr>
            <a:spLocks noGrp="1"/>
          </p:cNvSpPr>
          <p:nvPr>
            <p:ph type="title"/>
          </p:nvPr>
        </p:nvSpPr>
        <p:spPr/>
        <p:txBody>
          <a:bodyPr/>
          <a:lstStyle/>
          <a:p>
            <a:r>
              <a:rPr lang="en-US" dirty="0"/>
              <a:t>On to Table 2…</a:t>
            </a:r>
          </a:p>
        </p:txBody>
      </p:sp>
      <p:pic>
        <p:nvPicPr>
          <p:cNvPr id="5" name="Content Placeholder 4" descr="Table&#10;&#10;Description automatically generated">
            <a:extLst>
              <a:ext uri="{FF2B5EF4-FFF2-40B4-BE49-F238E27FC236}">
                <a16:creationId xmlns:a16="http://schemas.microsoft.com/office/drawing/2014/main" id="{C9B35F46-B2DA-E74A-9490-B3D007822972}"/>
              </a:ext>
            </a:extLst>
          </p:cNvPr>
          <p:cNvPicPr>
            <a:picLocks noGrp="1" noChangeAspect="1"/>
          </p:cNvPicPr>
          <p:nvPr>
            <p:ph idx="1"/>
          </p:nvPr>
        </p:nvPicPr>
        <p:blipFill>
          <a:blip r:embed="rId2"/>
          <a:stretch>
            <a:fillRect/>
          </a:stretch>
        </p:blipFill>
        <p:spPr>
          <a:xfrm>
            <a:off x="701720" y="1690688"/>
            <a:ext cx="6427845" cy="5033962"/>
          </a:xfrm>
        </p:spPr>
      </p:pic>
      <p:cxnSp>
        <p:nvCxnSpPr>
          <p:cNvPr id="10" name="Straight Arrow Connector 9">
            <a:extLst>
              <a:ext uri="{FF2B5EF4-FFF2-40B4-BE49-F238E27FC236}">
                <a16:creationId xmlns:a16="http://schemas.microsoft.com/office/drawing/2014/main" id="{1D7D7AB7-67CE-2D46-B17C-31DE8089E8AB}"/>
              </a:ext>
            </a:extLst>
          </p:cNvPr>
          <p:cNvCxnSpPr>
            <a:cxnSpLocks/>
          </p:cNvCxnSpPr>
          <p:nvPr/>
        </p:nvCxnSpPr>
        <p:spPr>
          <a:xfrm flipH="1">
            <a:off x="5199797" y="1911826"/>
            <a:ext cx="2066248" cy="1517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87DA8E-FCE2-324F-97A1-FB93ADC6DA13}"/>
                  </a:ext>
                </a:extLst>
              </p:cNvPr>
              <p:cNvSpPr txBox="1"/>
              <p:nvPr/>
            </p:nvSpPr>
            <p:spPr>
              <a:xfrm>
                <a:off x="7224481" y="1529549"/>
                <a:ext cx="5074851" cy="718466"/>
              </a:xfrm>
              <a:prstGeom prst="rect">
                <a:avLst/>
              </a:prstGeom>
              <a:noFill/>
            </p:spPr>
            <p:txBody>
              <a:bodyPr wrap="none" rtlCol="0">
                <a:spAutoFit/>
              </a:bodyPr>
              <a:lstStyle/>
              <a:p>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r>
                      <a:rPr lang="en-US" sz="2600" b="0" i="1" smtClean="0">
                        <a:solidFill>
                          <a:schemeClr val="accent2"/>
                        </a:solidFill>
                        <a:latin typeface="Cambria Math" panose="02040503050406030204" pitchFamily="18" charset="0"/>
                      </a:rPr>
                      <m:t>/</m:t>
                    </m:r>
                    <m:f>
                      <m:fPr>
                        <m:ctrlPr>
                          <a:rPr lang="en-US" sz="2600" b="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oMath>
                </a14:m>
                <a:r>
                  <a:rPr lang="en-US" sz="2600" dirty="0">
                    <a:solidFill>
                      <a:schemeClr val="accent2"/>
                    </a:solidFill>
                  </a:rPr>
                  <a:t>  - 1</a:t>
                </a:r>
              </a:p>
            </p:txBody>
          </p:sp>
        </mc:Choice>
        <mc:Fallback xmlns="">
          <p:sp>
            <p:nvSpPr>
              <p:cNvPr id="13" name="TextBox 12">
                <a:extLst>
                  <a:ext uri="{FF2B5EF4-FFF2-40B4-BE49-F238E27FC236}">
                    <a16:creationId xmlns:a16="http://schemas.microsoft.com/office/drawing/2014/main" id="{F287DA8E-FCE2-324F-97A1-FB93ADC6DA13}"/>
                  </a:ext>
                </a:extLst>
              </p:cNvPr>
              <p:cNvSpPr txBox="1">
                <a:spLocks noRot="1" noChangeAspect="1" noMove="1" noResize="1" noEditPoints="1" noAdjustHandles="1" noChangeArrowheads="1" noChangeShapeType="1" noTextEdit="1"/>
              </p:cNvSpPr>
              <p:nvPr/>
            </p:nvSpPr>
            <p:spPr>
              <a:xfrm>
                <a:off x="7224481" y="1529549"/>
                <a:ext cx="5074851" cy="718466"/>
              </a:xfrm>
              <a:prstGeom prst="rect">
                <a:avLst/>
              </a:prstGeom>
              <a:blipFill>
                <a:blip r:embed="rId3"/>
                <a:stretch>
                  <a:fillRect r="-998" b="-8621"/>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6447F117-8323-CA4C-92C8-CE75A6C1305D}"/>
              </a:ext>
            </a:extLst>
          </p:cNvPr>
          <p:cNvSpPr txBox="1"/>
          <p:nvPr/>
        </p:nvSpPr>
        <p:spPr>
          <a:xfrm>
            <a:off x="7763907" y="1058749"/>
            <a:ext cx="1080745" cy="523220"/>
          </a:xfrm>
          <a:prstGeom prst="rect">
            <a:avLst/>
          </a:prstGeom>
          <a:noFill/>
        </p:spPr>
        <p:txBody>
          <a:bodyPr wrap="none" rtlCol="0">
            <a:spAutoFit/>
          </a:bodyPr>
          <a:lstStyle/>
          <a:p>
            <a:r>
              <a:rPr lang="en-US" sz="2800" dirty="0"/>
              <a:t>6.86%</a:t>
            </a:r>
          </a:p>
        </p:txBody>
      </p:sp>
      <p:sp>
        <p:nvSpPr>
          <p:cNvPr id="15" name="TextBox 14">
            <a:extLst>
              <a:ext uri="{FF2B5EF4-FFF2-40B4-BE49-F238E27FC236}">
                <a16:creationId xmlns:a16="http://schemas.microsoft.com/office/drawing/2014/main" id="{264BE0BF-A5F9-EA4F-BCC2-2817B35D6ADC}"/>
              </a:ext>
            </a:extLst>
          </p:cNvPr>
          <p:cNvSpPr txBox="1"/>
          <p:nvPr/>
        </p:nvSpPr>
        <p:spPr>
          <a:xfrm>
            <a:off x="10252087" y="1058749"/>
            <a:ext cx="1313192" cy="523220"/>
          </a:xfrm>
          <a:prstGeom prst="rect">
            <a:avLst/>
          </a:prstGeom>
          <a:noFill/>
        </p:spPr>
        <p:txBody>
          <a:bodyPr wrap="square" rtlCol="0">
            <a:spAutoFit/>
          </a:bodyPr>
          <a:lstStyle/>
          <a:p>
            <a:r>
              <a:rPr lang="en-US" sz="2800" dirty="0"/>
              <a:t>0.86%</a:t>
            </a:r>
          </a:p>
        </p:txBody>
      </p:sp>
    </p:spTree>
    <p:extLst>
      <p:ext uri="{BB962C8B-B14F-4D97-AF65-F5344CB8AC3E}">
        <p14:creationId xmlns:p14="http://schemas.microsoft.com/office/powerpoint/2010/main" val="2637098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3F7F-9889-EB49-BB73-B657C0947FE4}"/>
              </a:ext>
            </a:extLst>
          </p:cNvPr>
          <p:cNvSpPr>
            <a:spLocks noGrp="1"/>
          </p:cNvSpPr>
          <p:nvPr>
            <p:ph type="title"/>
          </p:nvPr>
        </p:nvSpPr>
        <p:spPr/>
        <p:txBody>
          <a:bodyPr/>
          <a:lstStyle/>
          <a:p>
            <a:r>
              <a:rPr lang="en-US" dirty="0"/>
              <a:t>On to Table 2…</a:t>
            </a:r>
          </a:p>
        </p:txBody>
      </p:sp>
      <p:pic>
        <p:nvPicPr>
          <p:cNvPr id="5" name="Content Placeholder 4" descr="Table&#10;&#10;Description automatically generated">
            <a:extLst>
              <a:ext uri="{FF2B5EF4-FFF2-40B4-BE49-F238E27FC236}">
                <a16:creationId xmlns:a16="http://schemas.microsoft.com/office/drawing/2014/main" id="{C9B35F46-B2DA-E74A-9490-B3D007822972}"/>
              </a:ext>
            </a:extLst>
          </p:cNvPr>
          <p:cNvPicPr>
            <a:picLocks noGrp="1" noChangeAspect="1"/>
          </p:cNvPicPr>
          <p:nvPr>
            <p:ph idx="1"/>
          </p:nvPr>
        </p:nvPicPr>
        <p:blipFill>
          <a:blip r:embed="rId2"/>
          <a:stretch>
            <a:fillRect/>
          </a:stretch>
        </p:blipFill>
        <p:spPr>
          <a:xfrm>
            <a:off x="701720" y="1690688"/>
            <a:ext cx="6427845" cy="5033962"/>
          </a:xfrm>
        </p:spPr>
      </p:pic>
      <p:cxnSp>
        <p:nvCxnSpPr>
          <p:cNvPr id="10" name="Straight Arrow Connector 9">
            <a:extLst>
              <a:ext uri="{FF2B5EF4-FFF2-40B4-BE49-F238E27FC236}">
                <a16:creationId xmlns:a16="http://schemas.microsoft.com/office/drawing/2014/main" id="{1D7D7AB7-67CE-2D46-B17C-31DE8089E8AB}"/>
              </a:ext>
            </a:extLst>
          </p:cNvPr>
          <p:cNvCxnSpPr>
            <a:cxnSpLocks/>
          </p:cNvCxnSpPr>
          <p:nvPr/>
        </p:nvCxnSpPr>
        <p:spPr>
          <a:xfrm flipH="1">
            <a:off x="5199797" y="1911826"/>
            <a:ext cx="2066248" cy="1517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87DA8E-FCE2-324F-97A1-FB93ADC6DA13}"/>
                  </a:ext>
                </a:extLst>
              </p:cNvPr>
              <p:cNvSpPr txBox="1"/>
              <p:nvPr/>
            </p:nvSpPr>
            <p:spPr>
              <a:xfrm>
                <a:off x="7224481" y="1529549"/>
                <a:ext cx="5074851" cy="718466"/>
              </a:xfrm>
              <a:prstGeom prst="rect">
                <a:avLst/>
              </a:prstGeom>
              <a:noFill/>
            </p:spPr>
            <p:txBody>
              <a:bodyPr wrap="none" rtlCol="0">
                <a:spAutoFit/>
              </a:bodyPr>
              <a:lstStyle/>
              <a:p>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r>
                      <a:rPr lang="en-US" sz="2600" b="0" i="1" smtClean="0">
                        <a:solidFill>
                          <a:schemeClr val="accent2"/>
                        </a:solidFill>
                        <a:latin typeface="Cambria Math" panose="02040503050406030204" pitchFamily="18" charset="0"/>
                      </a:rPr>
                      <m:t>/</m:t>
                    </m:r>
                    <m:f>
                      <m:fPr>
                        <m:ctrlPr>
                          <a:rPr lang="en-US" sz="2600" b="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oMath>
                </a14:m>
                <a:r>
                  <a:rPr lang="en-US" sz="2600" dirty="0">
                    <a:solidFill>
                      <a:schemeClr val="accent2"/>
                    </a:solidFill>
                  </a:rPr>
                  <a:t>  - 1</a:t>
                </a:r>
              </a:p>
            </p:txBody>
          </p:sp>
        </mc:Choice>
        <mc:Fallback xmlns="">
          <p:sp>
            <p:nvSpPr>
              <p:cNvPr id="13" name="TextBox 12">
                <a:extLst>
                  <a:ext uri="{FF2B5EF4-FFF2-40B4-BE49-F238E27FC236}">
                    <a16:creationId xmlns:a16="http://schemas.microsoft.com/office/drawing/2014/main" id="{F287DA8E-FCE2-324F-97A1-FB93ADC6DA13}"/>
                  </a:ext>
                </a:extLst>
              </p:cNvPr>
              <p:cNvSpPr txBox="1">
                <a:spLocks noRot="1" noChangeAspect="1" noMove="1" noResize="1" noEditPoints="1" noAdjustHandles="1" noChangeArrowheads="1" noChangeShapeType="1" noTextEdit="1"/>
              </p:cNvSpPr>
              <p:nvPr/>
            </p:nvSpPr>
            <p:spPr>
              <a:xfrm>
                <a:off x="7224481" y="1529549"/>
                <a:ext cx="5074851" cy="718466"/>
              </a:xfrm>
              <a:prstGeom prst="rect">
                <a:avLst/>
              </a:prstGeom>
              <a:blipFill>
                <a:blip r:embed="rId3"/>
                <a:stretch>
                  <a:fillRect r="-998" b="-8621"/>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6447F117-8323-CA4C-92C8-CE75A6C1305D}"/>
              </a:ext>
            </a:extLst>
          </p:cNvPr>
          <p:cNvSpPr txBox="1"/>
          <p:nvPr/>
        </p:nvSpPr>
        <p:spPr>
          <a:xfrm>
            <a:off x="7763907" y="1058749"/>
            <a:ext cx="1080745" cy="523220"/>
          </a:xfrm>
          <a:prstGeom prst="rect">
            <a:avLst/>
          </a:prstGeom>
          <a:noFill/>
        </p:spPr>
        <p:txBody>
          <a:bodyPr wrap="none" rtlCol="0">
            <a:spAutoFit/>
          </a:bodyPr>
          <a:lstStyle/>
          <a:p>
            <a:r>
              <a:rPr lang="en-US" sz="2800" dirty="0"/>
              <a:t>6.86%</a:t>
            </a:r>
          </a:p>
        </p:txBody>
      </p:sp>
      <p:sp>
        <p:nvSpPr>
          <p:cNvPr id="15" name="TextBox 14">
            <a:extLst>
              <a:ext uri="{FF2B5EF4-FFF2-40B4-BE49-F238E27FC236}">
                <a16:creationId xmlns:a16="http://schemas.microsoft.com/office/drawing/2014/main" id="{264BE0BF-A5F9-EA4F-BCC2-2817B35D6ADC}"/>
              </a:ext>
            </a:extLst>
          </p:cNvPr>
          <p:cNvSpPr txBox="1"/>
          <p:nvPr/>
        </p:nvSpPr>
        <p:spPr>
          <a:xfrm>
            <a:off x="10252087" y="1058749"/>
            <a:ext cx="1313192" cy="523220"/>
          </a:xfrm>
          <a:prstGeom prst="rect">
            <a:avLst/>
          </a:prstGeom>
          <a:noFill/>
        </p:spPr>
        <p:txBody>
          <a:bodyPr wrap="square" rtlCol="0">
            <a:spAutoFit/>
          </a:bodyPr>
          <a:lstStyle/>
          <a:p>
            <a:r>
              <a:rPr lang="en-US" sz="2800" dirty="0"/>
              <a:t>0.86%</a:t>
            </a:r>
          </a:p>
        </p:txBody>
      </p:sp>
      <p:sp>
        <p:nvSpPr>
          <p:cNvPr id="4" name="TextBox 3">
            <a:extLst>
              <a:ext uri="{FF2B5EF4-FFF2-40B4-BE49-F238E27FC236}">
                <a16:creationId xmlns:a16="http://schemas.microsoft.com/office/drawing/2014/main" id="{B07A0944-0A98-9E46-A759-707BFFB20C0E}"/>
              </a:ext>
            </a:extLst>
          </p:cNvPr>
          <p:cNvSpPr txBox="1"/>
          <p:nvPr/>
        </p:nvSpPr>
        <p:spPr>
          <a:xfrm>
            <a:off x="7129565" y="2521059"/>
            <a:ext cx="4797096" cy="1815882"/>
          </a:xfrm>
          <a:prstGeom prst="rect">
            <a:avLst/>
          </a:prstGeom>
          <a:noFill/>
        </p:spPr>
        <p:txBody>
          <a:bodyPr wrap="square" rtlCol="0">
            <a:spAutoFit/>
          </a:bodyPr>
          <a:lstStyle/>
          <a:p>
            <a:r>
              <a:rPr lang="en-US" sz="2800" b="1" dirty="0"/>
              <a:t>Interpretation</a:t>
            </a:r>
            <a:r>
              <a:rPr lang="en-US" sz="2800" dirty="0"/>
              <a:t>: in majority white districts, white applicants are nearly 8x more likely to be insiders than black applicants.</a:t>
            </a:r>
          </a:p>
        </p:txBody>
      </p:sp>
    </p:spTree>
    <p:extLst>
      <p:ext uri="{BB962C8B-B14F-4D97-AF65-F5344CB8AC3E}">
        <p14:creationId xmlns:p14="http://schemas.microsoft.com/office/powerpoint/2010/main" val="2037916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3F7F-9889-EB49-BB73-B657C0947FE4}"/>
              </a:ext>
            </a:extLst>
          </p:cNvPr>
          <p:cNvSpPr>
            <a:spLocks noGrp="1"/>
          </p:cNvSpPr>
          <p:nvPr>
            <p:ph type="title"/>
          </p:nvPr>
        </p:nvSpPr>
        <p:spPr/>
        <p:txBody>
          <a:bodyPr/>
          <a:lstStyle/>
          <a:p>
            <a:r>
              <a:rPr lang="en-US" dirty="0"/>
              <a:t>On to Table 2…</a:t>
            </a:r>
          </a:p>
        </p:txBody>
      </p:sp>
      <p:pic>
        <p:nvPicPr>
          <p:cNvPr id="5" name="Content Placeholder 4" descr="Table&#10;&#10;Description automatically generated">
            <a:extLst>
              <a:ext uri="{FF2B5EF4-FFF2-40B4-BE49-F238E27FC236}">
                <a16:creationId xmlns:a16="http://schemas.microsoft.com/office/drawing/2014/main" id="{C9B35F46-B2DA-E74A-9490-B3D007822972}"/>
              </a:ext>
            </a:extLst>
          </p:cNvPr>
          <p:cNvPicPr>
            <a:picLocks noGrp="1" noChangeAspect="1"/>
          </p:cNvPicPr>
          <p:nvPr>
            <p:ph idx="1"/>
          </p:nvPr>
        </p:nvPicPr>
        <p:blipFill>
          <a:blip r:embed="rId2"/>
          <a:stretch>
            <a:fillRect/>
          </a:stretch>
        </p:blipFill>
        <p:spPr>
          <a:xfrm>
            <a:off x="701720" y="1690688"/>
            <a:ext cx="6427845" cy="5033962"/>
          </a:xfrm>
        </p:spPr>
      </p:pic>
      <p:cxnSp>
        <p:nvCxnSpPr>
          <p:cNvPr id="10" name="Straight Arrow Connector 9">
            <a:extLst>
              <a:ext uri="{FF2B5EF4-FFF2-40B4-BE49-F238E27FC236}">
                <a16:creationId xmlns:a16="http://schemas.microsoft.com/office/drawing/2014/main" id="{1D7D7AB7-67CE-2D46-B17C-31DE8089E8AB}"/>
              </a:ext>
            </a:extLst>
          </p:cNvPr>
          <p:cNvCxnSpPr>
            <a:cxnSpLocks/>
          </p:cNvCxnSpPr>
          <p:nvPr/>
        </p:nvCxnSpPr>
        <p:spPr>
          <a:xfrm flipH="1">
            <a:off x="5199797" y="1911826"/>
            <a:ext cx="2066248" cy="1517174"/>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87DA8E-FCE2-324F-97A1-FB93ADC6DA13}"/>
                  </a:ext>
                </a:extLst>
              </p:cNvPr>
              <p:cNvSpPr txBox="1"/>
              <p:nvPr/>
            </p:nvSpPr>
            <p:spPr>
              <a:xfrm>
                <a:off x="7224481" y="1529549"/>
                <a:ext cx="5074851" cy="718466"/>
              </a:xfrm>
              <a:prstGeom prst="rect">
                <a:avLst/>
              </a:prstGeom>
              <a:noFill/>
            </p:spPr>
            <p:txBody>
              <a:bodyPr wrap="none" rtlCol="0">
                <a:spAutoFit/>
              </a:bodyPr>
              <a:lstStyle/>
              <a:p>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r>
                      <a:rPr lang="en-US" sz="2600" b="0" i="1" smtClean="0">
                        <a:solidFill>
                          <a:schemeClr val="accent2"/>
                        </a:solidFill>
                        <a:latin typeface="Cambria Math" panose="02040503050406030204" pitchFamily="18" charset="0"/>
                      </a:rPr>
                      <m:t>/</m:t>
                    </m:r>
                    <m:f>
                      <m:fPr>
                        <m:ctrlPr>
                          <a:rPr lang="en-US" sz="2600" b="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𝐵𝑙𝑎𝑐𝑘</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𝐴𝑝𝑝𝑙𝑖𝑐𝑎𝑛𝑡𝑠</m:t>
                        </m:r>
                      </m:den>
                    </m:f>
                  </m:oMath>
                </a14:m>
                <a:r>
                  <a:rPr lang="en-US" sz="2600" dirty="0">
                    <a:solidFill>
                      <a:schemeClr val="accent2"/>
                    </a:solidFill>
                  </a:rPr>
                  <a:t>  - 1</a:t>
                </a:r>
              </a:p>
            </p:txBody>
          </p:sp>
        </mc:Choice>
        <mc:Fallback xmlns="">
          <p:sp>
            <p:nvSpPr>
              <p:cNvPr id="13" name="TextBox 12">
                <a:extLst>
                  <a:ext uri="{FF2B5EF4-FFF2-40B4-BE49-F238E27FC236}">
                    <a16:creationId xmlns:a16="http://schemas.microsoft.com/office/drawing/2014/main" id="{F287DA8E-FCE2-324F-97A1-FB93ADC6DA13}"/>
                  </a:ext>
                </a:extLst>
              </p:cNvPr>
              <p:cNvSpPr txBox="1">
                <a:spLocks noRot="1" noChangeAspect="1" noMove="1" noResize="1" noEditPoints="1" noAdjustHandles="1" noChangeArrowheads="1" noChangeShapeType="1" noTextEdit="1"/>
              </p:cNvSpPr>
              <p:nvPr/>
            </p:nvSpPr>
            <p:spPr>
              <a:xfrm>
                <a:off x="7224481" y="1529549"/>
                <a:ext cx="5074851" cy="718466"/>
              </a:xfrm>
              <a:prstGeom prst="rect">
                <a:avLst/>
              </a:prstGeom>
              <a:blipFill>
                <a:blip r:embed="rId3"/>
                <a:stretch>
                  <a:fillRect r="-998" b="-8621"/>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6447F117-8323-CA4C-92C8-CE75A6C1305D}"/>
              </a:ext>
            </a:extLst>
          </p:cNvPr>
          <p:cNvSpPr txBox="1"/>
          <p:nvPr/>
        </p:nvSpPr>
        <p:spPr>
          <a:xfrm>
            <a:off x="7763907" y="1058749"/>
            <a:ext cx="1080745" cy="523220"/>
          </a:xfrm>
          <a:prstGeom prst="rect">
            <a:avLst/>
          </a:prstGeom>
          <a:noFill/>
        </p:spPr>
        <p:txBody>
          <a:bodyPr wrap="none" rtlCol="0">
            <a:spAutoFit/>
          </a:bodyPr>
          <a:lstStyle/>
          <a:p>
            <a:r>
              <a:rPr lang="en-US" sz="2800" dirty="0"/>
              <a:t>6.86%</a:t>
            </a:r>
          </a:p>
        </p:txBody>
      </p:sp>
      <p:sp>
        <p:nvSpPr>
          <p:cNvPr id="15" name="TextBox 14">
            <a:extLst>
              <a:ext uri="{FF2B5EF4-FFF2-40B4-BE49-F238E27FC236}">
                <a16:creationId xmlns:a16="http://schemas.microsoft.com/office/drawing/2014/main" id="{264BE0BF-A5F9-EA4F-BCC2-2817B35D6ADC}"/>
              </a:ext>
            </a:extLst>
          </p:cNvPr>
          <p:cNvSpPr txBox="1"/>
          <p:nvPr/>
        </p:nvSpPr>
        <p:spPr>
          <a:xfrm>
            <a:off x="10252087" y="1058749"/>
            <a:ext cx="1313192" cy="523220"/>
          </a:xfrm>
          <a:prstGeom prst="rect">
            <a:avLst/>
          </a:prstGeom>
          <a:noFill/>
        </p:spPr>
        <p:txBody>
          <a:bodyPr wrap="square" rtlCol="0">
            <a:spAutoFit/>
          </a:bodyPr>
          <a:lstStyle/>
          <a:p>
            <a:r>
              <a:rPr lang="en-US" sz="2800" dirty="0"/>
              <a:t>0.86%</a:t>
            </a:r>
          </a:p>
        </p:txBody>
      </p:sp>
      <p:sp>
        <p:nvSpPr>
          <p:cNvPr id="4" name="TextBox 3">
            <a:extLst>
              <a:ext uri="{FF2B5EF4-FFF2-40B4-BE49-F238E27FC236}">
                <a16:creationId xmlns:a16="http://schemas.microsoft.com/office/drawing/2014/main" id="{B07A0944-0A98-9E46-A759-707BFFB20C0E}"/>
              </a:ext>
            </a:extLst>
          </p:cNvPr>
          <p:cNvSpPr txBox="1"/>
          <p:nvPr/>
        </p:nvSpPr>
        <p:spPr>
          <a:xfrm>
            <a:off x="7129565" y="2521059"/>
            <a:ext cx="4797096" cy="1815882"/>
          </a:xfrm>
          <a:prstGeom prst="rect">
            <a:avLst/>
          </a:prstGeom>
          <a:noFill/>
        </p:spPr>
        <p:txBody>
          <a:bodyPr wrap="square" rtlCol="0">
            <a:spAutoFit/>
          </a:bodyPr>
          <a:lstStyle/>
          <a:p>
            <a:r>
              <a:rPr lang="en-US" sz="2800" b="1" dirty="0"/>
              <a:t>Interpretation</a:t>
            </a:r>
            <a:r>
              <a:rPr lang="en-US" sz="2800" dirty="0"/>
              <a:t>: in majority white districts, white applicants are nearly 8x more likely to be insiders than black applicants.</a:t>
            </a:r>
          </a:p>
        </p:txBody>
      </p:sp>
      <p:sp>
        <p:nvSpPr>
          <p:cNvPr id="7" name="Rectangle 6">
            <a:extLst>
              <a:ext uri="{FF2B5EF4-FFF2-40B4-BE49-F238E27FC236}">
                <a16:creationId xmlns:a16="http://schemas.microsoft.com/office/drawing/2014/main" id="{D59CFD1C-DCAE-394E-A372-9CE93BF4DDA1}"/>
              </a:ext>
            </a:extLst>
          </p:cNvPr>
          <p:cNvSpPr/>
          <p:nvPr/>
        </p:nvSpPr>
        <p:spPr>
          <a:xfrm>
            <a:off x="7129565" y="4477881"/>
            <a:ext cx="5174963" cy="2246769"/>
          </a:xfrm>
          <a:prstGeom prst="rect">
            <a:avLst/>
          </a:prstGeom>
        </p:spPr>
        <p:txBody>
          <a:bodyPr wrap="square">
            <a:spAutoFit/>
          </a:bodyPr>
          <a:lstStyle/>
          <a:p>
            <a:r>
              <a:rPr lang="en-US" sz="2800" dirty="0"/>
              <a:t>Observations:</a:t>
            </a:r>
          </a:p>
          <a:p>
            <a:r>
              <a:rPr lang="en-US" sz="2800" dirty="0"/>
              <a:t>Confusing way to present data!</a:t>
            </a:r>
          </a:p>
          <a:p>
            <a:r>
              <a:rPr lang="en-US" sz="2800" dirty="0"/>
              <a:t>1.   No incorporation of </a:t>
            </a:r>
            <a:r>
              <a:rPr lang="en-US" sz="2800" b="1" dirty="0">
                <a:solidFill>
                  <a:schemeClr val="accent1"/>
                </a:solidFill>
              </a:rPr>
              <a:t>outcomes</a:t>
            </a:r>
          </a:p>
          <a:p>
            <a:pPr marL="514350" indent="-514350">
              <a:buAutoNum type="arabicPeriod" startAt="3"/>
            </a:pPr>
            <a:r>
              <a:rPr lang="en-US" sz="2800" dirty="0"/>
              <a:t>Numbers would be identical      </a:t>
            </a:r>
            <a:r>
              <a:rPr lang="en-US" sz="2800" b="1" dirty="0">
                <a:solidFill>
                  <a:schemeClr val="accent6"/>
                </a:solidFill>
              </a:rPr>
              <a:t>without</a:t>
            </a:r>
            <a:r>
              <a:rPr lang="en-US" sz="2800" dirty="0"/>
              <a:t> CP.  </a:t>
            </a:r>
          </a:p>
        </p:txBody>
      </p:sp>
    </p:spTree>
    <p:extLst>
      <p:ext uri="{BB962C8B-B14F-4D97-AF65-F5344CB8AC3E}">
        <p14:creationId xmlns:p14="http://schemas.microsoft.com/office/powerpoint/2010/main" val="641280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616D3-07F1-ED44-A68E-16DE2FB8F9F8}"/>
              </a:ext>
            </a:extLst>
          </p:cNvPr>
          <p:cNvSpPr>
            <a:spLocks noGrp="1"/>
          </p:cNvSpPr>
          <p:nvPr>
            <p:ph type="title"/>
          </p:nvPr>
        </p:nvSpPr>
        <p:spPr>
          <a:xfrm>
            <a:off x="639739" y="378549"/>
            <a:ext cx="10912522" cy="1325563"/>
          </a:xfrm>
        </p:spPr>
        <p:txBody>
          <a:bodyPr>
            <a:normAutofit/>
          </a:bodyPr>
          <a:lstStyle/>
          <a:p>
            <a:r>
              <a:rPr lang="en-US" sz="3800" dirty="0"/>
              <a:t>Beveridge’s </a:t>
            </a:r>
            <a:br>
              <a:rPr lang="en-US" sz="3800" dirty="0"/>
            </a:br>
            <a:r>
              <a:rPr lang="en-US" sz="3800" dirty="0"/>
              <a:t>“second method of assessing CP disparate impact”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1D75BB-0544-0C49-B4D9-816F34547711}"/>
                  </a:ext>
                </a:extLst>
              </p:cNvPr>
              <p:cNvSpPr>
                <a:spLocks noGrp="1"/>
              </p:cNvSpPr>
              <p:nvPr>
                <p:ph idx="1"/>
              </p:nvPr>
            </p:nvSpPr>
            <p:spPr>
              <a:xfrm>
                <a:off x="7270242" y="2326387"/>
                <a:ext cx="4743450" cy="827704"/>
              </a:xfrm>
            </p:spPr>
            <p:txBody>
              <a:bodyPr/>
              <a:lstStyle/>
              <a:p>
                <a:pPr marL="0" indent="0">
                  <a:buNone/>
                </a:pP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den>
                    </m:f>
                  </m:oMath>
                </a14:m>
                <a:r>
                  <a:rPr lang="en-US" sz="2600" dirty="0">
                    <a:solidFill>
                      <a:schemeClr val="accent2"/>
                    </a:solidFill>
                  </a:rPr>
                  <a:t> / </a:t>
                </a: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den>
                    </m:f>
                  </m:oMath>
                </a14:m>
                <a:r>
                  <a:rPr lang="en-US" sz="2600" dirty="0">
                    <a:solidFill>
                      <a:schemeClr val="accent2"/>
                    </a:solidFill>
                  </a:rPr>
                  <a:t> - 1</a:t>
                </a:r>
              </a:p>
            </p:txBody>
          </p:sp>
        </mc:Choice>
        <mc:Fallback xmlns="">
          <p:sp>
            <p:nvSpPr>
              <p:cNvPr id="3" name="Content Placeholder 2">
                <a:extLst>
                  <a:ext uri="{FF2B5EF4-FFF2-40B4-BE49-F238E27FC236}">
                    <a16:creationId xmlns:a16="http://schemas.microsoft.com/office/drawing/2014/main" id="{0A1D75BB-0544-0C49-B4D9-816F34547711}"/>
                  </a:ext>
                </a:extLst>
              </p:cNvPr>
              <p:cNvSpPr>
                <a:spLocks noGrp="1" noRot="1" noChangeAspect="1" noMove="1" noResize="1" noEditPoints="1" noAdjustHandles="1" noChangeArrowheads="1" noChangeShapeType="1" noTextEdit="1"/>
              </p:cNvSpPr>
              <p:nvPr>
                <p:ph idx="1"/>
              </p:nvPr>
            </p:nvSpPr>
            <p:spPr>
              <a:xfrm>
                <a:off x="7270242" y="2326387"/>
                <a:ext cx="4743450" cy="827704"/>
              </a:xfrm>
              <a:blipFill>
                <a:blip r:embed="rId2"/>
                <a:stretch>
                  <a:fillRect t="-4545"/>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53DE17AD-C176-E84D-9607-C675F0F165EA}"/>
              </a:ext>
            </a:extLst>
          </p:cNvPr>
          <p:cNvPicPr>
            <a:picLocks noChangeAspect="1"/>
          </p:cNvPicPr>
          <p:nvPr/>
        </p:nvPicPr>
        <p:blipFill>
          <a:blip r:embed="rId3"/>
          <a:stretch>
            <a:fillRect/>
          </a:stretch>
        </p:blipFill>
        <p:spPr>
          <a:xfrm>
            <a:off x="0" y="1750028"/>
            <a:ext cx="7255424" cy="5107972"/>
          </a:xfrm>
          <a:prstGeom prst="rect">
            <a:avLst/>
          </a:prstGeom>
        </p:spPr>
      </p:pic>
      <p:cxnSp>
        <p:nvCxnSpPr>
          <p:cNvPr id="5" name="Straight Arrow Connector 4">
            <a:extLst>
              <a:ext uri="{FF2B5EF4-FFF2-40B4-BE49-F238E27FC236}">
                <a16:creationId xmlns:a16="http://schemas.microsoft.com/office/drawing/2014/main" id="{C746C9C9-7AEC-CA4B-81A7-E953C09DBC73}"/>
              </a:ext>
            </a:extLst>
          </p:cNvPr>
          <p:cNvCxnSpPr>
            <a:cxnSpLocks/>
          </p:cNvCxnSpPr>
          <p:nvPr/>
        </p:nvCxnSpPr>
        <p:spPr>
          <a:xfrm flipH="1">
            <a:off x="3686654" y="2793042"/>
            <a:ext cx="3568770" cy="36104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BCECD-35D4-CB44-8A87-EE3715CE6F03}"/>
              </a:ext>
            </a:extLst>
          </p:cNvPr>
          <p:cNvSpPr txBox="1"/>
          <p:nvPr/>
        </p:nvSpPr>
        <p:spPr>
          <a:xfrm>
            <a:off x="7608741" y="1751636"/>
            <a:ext cx="3235181" cy="523220"/>
          </a:xfrm>
          <a:prstGeom prst="rect">
            <a:avLst/>
          </a:prstGeom>
          <a:noFill/>
        </p:spPr>
        <p:txBody>
          <a:bodyPr wrap="none" rtlCol="0">
            <a:spAutoFit/>
          </a:bodyPr>
          <a:lstStyle/>
          <a:p>
            <a:r>
              <a:rPr lang="en-US" sz="2800" dirty="0"/>
              <a:t> 26.6%	      9.9%</a:t>
            </a:r>
          </a:p>
        </p:txBody>
      </p:sp>
    </p:spTree>
    <p:extLst>
      <p:ext uri="{BB962C8B-B14F-4D97-AF65-F5344CB8AC3E}">
        <p14:creationId xmlns:p14="http://schemas.microsoft.com/office/powerpoint/2010/main" val="1972502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616D3-07F1-ED44-A68E-16DE2FB8F9F8}"/>
              </a:ext>
            </a:extLst>
          </p:cNvPr>
          <p:cNvSpPr>
            <a:spLocks noGrp="1"/>
          </p:cNvSpPr>
          <p:nvPr>
            <p:ph type="title"/>
          </p:nvPr>
        </p:nvSpPr>
        <p:spPr>
          <a:xfrm>
            <a:off x="639739" y="378549"/>
            <a:ext cx="10912522" cy="1325563"/>
          </a:xfrm>
        </p:spPr>
        <p:txBody>
          <a:bodyPr>
            <a:normAutofit/>
          </a:bodyPr>
          <a:lstStyle/>
          <a:p>
            <a:r>
              <a:rPr lang="en-US" sz="3800" dirty="0"/>
              <a:t>Beveridge’s </a:t>
            </a:r>
            <a:br>
              <a:rPr lang="en-US" sz="3800" dirty="0"/>
            </a:br>
            <a:r>
              <a:rPr lang="en-US" sz="3800" dirty="0"/>
              <a:t>“second method of assessing CP disparate impact”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1D75BB-0544-0C49-B4D9-816F34547711}"/>
                  </a:ext>
                </a:extLst>
              </p:cNvPr>
              <p:cNvSpPr>
                <a:spLocks noGrp="1"/>
              </p:cNvSpPr>
              <p:nvPr>
                <p:ph idx="1"/>
              </p:nvPr>
            </p:nvSpPr>
            <p:spPr>
              <a:xfrm>
                <a:off x="7270242" y="2326387"/>
                <a:ext cx="4743450" cy="827704"/>
              </a:xfrm>
            </p:spPr>
            <p:txBody>
              <a:bodyPr/>
              <a:lstStyle/>
              <a:p>
                <a:pPr marL="0" indent="0">
                  <a:buNone/>
                </a:pP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den>
                    </m:f>
                  </m:oMath>
                </a14:m>
                <a:r>
                  <a:rPr lang="en-US" sz="2600" dirty="0">
                    <a:solidFill>
                      <a:schemeClr val="accent2"/>
                    </a:solidFill>
                  </a:rPr>
                  <a:t> / </a:t>
                </a: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den>
                    </m:f>
                  </m:oMath>
                </a14:m>
                <a:r>
                  <a:rPr lang="en-US" sz="2600" dirty="0">
                    <a:solidFill>
                      <a:schemeClr val="accent2"/>
                    </a:solidFill>
                  </a:rPr>
                  <a:t> - 1</a:t>
                </a:r>
              </a:p>
            </p:txBody>
          </p:sp>
        </mc:Choice>
        <mc:Fallback xmlns="">
          <p:sp>
            <p:nvSpPr>
              <p:cNvPr id="3" name="Content Placeholder 2">
                <a:extLst>
                  <a:ext uri="{FF2B5EF4-FFF2-40B4-BE49-F238E27FC236}">
                    <a16:creationId xmlns:a16="http://schemas.microsoft.com/office/drawing/2014/main" id="{0A1D75BB-0544-0C49-B4D9-816F34547711}"/>
                  </a:ext>
                </a:extLst>
              </p:cNvPr>
              <p:cNvSpPr>
                <a:spLocks noGrp="1" noRot="1" noChangeAspect="1" noMove="1" noResize="1" noEditPoints="1" noAdjustHandles="1" noChangeArrowheads="1" noChangeShapeType="1" noTextEdit="1"/>
              </p:cNvSpPr>
              <p:nvPr>
                <p:ph idx="1"/>
              </p:nvPr>
            </p:nvSpPr>
            <p:spPr>
              <a:xfrm>
                <a:off x="7270242" y="2326387"/>
                <a:ext cx="4743450" cy="827704"/>
              </a:xfrm>
              <a:blipFill>
                <a:blip r:embed="rId2"/>
                <a:stretch>
                  <a:fillRect t="-4545"/>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53DE17AD-C176-E84D-9607-C675F0F165EA}"/>
              </a:ext>
            </a:extLst>
          </p:cNvPr>
          <p:cNvPicPr>
            <a:picLocks noChangeAspect="1"/>
          </p:cNvPicPr>
          <p:nvPr/>
        </p:nvPicPr>
        <p:blipFill>
          <a:blip r:embed="rId3"/>
          <a:stretch>
            <a:fillRect/>
          </a:stretch>
        </p:blipFill>
        <p:spPr>
          <a:xfrm>
            <a:off x="0" y="1750028"/>
            <a:ext cx="7255424" cy="5107972"/>
          </a:xfrm>
          <a:prstGeom prst="rect">
            <a:avLst/>
          </a:prstGeom>
        </p:spPr>
      </p:pic>
      <p:cxnSp>
        <p:nvCxnSpPr>
          <p:cNvPr id="5" name="Straight Arrow Connector 4">
            <a:extLst>
              <a:ext uri="{FF2B5EF4-FFF2-40B4-BE49-F238E27FC236}">
                <a16:creationId xmlns:a16="http://schemas.microsoft.com/office/drawing/2014/main" id="{C746C9C9-7AEC-CA4B-81A7-E953C09DBC73}"/>
              </a:ext>
            </a:extLst>
          </p:cNvPr>
          <p:cNvCxnSpPr>
            <a:cxnSpLocks/>
          </p:cNvCxnSpPr>
          <p:nvPr/>
        </p:nvCxnSpPr>
        <p:spPr>
          <a:xfrm flipH="1">
            <a:off x="3686654" y="2793042"/>
            <a:ext cx="3568770" cy="36104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BCECD-35D4-CB44-8A87-EE3715CE6F03}"/>
              </a:ext>
            </a:extLst>
          </p:cNvPr>
          <p:cNvSpPr txBox="1"/>
          <p:nvPr/>
        </p:nvSpPr>
        <p:spPr>
          <a:xfrm>
            <a:off x="7608741" y="1751636"/>
            <a:ext cx="3235181" cy="523220"/>
          </a:xfrm>
          <a:prstGeom prst="rect">
            <a:avLst/>
          </a:prstGeom>
          <a:noFill/>
        </p:spPr>
        <p:txBody>
          <a:bodyPr wrap="none" rtlCol="0">
            <a:spAutoFit/>
          </a:bodyPr>
          <a:lstStyle/>
          <a:p>
            <a:r>
              <a:rPr lang="en-US" sz="2800" dirty="0"/>
              <a:t> 26.6%	      9.9%</a:t>
            </a:r>
          </a:p>
        </p:txBody>
      </p:sp>
      <p:sp>
        <p:nvSpPr>
          <p:cNvPr id="9" name="TextBox 8">
            <a:extLst>
              <a:ext uri="{FF2B5EF4-FFF2-40B4-BE49-F238E27FC236}">
                <a16:creationId xmlns:a16="http://schemas.microsoft.com/office/drawing/2014/main" id="{3FF4B4EA-63E4-7D41-A898-74E4820D9DCD}"/>
              </a:ext>
            </a:extLst>
          </p:cNvPr>
          <p:cNvSpPr txBox="1"/>
          <p:nvPr/>
        </p:nvSpPr>
        <p:spPr>
          <a:xfrm>
            <a:off x="7193682" y="3046970"/>
            <a:ext cx="4998318" cy="1384995"/>
          </a:xfrm>
          <a:prstGeom prst="rect">
            <a:avLst/>
          </a:prstGeom>
          <a:noFill/>
        </p:spPr>
        <p:txBody>
          <a:bodyPr wrap="square" rtlCol="0">
            <a:spAutoFit/>
          </a:bodyPr>
          <a:lstStyle/>
          <a:p>
            <a:r>
              <a:rPr lang="en-US" sz="2800" b="1" dirty="0"/>
              <a:t>Interpretation</a:t>
            </a:r>
            <a:r>
              <a:rPr lang="en-US" sz="2800" dirty="0"/>
              <a:t>: in majority white districts, insiders are 2.7x more likely than outsiders to be white.</a:t>
            </a:r>
          </a:p>
        </p:txBody>
      </p:sp>
    </p:spTree>
    <p:extLst>
      <p:ext uri="{BB962C8B-B14F-4D97-AF65-F5344CB8AC3E}">
        <p14:creationId xmlns:p14="http://schemas.microsoft.com/office/powerpoint/2010/main" val="753310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616D3-07F1-ED44-A68E-16DE2FB8F9F8}"/>
              </a:ext>
            </a:extLst>
          </p:cNvPr>
          <p:cNvSpPr>
            <a:spLocks noGrp="1"/>
          </p:cNvSpPr>
          <p:nvPr>
            <p:ph type="title"/>
          </p:nvPr>
        </p:nvSpPr>
        <p:spPr>
          <a:xfrm>
            <a:off x="639739" y="378549"/>
            <a:ext cx="10912522" cy="1325563"/>
          </a:xfrm>
        </p:spPr>
        <p:txBody>
          <a:bodyPr>
            <a:normAutofit/>
          </a:bodyPr>
          <a:lstStyle/>
          <a:p>
            <a:r>
              <a:rPr lang="en-US" sz="3800" dirty="0"/>
              <a:t>Beveridge’s </a:t>
            </a:r>
            <a:br>
              <a:rPr lang="en-US" sz="3800" dirty="0"/>
            </a:br>
            <a:r>
              <a:rPr lang="en-US" sz="3800" dirty="0"/>
              <a:t>“second method of assessing CP disparate impact”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1D75BB-0544-0C49-B4D9-816F34547711}"/>
                  </a:ext>
                </a:extLst>
              </p:cNvPr>
              <p:cNvSpPr>
                <a:spLocks noGrp="1"/>
              </p:cNvSpPr>
              <p:nvPr>
                <p:ph idx="1"/>
              </p:nvPr>
            </p:nvSpPr>
            <p:spPr>
              <a:xfrm>
                <a:off x="7270242" y="2326387"/>
                <a:ext cx="4743450" cy="827704"/>
              </a:xfrm>
            </p:spPr>
            <p:txBody>
              <a:bodyPr/>
              <a:lstStyle/>
              <a:p>
                <a:pPr marL="0" indent="0">
                  <a:buNone/>
                </a:pP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𝐼𝑛𝑠𝑖𝑑𝑒𝑟𝑠</m:t>
                        </m:r>
                      </m:den>
                    </m:f>
                  </m:oMath>
                </a14:m>
                <a:r>
                  <a:rPr lang="en-US" sz="2600" dirty="0">
                    <a:solidFill>
                      <a:schemeClr val="accent2"/>
                    </a:solidFill>
                  </a:rPr>
                  <a:t> / </a:t>
                </a:r>
                <a14:m>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b="0" i="1" smtClean="0">
                            <a:solidFill>
                              <a:schemeClr val="accent2"/>
                            </a:solidFill>
                            <a:latin typeface="Cambria Math" panose="02040503050406030204" pitchFamily="18" charset="0"/>
                          </a:rPr>
                          <m:t>𝑊h𝑖𝑡𝑒</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num>
                      <m:den>
                        <m:r>
                          <a:rPr lang="en-US" sz="2600" b="0" i="1" smtClean="0">
                            <a:solidFill>
                              <a:schemeClr val="accent2"/>
                            </a:solidFill>
                            <a:latin typeface="Cambria Math" panose="02040503050406030204" pitchFamily="18" charset="0"/>
                          </a:rPr>
                          <m:t>𝐴𝑙𝑙</m:t>
                        </m:r>
                        <m:r>
                          <a:rPr lang="en-US" sz="2600" b="0" i="1" smtClean="0">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𝑂𝑢𝑡𝑠𝑖𝑑𝑒𝑟𝑠</m:t>
                        </m:r>
                      </m:den>
                    </m:f>
                  </m:oMath>
                </a14:m>
                <a:r>
                  <a:rPr lang="en-US" sz="2600" dirty="0">
                    <a:solidFill>
                      <a:schemeClr val="accent2"/>
                    </a:solidFill>
                  </a:rPr>
                  <a:t> - 1</a:t>
                </a:r>
              </a:p>
            </p:txBody>
          </p:sp>
        </mc:Choice>
        <mc:Fallback xmlns="">
          <p:sp>
            <p:nvSpPr>
              <p:cNvPr id="3" name="Content Placeholder 2">
                <a:extLst>
                  <a:ext uri="{FF2B5EF4-FFF2-40B4-BE49-F238E27FC236}">
                    <a16:creationId xmlns:a16="http://schemas.microsoft.com/office/drawing/2014/main" id="{0A1D75BB-0544-0C49-B4D9-816F34547711}"/>
                  </a:ext>
                </a:extLst>
              </p:cNvPr>
              <p:cNvSpPr>
                <a:spLocks noGrp="1" noRot="1" noChangeAspect="1" noMove="1" noResize="1" noEditPoints="1" noAdjustHandles="1" noChangeArrowheads="1" noChangeShapeType="1" noTextEdit="1"/>
              </p:cNvSpPr>
              <p:nvPr>
                <p:ph idx="1"/>
              </p:nvPr>
            </p:nvSpPr>
            <p:spPr>
              <a:xfrm>
                <a:off x="7270242" y="2326387"/>
                <a:ext cx="4743450" cy="827704"/>
              </a:xfrm>
              <a:blipFill>
                <a:blip r:embed="rId2"/>
                <a:stretch>
                  <a:fillRect t="-4545"/>
                </a:stretch>
              </a:blipFill>
            </p:spPr>
            <p:txBody>
              <a:bodyPr/>
              <a:lstStyle/>
              <a:p>
                <a:r>
                  <a:rPr lang="en-US">
                    <a:noFill/>
                  </a:rPr>
                  <a:t> </a:t>
                </a:r>
              </a:p>
            </p:txBody>
          </p:sp>
        </mc:Fallback>
      </mc:AlternateContent>
      <p:pic>
        <p:nvPicPr>
          <p:cNvPr id="4" name="Picture 3" descr="Table&#10;&#10;Description automatically generated">
            <a:extLst>
              <a:ext uri="{FF2B5EF4-FFF2-40B4-BE49-F238E27FC236}">
                <a16:creationId xmlns:a16="http://schemas.microsoft.com/office/drawing/2014/main" id="{53DE17AD-C176-E84D-9607-C675F0F165EA}"/>
              </a:ext>
            </a:extLst>
          </p:cNvPr>
          <p:cNvPicPr>
            <a:picLocks noChangeAspect="1"/>
          </p:cNvPicPr>
          <p:nvPr/>
        </p:nvPicPr>
        <p:blipFill>
          <a:blip r:embed="rId3"/>
          <a:stretch>
            <a:fillRect/>
          </a:stretch>
        </p:blipFill>
        <p:spPr>
          <a:xfrm>
            <a:off x="0" y="1750028"/>
            <a:ext cx="7255424" cy="5107972"/>
          </a:xfrm>
          <a:prstGeom prst="rect">
            <a:avLst/>
          </a:prstGeom>
        </p:spPr>
      </p:pic>
      <p:cxnSp>
        <p:nvCxnSpPr>
          <p:cNvPr id="5" name="Straight Arrow Connector 4">
            <a:extLst>
              <a:ext uri="{FF2B5EF4-FFF2-40B4-BE49-F238E27FC236}">
                <a16:creationId xmlns:a16="http://schemas.microsoft.com/office/drawing/2014/main" id="{C746C9C9-7AEC-CA4B-81A7-E953C09DBC73}"/>
              </a:ext>
            </a:extLst>
          </p:cNvPr>
          <p:cNvCxnSpPr>
            <a:cxnSpLocks/>
          </p:cNvCxnSpPr>
          <p:nvPr/>
        </p:nvCxnSpPr>
        <p:spPr>
          <a:xfrm flipH="1">
            <a:off x="3686654" y="2793042"/>
            <a:ext cx="3568770" cy="36104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BCECD-35D4-CB44-8A87-EE3715CE6F03}"/>
              </a:ext>
            </a:extLst>
          </p:cNvPr>
          <p:cNvSpPr txBox="1"/>
          <p:nvPr/>
        </p:nvSpPr>
        <p:spPr>
          <a:xfrm>
            <a:off x="7608741" y="1751636"/>
            <a:ext cx="3235181" cy="523220"/>
          </a:xfrm>
          <a:prstGeom prst="rect">
            <a:avLst/>
          </a:prstGeom>
          <a:noFill/>
        </p:spPr>
        <p:txBody>
          <a:bodyPr wrap="none" rtlCol="0">
            <a:spAutoFit/>
          </a:bodyPr>
          <a:lstStyle/>
          <a:p>
            <a:r>
              <a:rPr lang="en-US" sz="2800" dirty="0"/>
              <a:t> 26.6%	      9.9%</a:t>
            </a:r>
          </a:p>
        </p:txBody>
      </p:sp>
      <p:sp>
        <p:nvSpPr>
          <p:cNvPr id="9" name="TextBox 8">
            <a:extLst>
              <a:ext uri="{FF2B5EF4-FFF2-40B4-BE49-F238E27FC236}">
                <a16:creationId xmlns:a16="http://schemas.microsoft.com/office/drawing/2014/main" id="{3FF4B4EA-63E4-7D41-A898-74E4820D9DCD}"/>
              </a:ext>
            </a:extLst>
          </p:cNvPr>
          <p:cNvSpPr txBox="1"/>
          <p:nvPr/>
        </p:nvSpPr>
        <p:spPr>
          <a:xfrm>
            <a:off x="7193682" y="3046970"/>
            <a:ext cx="4998318" cy="1384995"/>
          </a:xfrm>
          <a:prstGeom prst="rect">
            <a:avLst/>
          </a:prstGeom>
          <a:noFill/>
        </p:spPr>
        <p:txBody>
          <a:bodyPr wrap="square" rtlCol="0">
            <a:spAutoFit/>
          </a:bodyPr>
          <a:lstStyle/>
          <a:p>
            <a:r>
              <a:rPr lang="en-US" sz="2800" b="1" dirty="0"/>
              <a:t>Interpretation</a:t>
            </a:r>
            <a:r>
              <a:rPr lang="en-US" sz="2800" dirty="0"/>
              <a:t>: in majority white districts, insiders are 2.7x more likely than outsiders to be white.</a:t>
            </a:r>
          </a:p>
        </p:txBody>
      </p:sp>
      <p:sp>
        <p:nvSpPr>
          <p:cNvPr id="10" name="Rectangle 9">
            <a:extLst>
              <a:ext uri="{FF2B5EF4-FFF2-40B4-BE49-F238E27FC236}">
                <a16:creationId xmlns:a16="http://schemas.microsoft.com/office/drawing/2014/main" id="{B3DAB6DB-A72B-BC4F-A3A5-2CC0C1C55628}"/>
              </a:ext>
            </a:extLst>
          </p:cNvPr>
          <p:cNvSpPr/>
          <p:nvPr/>
        </p:nvSpPr>
        <p:spPr>
          <a:xfrm>
            <a:off x="7193682" y="4521598"/>
            <a:ext cx="5174963" cy="2246769"/>
          </a:xfrm>
          <a:prstGeom prst="rect">
            <a:avLst/>
          </a:prstGeom>
        </p:spPr>
        <p:txBody>
          <a:bodyPr wrap="square">
            <a:spAutoFit/>
          </a:bodyPr>
          <a:lstStyle/>
          <a:p>
            <a:r>
              <a:rPr lang="en-US" sz="2800" dirty="0"/>
              <a:t>Observations:</a:t>
            </a:r>
          </a:p>
          <a:p>
            <a:r>
              <a:rPr lang="en-US" sz="2800" dirty="0"/>
              <a:t>Confusing way to present data!</a:t>
            </a:r>
          </a:p>
          <a:p>
            <a:r>
              <a:rPr lang="en-US" sz="2800" dirty="0"/>
              <a:t>1.   No incorporation of </a:t>
            </a:r>
            <a:r>
              <a:rPr lang="en-US" sz="2800" b="1" dirty="0">
                <a:solidFill>
                  <a:schemeClr val="accent1"/>
                </a:solidFill>
              </a:rPr>
              <a:t>outcomes</a:t>
            </a:r>
          </a:p>
          <a:p>
            <a:pPr marL="514350" indent="-514350">
              <a:buAutoNum type="arabicPeriod" startAt="3"/>
            </a:pPr>
            <a:r>
              <a:rPr lang="en-US" sz="2800" dirty="0"/>
              <a:t>Numbers would be identical      </a:t>
            </a:r>
            <a:r>
              <a:rPr lang="en-US" sz="2800" b="1" dirty="0">
                <a:solidFill>
                  <a:schemeClr val="accent6"/>
                </a:solidFill>
              </a:rPr>
              <a:t>without</a:t>
            </a:r>
            <a:r>
              <a:rPr lang="en-US" sz="2800" dirty="0"/>
              <a:t> CP.  </a:t>
            </a:r>
          </a:p>
        </p:txBody>
      </p:sp>
    </p:spTree>
    <p:extLst>
      <p:ext uri="{BB962C8B-B14F-4D97-AF65-F5344CB8AC3E}">
        <p14:creationId xmlns:p14="http://schemas.microsoft.com/office/powerpoint/2010/main" val="2868983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44E5-DDA3-894F-8830-309B5EA28D83}"/>
              </a:ext>
            </a:extLst>
          </p:cNvPr>
          <p:cNvSpPr>
            <a:spLocks noGrp="1"/>
          </p:cNvSpPr>
          <p:nvPr>
            <p:ph type="title"/>
          </p:nvPr>
        </p:nvSpPr>
        <p:spPr>
          <a:xfrm>
            <a:off x="180840" y="158630"/>
            <a:ext cx="10515600" cy="1325563"/>
          </a:xfrm>
        </p:spPr>
        <p:txBody>
          <a:bodyPr/>
          <a:lstStyle/>
          <a:p>
            <a:r>
              <a:rPr lang="en-US" dirty="0"/>
              <a:t>Analysis of “Apparently Eligible” applicants</a:t>
            </a:r>
          </a:p>
        </p:txBody>
      </p:sp>
      <p:sp>
        <p:nvSpPr>
          <p:cNvPr id="13" name="TextBox 12">
            <a:extLst>
              <a:ext uri="{FF2B5EF4-FFF2-40B4-BE49-F238E27FC236}">
                <a16:creationId xmlns:a16="http://schemas.microsoft.com/office/drawing/2014/main" id="{5370955F-D7A8-F54C-9082-2F19AA4AB1CA}"/>
              </a:ext>
            </a:extLst>
          </p:cNvPr>
          <p:cNvSpPr txBox="1"/>
          <p:nvPr/>
        </p:nvSpPr>
        <p:spPr>
          <a:xfrm>
            <a:off x="180840" y="1484193"/>
            <a:ext cx="12011160" cy="5970865"/>
          </a:xfrm>
          <a:prstGeom prst="rect">
            <a:avLst/>
          </a:prstGeom>
          <a:noFill/>
        </p:spPr>
        <p:txBody>
          <a:bodyPr wrap="square" rtlCol="0">
            <a:spAutoFit/>
          </a:bodyPr>
          <a:lstStyle/>
          <a:p>
            <a:r>
              <a:rPr lang="en-US" sz="2800" dirty="0"/>
              <a:t>Challenge:</a:t>
            </a:r>
          </a:p>
          <a:p>
            <a:pPr marL="514350" indent="-514350">
              <a:buFont typeface="Arial" panose="020B0604020202020204" pitchFamily="34" charset="0"/>
              <a:buChar char="•"/>
            </a:pPr>
            <a:r>
              <a:rPr lang="en-US" sz="2800" dirty="0"/>
              <a:t>Not all applicants are eligible.</a:t>
            </a:r>
          </a:p>
          <a:p>
            <a:pPr marL="514350" indent="-514350">
              <a:buFont typeface="Arial" panose="020B0604020202020204" pitchFamily="34" charset="0"/>
              <a:buChar char="•"/>
            </a:pPr>
            <a:r>
              <a:rPr lang="en-US" sz="2800" dirty="0"/>
              <a:t>We don’t observe which applicants are eligible.</a:t>
            </a:r>
          </a:p>
          <a:p>
            <a:pPr marL="514350" indent="-514350">
              <a:buFont typeface="+mj-lt"/>
              <a:buAutoNum type="arabicPeriod"/>
            </a:pPr>
            <a:endParaRPr lang="en-US" sz="2800" dirty="0"/>
          </a:p>
          <a:p>
            <a:r>
              <a:rPr lang="en-US" sz="2800" dirty="0"/>
              <a:t>Proposed Solution: </a:t>
            </a:r>
          </a:p>
          <a:p>
            <a:pPr marL="514350" indent="-514350">
              <a:buFont typeface="Arial" panose="020B0604020202020204" pitchFamily="34" charset="0"/>
              <a:buChar char="•"/>
            </a:pPr>
            <a:r>
              <a:rPr lang="en-US" sz="2800" dirty="0"/>
              <a:t>Determine “apparently eligibility” from self-reported income, household data.</a:t>
            </a:r>
          </a:p>
          <a:p>
            <a:pPr marL="514350" indent="-514350">
              <a:buFont typeface="Arial" panose="020B0604020202020204" pitchFamily="34" charset="0"/>
              <a:buChar char="•"/>
            </a:pPr>
            <a:r>
              <a:rPr lang="en-US" sz="2800" dirty="0"/>
              <a:t>Analyze only apparently eligible applicants.</a:t>
            </a:r>
          </a:p>
          <a:p>
            <a:pPr marL="514350" indent="-514350">
              <a:buFont typeface="+mj-lt"/>
              <a:buAutoNum type="arabicPeriod"/>
            </a:pPr>
            <a:endParaRPr lang="en-US" sz="2800" dirty="0"/>
          </a:p>
          <a:p>
            <a:r>
              <a:rPr lang="en-US" sz="2800" dirty="0">
                <a:solidFill>
                  <a:schemeClr val="bg1"/>
                </a:solidFill>
              </a:rPr>
              <a:t>Concerns: </a:t>
            </a:r>
          </a:p>
          <a:p>
            <a:pPr marL="514350" indent="-514350">
              <a:buFont typeface="Arial" panose="020B0604020202020204" pitchFamily="34" charset="0"/>
              <a:buChar char="•"/>
            </a:pPr>
            <a:r>
              <a:rPr lang="en-US" sz="2800" dirty="0">
                <a:solidFill>
                  <a:schemeClr val="bg1"/>
                </a:solidFill>
              </a:rPr>
              <a:t>Many apparently eligible applicants are not eligible.</a:t>
            </a:r>
          </a:p>
          <a:p>
            <a:pPr marL="514350" indent="-514350">
              <a:buFont typeface="Arial" panose="020B0604020202020204" pitchFamily="34" charset="0"/>
              <a:buChar char="•"/>
            </a:pPr>
            <a:r>
              <a:rPr lang="en-US" sz="2800" dirty="0">
                <a:solidFill>
                  <a:schemeClr val="bg1"/>
                </a:solidFill>
              </a:rPr>
              <a:t>Some apparently </a:t>
            </a:r>
            <a:r>
              <a:rPr lang="en-US" sz="2800" b="1" i="1" dirty="0">
                <a:solidFill>
                  <a:schemeClr val="bg1"/>
                </a:solidFill>
              </a:rPr>
              <a:t>in</a:t>
            </a:r>
            <a:r>
              <a:rPr lang="en-US" sz="2800" dirty="0">
                <a:solidFill>
                  <a:schemeClr val="bg1"/>
                </a:solidFill>
              </a:rPr>
              <a:t>eligible applicants are eligible (and housed).			  844 units (out of 10,245) awarded to “apparently ineligible” applicants.</a:t>
            </a:r>
          </a:p>
          <a:p>
            <a:r>
              <a:rPr lang="en-US" sz="2800" dirty="0">
                <a:solidFill>
                  <a:schemeClr val="bg1"/>
                </a:solidFill>
              </a:rPr>
              <a:t> </a:t>
            </a:r>
          </a:p>
          <a:p>
            <a:endParaRPr lang="en-US" dirty="0"/>
          </a:p>
        </p:txBody>
      </p:sp>
    </p:spTree>
    <p:extLst>
      <p:ext uri="{BB962C8B-B14F-4D97-AF65-F5344CB8AC3E}">
        <p14:creationId xmlns:p14="http://schemas.microsoft.com/office/powerpoint/2010/main" val="488760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44E5-DDA3-894F-8830-309B5EA28D83}"/>
              </a:ext>
            </a:extLst>
          </p:cNvPr>
          <p:cNvSpPr>
            <a:spLocks noGrp="1"/>
          </p:cNvSpPr>
          <p:nvPr>
            <p:ph type="title"/>
          </p:nvPr>
        </p:nvSpPr>
        <p:spPr>
          <a:xfrm>
            <a:off x="180840" y="158630"/>
            <a:ext cx="10515600" cy="1325563"/>
          </a:xfrm>
        </p:spPr>
        <p:txBody>
          <a:bodyPr/>
          <a:lstStyle/>
          <a:p>
            <a:r>
              <a:rPr lang="en-US" dirty="0"/>
              <a:t>Analysis of “Apparently Eligible” applicants</a:t>
            </a:r>
          </a:p>
        </p:txBody>
      </p:sp>
      <p:sp>
        <p:nvSpPr>
          <p:cNvPr id="13" name="TextBox 12">
            <a:extLst>
              <a:ext uri="{FF2B5EF4-FFF2-40B4-BE49-F238E27FC236}">
                <a16:creationId xmlns:a16="http://schemas.microsoft.com/office/drawing/2014/main" id="{5370955F-D7A8-F54C-9082-2F19AA4AB1CA}"/>
              </a:ext>
            </a:extLst>
          </p:cNvPr>
          <p:cNvSpPr txBox="1"/>
          <p:nvPr/>
        </p:nvSpPr>
        <p:spPr>
          <a:xfrm>
            <a:off x="180840" y="1484193"/>
            <a:ext cx="12011160" cy="5970865"/>
          </a:xfrm>
          <a:prstGeom prst="rect">
            <a:avLst/>
          </a:prstGeom>
          <a:noFill/>
        </p:spPr>
        <p:txBody>
          <a:bodyPr wrap="square" rtlCol="0">
            <a:spAutoFit/>
          </a:bodyPr>
          <a:lstStyle/>
          <a:p>
            <a:r>
              <a:rPr lang="en-US" sz="2800" dirty="0"/>
              <a:t>Challenge:</a:t>
            </a:r>
          </a:p>
          <a:p>
            <a:pPr marL="514350" indent="-514350">
              <a:buFont typeface="Arial" panose="020B0604020202020204" pitchFamily="34" charset="0"/>
              <a:buChar char="•"/>
            </a:pPr>
            <a:r>
              <a:rPr lang="en-US" sz="2800" dirty="0"/>
              <a:t>Not all applicants are eligible.</a:t>
            </a:r>
          </a:p>
          <a:p>
            <a:pPr marL="514350" indent="-514350">
              <a:buFont typeface="Arial" panose="020B0604020202020204" pitchFamily="34" charset="0"/>
              <a:buChar char="•"/>
            </a:pPr>
            <a:r>
              <a:rPr lang="en-US" sz="2800" dirty="0"/>
              <a:t>We don’t observe which applicants are eligible.</a:t>
            </a:r>
          </a:p>
          <a:p>
            <a:pPr marL="514350" indent="-514350">
              <a:buFont typeface="+mj-lt"/>
              <a:buAutoNum type="arabicPeriod"/>
            </a:pPr>
            <a:endParaRPr lang="en-US" sz="2800" dirty="0"/>
          </a:p>
          <a:p>
            <a:r>
              <a:rPr lang="en-US" sz="2800" dirty="0"/>
              <a:t>Proposed Solution: </a:t>
            </a:r>
          </a:p>
          <a:p>
            <a:pPr marL="514350" indent="-514350">
              <a:buFont typeface="Arial" panose="020B0604020202020204" pitchFamily="34" charset="0"/>
              <a:buChar char="•"/>
            </a:pPr>
            <a:r>
              <a:rPr lang="en-US" sz="2800" dirty="0"/>
              <a:t>Determine “apparently eligibility” from self-reported income, household data.</a:t>
            </a:r>
          </a:p>
          <a:p>
            <a:pPr marL="514350" indent="-514350">
              <a:buFont typeface="Arial" panose="020B0604020202020204" pitchFamily="34" charset="0"/>
              <a:buChar char="•"/>
            </a:pPr>
            <a:r>
              <a:rPr lang="en-US" sz="2800" dirty="0"/>
              <a:t>Analyze only apparently eligible applicants.</a:t>
            </a:r>
          </a:p>
          <a:p>
            <a:pPr marL="514350" indent="-514350">
              <a:buFont typeface="+mj-lt"/>
              <a:buAutoNum type="arabicPeriod"/>
            </a:pPr>
            <a:endParaRPr lang="en-US" sz="2800" dirty="0"/>
          </a:p>
          <a:p>
            <a:r>
              <a:rPr lang="en-US" sz="2800" dirty="0"/>
              <a:t>Concerns: </a:t>
            </a:r>
          </a:p>
          <a:p>
            <a:pPr marL="514350" indent="-514350">
              <a:buFont typeface="Arial" panose="020B0604020202020204" pitchFamily="34" charset="0"/>
              <a:buChar char="•"/>
            </a:pPr>
            <a:r>
              <a:rPr lang="en-US" sz="2800" dirty="0"/>
              <a:t>Many apparently eligible applicants are not eligible.</a:t>
            </a:r>
          </a:p>
          <a:p>
            <a:pPr marL="514350" indent="-514350">
              <a:buFont typeface="Arial" panose="020B0604020202020204" pitchFamily="34" charset="0"/>
              <a:buChar char="•"/>
            </a:pPr>
            <a:r>
              <a:rPr lang="en-US" sz="2800" dirty="0"/>
              <a:t>Some apparently </a:t>
            </a:r>
            <a:r>
              <a:rPr lang="en-US" sz="2800" b="1" i="1" dirty="0"/>
              <a:t>in</a:t>
            </a:r>
            <a:r>
              <a:rPr lang="en-US" sz="2800" dirty="0"/>
              <a:t>eligible applicants are eligible (and housed).			  844 units (out of 10,245) awarded to “apparently ineligible” applicants.</a:t>
            </a:r>
          </a:p>
          <a:p>
            <a:r>
              <a:rPr lang="en-US" sz="2800" dirty="0"/>
              <a:t> </a:t>
            </a:r>
          </a:p>
          <a:p>
            <a:endParaRPr lang="en-US" dirty="0"/>
          </a:p>
        </p:txBody>
      </p:sp>
    </p:spTree>
    <p:extLst>
      <p:ext uri="{BB962C8B-B14F-4D97-AF65-F5344CB8AC3E}">
        <p14:creationId xmlns:p14="http://schemas.microsoft.com/office/powerpoint/2010/main" val="990627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44E5-DDA3-894F-8830-309B5EA28D83}"/>
              </a:ext>
            </a:extLst>
          </p:cNvPr>
          <p:cNvSpPr>
            <a:spLocks noGrp="1"/>
          </p:cNvSpPr>
          <p:nvPr>
            <p:ph type="title"/>
          </p:nvPr>
        </p:nvSpPr>
        <p:spPr>
          <a:xfrm>
            <a:off x="180839" y="158630"/>
            <a:ext cx="11124469" cy="1325563"/>
          </a:xfrm>
        </p:spPr>
        <p:txBody>
          <a:bodyPr/>
          <a:lstStyle/>
          <a:p>
            <a:r>
              <a:rPr lang="en-US" dirty="0"/>
              <a:t>Tables 4, 5, 6: same critiques as for Tables 1, 2, 3</a:t>
            </a:r>
          </a:p>
        </p:txBody>
      </p:sp>
      <p:pic>
        <p:nvPicPr>
          <p:cNvPr id="5" name="Picture 4" descr="Table&#10;&#10;Description automatically generated">
            <a:extLst>
              <a:ext uri="{FF2B5EF4-FFF2-40B4-BE49-F238E27FC236}">
                <a16:creationId xmlns:a16="http://schemas.microsoft.com/office/drawing/2014/main" id="{9512A9E6-843B-6947-AB46-9AB8F75DE630}"/>
              </a:ext>
            </a:extLst>
          </p:cNvPr>
          <p:cNvPicPr>
            <a:picLocks noChangeAspect="1"/>
          </p:cNvPicPr>
          <p:nvPr/>
        </p:nvPicPr>
        <p:blipFill>
          <a:blip r:embed="rId2"/>
          <a:stretch>
            <a:fillRect/>
          </a:stretch>
        </p:blipFill>
        <p:spPr>
          <a:xfrm>
            <a:off x="59682" y="1465664"/>
            <a:ext cx="5864146" cy="3703237"/>
          </a:xfrm>
          <a:prstGeom prst="rect">
            <a:avLst/>
          </a:prstGeom>
        </p:spPr>
      </p:pic>
      <p:pic>
        <p:nvPicPr>
          <p:cNvPr id="7" name="Picture 6" descr="Table&#10;&#10;Description automatically generated">
            <a:extLst>
              <a:ext uri="{FF2B5EF4-FFF2-40B4-BE49-F238E27FC236}">
                <a16:creationId xmlns:a16="http://schemas.microsoft.com/office/drawing/2014/main" id="{4B02A83D-D279-7E4B-884F-AEA0487F8461}"/>
              </a:ext>
            </a:extLst>
          </p:cNvPr>
          <p:cNvPicPr>
            <a:picLocks noChangeAspect="1"/>
          </p:cNvPicPr>
          <p:nvPr/>
        </p:nvPicPr>
        <p:blipFill>
          <a:blip r:embed="rId3"/>
          <a:stretch>
            <a:fillRect/>
          </a:stretch>
        </p:blipFill>
        <p:spPr>
          <a:xfrm>
            <a:off x="3391126" y="2362078"/>
            <a:ext cx="4827853" cy="3688318"/>
          </a:xfrm>
          <a:prstGeom prst="rect">
            <a:avLst/>
          </a:prstGeom>
        </p:spPr>
      </p:pic>
      <p:pic>
        <p:nvPicPr>
          <p:cNvPr id="9" name="Picture 8" descr="Table&#10;&#10;Description automatically generated">
            <a:extLst>
              <a:ext uri="{FF2B5EF4-FFF2-40B4-BE49-F238E27FC236}">
                <a16:creationId xmlns:a16="http://schemas.microsoft.com/office/drawing/2014/main" id="{033FC5DF-1775-9D49-BC82-9F17BC510B17}"/>
              </a:ext>
            </a:extLst>
          </p:cNvPr>
          <p:cNvPicPr>
            <a:picLocks noChangeAspect="1"/>
          </p:cNvPicPr>
          <p:nvPr/>
        </p:nvPicPr>
        <p:blipFill>
          <a:blip r:embed="rId4"/>
          <a:stretch>
            <a:fillRect/>
          </a:stretch>
        </p:blipFill>
        <p:spPr>
          <a:xfrm>
            <a:off x="6857998" y="1894822"/>
            <a:ext cx="5482358" cy="3274079"/>
          </a:xfrm>
          <a:prstGeom prst="rect">
            <a:avLst/>
          </a:prstGeom>
        </p:spPr>
      </p:pic>
      <p:sp>
        <p:nvSpPr>
          <p:cNvPr id="10" name="TextBox 9">
            <a:extLst>
              <a:ext uri="{FF2B5EF4-FFF2-40B4-BE49-F238E27FC236}">
                <a16:creationId xmlns:a16="http://schemas.microsoft.com/office/drawing/2014/main" id="{B3EF33AC-31DD-8B41-8805-0087E9B2F414}"/>
              </a:ext>
            </a:extLst>
          </p:cNvPr>
          <p:cNvSpPr txBox="1"/>
          <p:nvPr/>
        </p:nvSpPr>
        <p:spPr>
          <a:xfrm>
            <a:off x="180840" y="5168901"/>
            <a:ext cx="3518323" cy="1384995"/>
          </a:xfrm>
          <a:prstGeom prst="rect">
            <a:avLst/>
          </a:prstGeom>
          <a:noFill/>
        </p:spPr>
        <p:txBody>
          <a:bodyPr wrap="square" rtlCol="0">
            <a:spAutoFit/>
          </a:bodyPr>
          <a:lstStyle/>
          <a:p>
            <a:r>
              <a:rPr lang="en-US" sz="2800" dirty="0"/>
              <a:t>No analysis of </a:t>
            </a:r>
            <a:r>
              <a:rPr lang="en-US" sz="2800" b="1" dirty="0">
                <a:solidFill>
                  <a:srgbClr val="FF0000"/>
                </a:solidFill>
              </a:rPr>
              <a:t>race</a:t>
            </a:r>
            <a:r>
              <a:rPr lang="en-US" sz="2800" dirty="0"/>
              <a:t>.</a:t>
            </a:r>
          </a:p>
          <a:p>
            <a:r>
              <a:rPr lang="en-US" sz="2800" dirty="0"/>
              <a:t>Unclear what would happen </a:t>
            </a:r>
            <a:r>
              <a:rPr lang="en-US" sz="2800" b="1" dirty="0">
                <a:solidFill>
                  <a:schemeClr val="accent6"/>
                </a:solidFill>
              </a:rPr>
              <a:t>without</a:t>
            </a:r>
            <a:r>
              <a:rPr lang="en-US" sz="2800" dirty="0"/>
              <a:t> CP. </a:t>
            </a:r>
          </a:p>
        </p:txBody>
      </p:sp>
      <p:sp>
        <p:nvSpPr>
          <p:cNvPr id="11" name="TextBox 10">
            <a:extLst>
              <a:ext uri="{FF2B5EF4-FFF2-40B4-BE49-F238E27FC236}">
                <a16:creationId xmlns:a16="http://schemas.microsoft.com/office/drawing/2014/main" id="{DF9E4B03-F2C9-084C-BEC1-C24616316882}"/>
              </a:ext>
            </a:extLst>
          </p:cNvPr>
          <p:cNvSpPr txBox="1"/>
          <p:nvPr/>
        </p:nvSpPr>
        <p:spPr>
          <a:xfrm>
            <a:off x="3391126" y="5918006"/>
            <a:ext cx="4827852" cy="954107"/>
          </a:xfrm>
          <a:prstGeom prst="rect">
            <a:avLst/>
          </a:prstGeom>
          <a:noFill/>
        </p:spPr>
        <p:txBody>
          <a:bodyPr wrap="square" rtlCol="0">
            <a:spAutoFit/>
          </a:bodyPr>
          <a:lstStyle/>
          <a:p>
            <a:r>
              <a:rPr lang="en-US" sz="2800" dirty="0"/>
              <a:t>No analysis of </a:t>
            </a:r>
            <a:r>
              <a:rPr lang="en-US" sz="2800" b="1" dirty="0">
                <a:solidFill>
                  <a:schemeClr val="accent1"/>
                </a:solidFill>
              </a:rPr>
              <a:t>outcomes</a:t>
            </a:r>
            <a:r>
              <a:rPr lang="en-US" sz="2800" dirty="0"/>
              <a:t>.  </a:t>
            </a:r>
          </a:p>
          <a:p>
            <a:r>
              <a:rPr lang="en-US" sz="2800" dirty="0"/>
              <a:t>Would be identical </a:t>
            </a:r>
            <a:r>
              <a:rPr lang="en-US" sz="2800" b="1" dirty="0">
                <a:solidFill>
                  <a:schemeClr val="accent6"/>
                </a:solidFill>
              </a:rPr>
              <a:t>without</a:t>
            </a:r>
            <a:r>
              <a:rPr lang="en-US" sz="2800" dirty="0"/>
              <a:t> CP.</a:t>
            </a:r>
          </a:p>
        </p:txBody>
      </p:sp>
      <p:sp>
        <p:nvSpPr>
          <p:cNvPr id="12" name="TextBox 11">
            <a:extLst>
              <a:ext uri="{FF2B5EF4-FFF2-40B4-BE49-F238E27FC236}">
                <a16:creationId xmlns:a16="http://schemas.microsoft.com/office/drawing/2014/main" id="{C910D1BA-D3F8-4946-93FA-2C1D0067EE97}"/>
              </a:ext>
            </a:extLst>
          </p:cNvPr>
          <p:cNvSpPr txBox="1"/>
          <p:nvPr/>
        </p:nvSpPr>
        <p:spPr>
          <a:xfrm>
            <a:off x="7470940" y="5151006"/>
            <a:ext cx="4827852" cy="954107"/>
          </a:xfrm>
          <a:prstGeom prst="rect">
            <a:avLst/>
          </a:prstGeom>
          <a:solidFill>
            <a:schemeClr val="bg1"/>
          </a:solidFill>
        </p:spPr>
        <p:txBody>
          <a:bodyPr wrap="square" rtlCol="0">
            <a:spAutoFit/>
          </a:bodyPr>
          <a:lstStyle/>
          <a:p>
            <a:r>
              <a:rPr lang="en-US" sz="2800" dirty="0"/>
              <a:t>No analysis of </a:t>
            </a:r>
            <a:r>
              <a:rPr lang="en-US" sz="2800" b="1" dirty="0">
                <a:solidFill>
                  <a:schemeClr val="accent1"/>
                </a:solidFill>
              </a:rPr>
              <a:t>outcomes</a:t>
            </a:r>
            <a:r>
              <a:rPr lang="en-US" sz="2800" dirty="0"/>
              <a:t>.  </a:t>
            </a:r>
          </a:p>
          <a:p>
            <a:r>
              <a:rPr lang="en-US" sz="2800" dirty="0"/>
              <a:t>Would be identical </a:t>
            </a:r>
            <a:r>
              <a:rPr lang="en-US" sz="2800" b="1" dirty="0">
                <a:solidFill>
                  <a:schemeClr val="accent6"/>
                </a:solidFill>
              </a:rPr>
              <a:t>without</a:t>
            </a:r>
            <a:r>
              <a:rPr lang="en-US" sz="2800" dirty="0"/>
              <a:t> CP.</a:t>
            </a:r>
          </a:p>
        </p:txBody>
      </p:sp>
    </p:spTree>
    <p:extLst>
      <p:ext uri="{BB962C8B-B14F-4D97-AF65-F5344CB8AC3E}">
        <p14:creationId xmlns:p14="http://schemas.microsoft.com/office/powerpoint/2010/main" val="1430637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7…</a:t>
            </a:r>
          </a:p>
        </p:txBody>
      </p:sp>
      <p:pic>
        <p:nvPicPr>
          <p:cNvPr id="5" name="Content Placeholder 4" descr="Table&#10;&#10;Description automatically generated">
            <a:extLst>
              <a:ext uri="{FF2B5EF4-FFF2-40B4-BE49-F238E27FC236}">
                <a16:creationId xmlns:a16="http://schemas.microsoft.com/office/drawing/2014/main" id="{9EC96050-4CB7-7542-9878-0D2A7AB849D4}"/>
              </a:ext>
            </a:extLst>
          </p:cNvPr>
          <p:cNvPicPr>
            <a:picLocks noGrp="1" noChangeAspect="1"/>
          </p:cNvPicPr>
          <p:nvPr>
            <p:ph idx="1"/>
          </p:nvPr>
        </p:nvPicPr>
        <p:blipFill>
          <a:blip r:embed="rId2"/>
          <a:stretch>
            <a:fillRect/>
          </a:stretch>
        </p:blipFill>
        <p:spPr>
          <a:xfrm>
            <a:off x="1" y="1200714"/>
            <a:ext cx="7980218" cy="5657286"/>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9194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type m:val="lin"/>
                          <m:ctrlPr>
                            <a:rPr lang="en-US" sz="2600" i="1" dirty="0" smtClean="0">
                              <a:solidFill>
                                <a:schemeClr val="accent2"/>
                              </a:solidFill>
                              <a:latin typeface="Cambria Math" panose="02040503050406030204" pitchFamily="18" charset="0"/>
                            </a:rPr>
                          </m:ctrlPr>
                        </m:fPr>
                        <m:num>
                          <m:f>
                            <m:fPr>
                              <m:ctrlPr>
                                <a:rPr lang="el-GR"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𝐴𝑝𝑝𝑙𝑖𝑐𝑎𝑛𝑡𝑠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num>
                        <m:den>
                          <m:f>
                            <m:fPr>
                              <m:ctrlPr>
                                <a:rPr lang="en-US" sz="2600" i="1" dirty="0" smtClean="0">
                                  <a:solidFill>
                                    <a:schemeClr val="accent2"/>
                                  </a:solidFill>
                                  <a:latin typeface="Cambria Math" panose="02040503050406030204" pitchFamily="18" charset="0"/>
                                </a:rPr>
                              </m:ctrlPr>
                            </m:fPr>
                            <m:num>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𝐼𝑛𝑠𝑖𝑑𝑒𝑟𝑠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num>
                            <m:den>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𝐴𝑝𝑝𝑙𝑖𝑐𝑎𝑛𝑡𝑠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den>
                          </m:f>
                        </m:den>
                      </m:f>
                      <m:r>
                        <a:rPr lang="en-US" sz="2600" b="0" i="1" dirty="0" smtClean="0">
                          <a:solidFill>
                            <a:schemeClr val="accent2"/>
                          </a:solidFill>
                          <a:latin typeface="Cambria Math" panose="02040503050406030204" pitchFamily="18" charset="0"/>
                        </a:rPr>
                        <m:t>−1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919419"/>
              </a:xfrm>
              <a:prstGeom prst="rect">
                <a:avLst/>
              </a:prstGeom>
              <a:blipFill>
                <a:blip r:embed="rId3"/>
                <a:stretch>
                  <a:fillRect t="-152055" b="-22876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5486258" y="1115383"/>
            <a:ext cx="1078315" cy="211236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282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7…</a:t>
            </a:r>
          </a:p>
        </p:txBody>
      </p:sp>
      <p:pic>
        <p:nvPicPr>
          <p:cNvPr id="5" name="Content Placeholder 4" descr="Table&#10;&#10;Description automatically generated">
            <a:extLst>
              <a:ext uri="{FF2B5EF4-FFF2-40B4-BE49-F238E27FC236}">
                <a16:creationId xmlns:a16="http://schemas.microsoft.com/office/drawing/2014/main" id="{9EC96050-4CB7-7542-9878-0D2A7AB849D4}"/>
              </a:ext>
            </a:extLst>
          </p:cNvPr>
          <p:cNvPicPr>
            <a:picLocks noGrp="1" noChangeAspect="1"/>
          </p:cNvPicPr>
          <p:nvPr>
            <p:ph idx="1"/>
          </p:nvPr>
        </p:nvPicPr>
        <p:blipFill>
          <a:blip r:embed="rId2"/>
          <a:stretch>
            <a:fillRect/>
          </a:stretch>
        </p:blipFill>
        <p:spPr>
          <a:xfrm>
            <a:off x="1" y="1200714"/>
            <a:ext cx="7980218" cy="5657286"/>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9194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type m:val="lin"/>
                          <m:ctrlPr>
                            <a:rPr lang="en-US" sz="2600" i="1" dirty="0" smtClean="0">
                              <a:solidFill>
                                <a:schemeClr val="accent2"/>
                              </a:solidFill>
                              <a:latin typeface="Cambria Math" panose="02040503050406030204" pitchFamily="18" charset="0"/>
                            </a:rPr>
                          </m:ctrlPr>
                        </m:fPr>
                        <m:num>
                          <m:f>
                            <m:fPr>
                              <m:ctrlPr>
                                <a:rPr lang="el-GR"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𝐴𝑝𝑝𝑙𝑖𝑐𝑎𝑛𝑡𝑠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num>
                        <m:den>
                          <m:f>
                            <m:fPr>
                              <m:ctrlPr>
                                <a:rPr lang="en-US" sz="2600" i="1" dirty="0" smtClean="0">
                                  <a:solidFill>
                                    <a:schemeClr val="accent2"/>
                                  </a:solidFill>
                                  <a:latin typeface="Cambria Math" panose="02040503050406030204" pitchFamily="18" charset="0"/>
                                </a:rPr>
                              </m:ctrlPr>
                            </m:fPr>
                            <m:num>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𝐼𝑛𝑠𝑖𝑑𝑒𝑟𝑠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num>
                            <m:den>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𝐴𝑝𝑝𝑙𝑖𝑐𝑎𝑛𝑡𝑠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den>
                          </m:f>
                        </m:den>
                      </m:f>
                      <m:r>
                        <a:rPr lang="en-US" sz="2600" b="0" i="1" dirty="0" smtClean="0">
                          <a:solidFill>
                            <a:schemeClr val="accent2"/>
                          </a:solidFill>
                          <a:latin typeface="Cambria Math" panose="02040503050406030204" pitchFamily="18" charset="0"/>
                        </a:rPr>
                        <m:t>−1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919419"/>
              </a:xfrm>
              <a:prstGeom prst="rect">
                <a:avLst/>
              </a:prstGeom>
              <a:blipFill>
                <a:blip r:embed="rId3"/>
                <a:stretch>
                  <a:fillRect t="-152055" b="-22876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5486258" y="1115383"/>
            <a:ext cx="1078315" cy="211236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96108CE-5C27-EE48-91CD-01751B23502F}"/>
              </a:ext>
            </a:extLst>
          </p:cNvPr>
          <p:cNvSpPr txBox="1"/>
          <p:nvPr/>
        </p:nvSpPr>
        <p:spPr>
          <a:xfrm>
            <a:off x="7938655" y="1261760"/>
            <a:ext cx="4453793" cy="2246769"/>
          </a:xfrm>
          <a:prstGeom prst="rect">
            <a:avLst/>
          </a:prstGeom>
          <a:noFill/>
        </p:spPr>
        <p:txBody>
          <a:bodyPr wrap="square" rtlCol="0">
            <a:spAutoFit/>
          </a:bodyPr>
          <a:lstStyle/>
          <a:p>
            <a:r>
              <a:rPr lang="en-US" sz="2800" b="1" dirty="0"/>
              <a:t>Interpretation: </a:t>
            </a:r>
            <a:r>
              <a:rPr lang="en-US" sz="2800" dirty="0"/>
              <a:t>in majority white districts, housed white applicants are 2.8x more likely to be insiders than housed black applicants.</a:t>
            </a:r>
          </a:p>
        </p:txBody>
      </p:sp>
    </p:spTree>
    <p:extLst>
      <p:ext uri="{BB962C8B-B14F-4D97-AF65-F5344CB8AC3E}">
        <p14:creationId xmlns:p14="http://schemas.microsoft.com/office/powerpoint/2010/main" val="4291311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7…</a:t>
            </a:r>
          </a:p>
        </p:txBody>
      </p:sp>
      <p:pic>
        <p:nvPicPr>
          <p:cNvPr id="5" name="Content Placeholder 4" descr="Table&#10;&#10;Description automatically generated">
            <a:extLst>
              <a:ext uri="{FF2B5EF4-FFF2-40B4-BE49-F238E27FC236}">
                <a16:creationId xmlns:a16="http://schemas.microsoft.com/office/drawing/2014/main" id="{9EC96050-4CB7-7542-9878-0D2A7AB849D4}"/>
              </a:ext>
            </a:extLst>
          </p:cNvPr>
          <p:cNvPicPr>
            <a:picLocks noGrp="1" noChangeAspect="1"/>
          </p:cNvPicPr>
          <p:nvPr>
            <p:ph idx="1"/>
          </p:nvPr>
        </p:nvPicPr>
        <p:blipFill>
          <a:blip r:embed="rId2"/>
          <a:stretch>
            <a:fillRect/>
          </a:stretch>
        </p:blipFill>
        <p:spPr>
          <a:xfrm>
            <a:off x="1" y="1200714"/>
            <a:ext cx="7980218" cy="5657286"/>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9194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type m:val="lin"/>
                          <m:ctrlPr>
                            <a:rPr lang="en-US" sz="2600" i="1" dirty="0" smtClean="0">
                              <a:solidFill>
                                <a:schemeClr val="accent2"/>
                              </a:solidFill>
                              <a:latin typeface="Cambria Math" panose="02040503050406030204" pitchFamily="18" charset="0"/>
                            </a:rPr>
                          </m:ctrlPr>
                        </m:fPr>
                        <m:num>
                          <m:f>
                            <m:fPr>
                              <m:ctrlPr>
                                <a:rPr lang="el-GR"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𝐴𝑝𝑝𝑙𝑖𝑐𝑎𝑛𝑡𝑠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num>
                        <m:den>
                          <m:f>
                            <m:fPr>
                              <m:ctrlPr>
                                <a:rPr lang="en-US" sz="2600" i="1" dirty="0" smtClean="0">
                                  <a:solidFill>
                                    <a:schemeClr val="accent2"/>
                                  </a:solidFill>
                                  <a:latin typeface="Cambria Math" panose="02040503050406030204" pitchFamily="18" charset="0"/>
                                </a:rPr>
                              </m:ctrlPr>
                            </m:fPr>
                            <m:num>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𝐼𝑛𝑠𝑖𝑑𝑒𝑟𝑠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num>
                            <m:den>
                              <m:r>
                                <a:rPr lang="en-US" sz="2600" b="0" i="1" dirty="0" smtClean="0">
                                  <a:solidFill>
                                    <a:schemeClr val="accent2"/>
                                  </a:solidFill>
                                  <a:latin typeface="Cambria Math" panose="02040503050406030204" pitchFamily="18" charset="0"/>
                                </a:rPr>
                                <m:t>𝐵𝑙𝑎𝑐𝑘</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𝐴𝑝𝑝𝑙𝑖𝑐𝑎𝑛𝑡𝑠</m:t>
                              </m:r>
                              <m:r>
                                <a:rPr lang="en-US" sz="2600" b="0" i="1" dirty="0" smtClean="0">
                                  <a:solidFill>
                                    <a:schemeClr val="accent2"/>
                                  </a:solidFill>
                                  <a:latin typeface="Cambria Math" panose="02040503050406030204" pitchFamily="18" charset="0"/>
                                </a:rPr>
                                <m:t> </m:t>
                              </m:r>
                              <m:r>
                                <a:rPr lang="en-US" sz="2600" b="0" i="1" dirty="0" smtClean="0">
                                  <a:solidFill>
                                    <a:schemeClr val="accent2"/>
                                  </a:solidFill>
                                  <a:latin typeface="Cambria Math" panose="02040503050406030204" pitchFamily="18" charset="0"/>
                                </a:rPr>
                                <m:t>𝐻𝑜𝑢𝑠𝑒𝑑</m:t>
                              </m:r>
                            </m:den>
                          </m:f>
                        </m:den>
                      </m:f>
                      <m:r>
                        <a:rPr lang="en-US" sz="2600" b="0" i="1" dirty="0" smtClean="0">
                          <a:solidFill>
                            <a:schemeClr val="accent2"/>
                          </a:solidFill>
                          <a:latin typeface="Cambria Math" panose="02040503050406030204" pitchFamily="18" charset="0"/>
                        </a:rPr>
                        <m:t>−1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919419"/>
              </a:xfrm>
              <a:prstGeom prst="rect">
                <a:avLst/>
              </a:prstGeom>
              <a:blipFill>
                <a:blip r:embed="rId3"/>
                <a:stretch>
                  <a:fillRect t="-152055" b="-22876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5486258" y="1115383"/>
            <a:ext cx="1078315" cy="211236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886BFB1-9A9F-1F4C-8577-8BB50BEB15EF}"/>
              </a:ext>
            </a:extLst>
          </p:cNvPr>
          <p:cNvSpPr txBox="1"/>
          <p:nvPr/>
        </p:nvSpPr>
        <p:spPr>
          <a:xfrm>
            <a:off x="7938654" y="3550093"/>
            <a:ext cx="4010891" cy="1815882"/>
          </a:xfrm>
          <a:prstGeom prst="rect">
            <a:avLst/>
          </a:prstGeom>
          <a:noFill/>
        </p:spPr>
        <p:txBody>
          <a:bodyPr wrap="square" rtlCol="0">
            <a:spAutoFit/>
          </a:bodyPr>
          <a:lstStyle/>
          <a:p>
            <a:r>
              <a:rPr lang="en-US" sz="2800" dirty="0"/>
              <a:t>+    Considers </a:t>
            </a:r>
            <a:r>
              <a:rPr lang="en-US" sz="2800" b="1" dirty="0">
                <a:solidFill>
                  <a:schemeClr val="accent1"/>
                </a:solidFill>
              </a:rPr>
              <a:t>outcomes</a:t>
            </a:r>
            <a:r>
              <a:rPr lang="en-US" sz="2800" dirty="0"/>
              <a:t> </a:t>
            </a:r>
          </a:p>
          <a:p>
            <a:r>
              <a:rPr lang="en-US" sz="2800" dirty="0"/>
              <a:t>      by </a:t>
            </a:r>
            <a:r>
              <a:rPr lang="en-US" sz="2800" b="1" dirty="0">
                <a:solidFill>
                  <a:srgbClr val="FF0000"/>
                </a:solidFill>
              </a:rPr>
              <a:t>race</a:t>
            </a:r>
            <a:r>
              <a:rPr lang="en-US" sz="2800" dirty="0"/>
              <a:t>.</a:t>
            </a:r>
          </a:p>
          <a:p>
            <a:pPr marL="457200" indent="-457200">
              <a:buFontTx/>
              <a:buChar char="-"/>
            </a:pPr>
            <a:r>
              <a:rPr lang="en-US" sz="2800" dirty="0"/>
              <a:t>Unclear what would</a:t>
            </a:r>
          </a:p>
          <a:p>
            <a:r>
              <a:rPr lang="en-US" sz="2800" dirty="0"/>
              <a:t>      result </a:t>
            </a:r>
            <a:r>
              <a:rPr lang="en-US" sz="2800" b="1" dirty="0">
                <a:solidFill>
                  <a:schemeClr val="accent6"/>
                </a:solidFill>
              </a:rPr>
              <a:t>without </a:t>
            </a:r>
            <a:r>
              <a:rPr lang="en-US" sz="2800" dirty="0"/>
              <a:t>CP.</a:t>
            </a:r>
          </a:p>
        </p:txBody>
      </p:sp>
      <p:sp>
        <p:nvSpPr>
          <p:cNvPr id="11" name="TextBox 10">
            <a:extLst>
              <a:ext uri="{FF2B5EF4-FFF2-40B4-BE49-F238E27FC236}">
                <a16:creationId xmlns:a16="http://schemas.microsoft.com/office/drawing/2014/main" id="{496108CE-5C27-EE48-91CD-01751B23502F}"/>
              </a:ext>
            </a:extLst>
          </p:cNvPr>
          <p:cNvSpPr txBox="1"/>
          <p:nvPr/>
        </p:nvSpPr>
        <p:spPr>
          <a:xfrm>
            <a:off x="7938655" y="1261760"/>
            <a:ext cx="4453793" cy="2246769"/>
          </a:xfrm>
          <a:prstGeom prst="rect">
            <a:avLst/>
          </a:prstGeom>
          <a:noFill/>
        </p:spPr>
        <p:txBody>
          <a:bodyPr wrap="square" rtlCol="0">
            <a:spAutoFit/>
          </a:bodyPr>
          <a:lstStyle/>
          <a:p>
            <a:r>
              <a:rPr lang="en-US" sz="2800" b="1" dirty="0"/>
              <a:t>Interpretation: </a:t>
            </a:r>
            <a:r>
              <a:rPr lang="en-US" sz="2800" dirty="0"/>
              <a:t>in majority white districts, housed white applicants are 2.8x more likely to be insiders than housed black applicants.</a:t>
            </a:r>
          </a:p>
        </p:txBody>
      </p:sp>
      <p:sp>
        <p:nvSpPr>
          <p:cNvPr id="12" name="Rectangle 11">
            <a:extLst>
              <a:ext uri="{FF2B5EF4-FFF2-40B4-BE49-F238E27FC236}">
                <a16:creationId xmlns:a16="http://schemas.microsoft.com/office/drawing/2014/main" id="{BB724709-50B2-CB4C-9151-BE0871D5B1B8}"/>
              </a:ext>
            </a:extLst>
          </p:cNvPr>
          <p:cNvSpPr/>
          <p:nvPr/>
        </p:nvSpPr>
        <p:spPr>
          <a:xfrm>
            <a:off x="7938654" y="5464587"/>
            <a:ext cx="4253345" cy="1384995"/>
          </a:xfrm>
          <a:prstGeom prst="rect">
            <a:avLst/>
          </a:prstGeom>
        </p:spPr>
        <p:txBody>
          <a:bodyPr wrap="square">
            <a:spAutoFit/>
          </a:bodyPr>
          <a:lstStyle/>
          <a:p>
            <a:r>
              <a:rPr lang="en-US" sz="2800" b="1" dirty="0"/>
              <a:t>Base rates</a:t>
            </a:r>
            <a:r>
              <a:rPr lang="en-US" sz="2800" dirty="0"/>
              <a:t>: white applicants more likely to be insiders in majority white districts!</a:t>
            </a:r>
          </a:p>
        </p:txBody>
      </p:sp>
    </p:spTree>
    <p:extLst>
      <p:ext uri="{BB962C8B-B14F-4D97-AF65-F5344CB8AC3E}">
        <p14:creationId xmlns:p14="http://schemas.microsoft.com/office/powerpoint/2010/main" val="12886725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able&#10;&#10;Description automatically generated">
            <a:extLst>
              <a:ext uri="{FF2B5EF4-FFF2-40B4-BE49-F238E27FC236}">
                <a16:creationId xmlns:a16="http://schemas.microsoft.com/office/drawing/2014/main" id="{A1E93683-EC1A-454E-91B4-362B7F6DC500}"/>
              </a:ext>
            </a:extLst>
          </p:cNvPr>
          <p:cNvPicPr>
            <a:picLocks noChangeAspect="1"/>
          </p:cNvPicPr>
          <p:nvPr/>
        </p:nvPicPr>
        <p:blipFill>
          <a:blip r:embed="rId2"/>
          <a:stretch>
            <a:fillRect/>
          </a:stretch>
        </p:blipFill>
        <p:spPr>
          <a:xfrm>
            <a:off x="99108" y="1374513"/>
            <a:ext cx="7434456" cy="5300217"/>
          </a:xfrm>
          <a:prstGeom prst="rect">
            <a:avLst/>
          </a:prstGeom>
        </p:spPr>
      </p:pic>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8…</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8522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m:t>
                      </m:r>
                      <m:f>
                        <m:fPr>
                          <m:ctrlPr>
                            <a:rPr lang="en-US"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852285"/>
              </a:xfrm>
              <a:prstGeom prst="rect">
                <a:avLst/>
              </a:prstGeom>
              <a:blipFill>
                <a:blip r:embed="rId3"/>
                <a:stretch>
                  <a:fillRect t="-1471" b="-22059"/>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3716575" y="1153062"/>
            <a:ext cx="769069" cy="165265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490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able&#10;&#10;Description automatically generated">
            <a:extLst>
              <a:ext uri="{FF2B5EF4-FFF2-40B4-BE49-F238E27FC236}">
                <a16:creationId xmlns:a16="http://schemas.microsoft.com/office/drawing/2014/main" id="{A1E93683-EC1A-454E-91B4-362B7F6DC500}"/>
              </a:ext>
            </a:extLst>
          </p:cNvPr>
          <p:cNvPicPr>
            <a:picLocks noChangeAspect="1"/>
          </p:cNvPicPr>
          <p:nvPr/>
        </p:nvPicPr>
        <p:blipFill>
          <a:blip r:embed="rId2"/>
          <a:stretch>
            <a:fillRect/>
          </a:stretch>
        </p:blipFill>
        <p:spPr>
          <a:xfrm>
            <a:off x="99108" y="1374513"/>
            <a:ext cx="7434456" cy="5300217"/>
          </a:xfrm>
          <a:prstGeom prst="rect">
            <a:avLst/>
          </a:prstGeom>
        </p:spPr>
      </p:pic>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8…</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8522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m:t>
                      </m:r>
                      <m:f>
                        <m:fPr>
                          <m:ctrlPr>
                            <a:rPr lang="en-US"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852285"/>
              </a:xfrm>
              <a:prstGeom prst="rect">
                <a:avLst/>
              </a:prstGeom>
              <a:blipFill>
                <a:blip r:embed="rId3"/>
                <a:stretch>
                  <a:fillRect t="-1471" b="-22059"/>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3716575" y="1153062"/>
            <a:ext cx="769069" cy="165265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96108CE-5C27-EE48-91CD-01751B23502F}"/>
              </a:ext>
            </a:extLst>
          </p:cNvPr>
          <p:cNvSpPr txBox="1"/>
          <p:nvPr/>
        </p:nvSpPr>
        <p:spPr>
          <a:xfrm>
            <a:off x="7460294" y="1387036"/>
            <a:ext cx="4852021" cy="2246769"/>
          </a:xfrm>
          <a:prstGeom prst="rect">
            <a:avLst/>
          </a:prstGeom>
          <a:noFill/>
        </p:spPr>
        <p:txBody>
          <a:bodyPr wrap="square" rtlCol="0">
            <a:spAutoFit/>
          </a:bodyPr>
          <a:lstStyle/>
          <a:p>
            <a:r>
              <a:rPr lang="en-US" sz="2800" b="1" dirty="0"/>
              <a:t>Interpretation: </a:t>
            </a:r>
            <a:r>
              <a:rPr lang="en-US" sz="2800" dirty="0"/>
              <a:t>in majority white districts, housed insiders are 1.9x more likely to be white (and 66% less likely to be black) as housed outsiders. </a:t>
            </a:r>
          </a:p>
        </p:txBody>
      </p:sp>
    </p:spTree>
    <p:extLst>
      <p:ext uri="{BB962C8B-B14F-4D97-AF65-F5344CB8AC3E}">
        <p14:creationId xmlns:p14="http://schemas.microsoft.com/office/powerpoint/2010/main" val="2734672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Table&#10;&#10;Description automatically generated">
            <a:extLst>
              <a:ext uri="{FF2B5EF4-FFF2-40B4-BE49-F238E27FC236}">
                <a16:creationId xmlns:a16="http://schemas.microsoft.com/office/drawing/2014/main" id="{A1E93683-EC1A-454E-91B4-362B7F6DC500}"/>
              </a:ext>
            </a:extLst>
          </p:cNvPr>
          <p:cNvPicPr>
            <a:picLocks noChangeAspect="1"/>
          </p:cNvPicPr>
          <p:nvPr/>
        </p:nvPicPr>
        <p:blipFill>
          <a:blip r:embed="rId2"/>
          <a:stretch>
            <a:fillRect/>
          </a:stretch>
        </p:blipFill>
        <p:spPr>
          <a:xfrm>
            <a:off x="99108" y="1374513"/>
            <a:ext cx="7434456" cy="5300217"/>
          </a:xfrm>
          <a:prstGeom prst="rect">
            <a:avLst/>
          </a:prstGeom>
        </p:spPr>
      </p:pic>
      <p:sp>
        <p:nvSpPr>
          <p:cNvPr id="2" name="Title 1">
            <a:extLst>
              <a:ext uri="{FF2B5EF4-FFF2-40B4-BE49-F238E27FC236}">
                <a16:creationId xmlns:a16="http://schemas.microsoft.com/office/drawing/2014/main" id="{EA3B0FA4-AE28-CB43-A2CA-0D3F6E236EE0}"/>
              </a:ext>
            </a:extLst>
          </p:cNvPr>
          <p:cNvSpPr>
            <a:spLocks noGrp="1"/>
          </p:cNvSpPr>
          <p:nvPr>
            <p:ph type="title"/>
          </p:nvPr>
        </p:nvSpPr>
        <p:spPr>
          <a:xfrm>
            <a:off x="114869" y="120139"/>
            <a:ext cx="10515600" cy="1325563"/>
          </a:xfrm>
        </p:spPr>
        <p:txBody>
          <a:bodyPr/>
          <a:lstStyle/>
          <a:p>
            <a:r>
              <a:rPr lang="en-US" dirty="0"/>
              <a:t>Table 8…</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107EBE-3F20-5441-A846-BD312FF6604C}"/>
                  </a:ext>
                </a:extLst>
              </p:cNvPr>
              <p:cNvSpPr txBox="1"/>
              <p:nvPr/>
            </p:nvSpPr>
            <p:spPr>
              <a:xfrm>
                <a:off x="3304309" y="300777"/>
                <a:ext cx="8887690" cy="8522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𝐼𝑛𝑠𝑖𝑑𝑒𝑟𝑠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m:t>
                      </m:r>
                      <m:f>
                        <m:fPr>
                          <m:ctrlPr>
                            <a:rPr lang="en-US" sz="2600" i="1">
                              <a:solidFill>
                                <a:schemeClr val="accent2"/>
                              </a:solidFill>
                              <a:latin typeface="Cambria Math" panose="02040503050406030204" pitchFamily="18" charset="0"/>
                            </a:rPr>
                          </m:ctrlPr>
                        </m:fPr>
                        <m:num>
                          <m:r>
                            <a:rPr lang="en-US" sz="2600" i="1">
                              <a:solidFill>
                                <a:schemeClr val="accent2"/>
                              </a:solidFill>
                              <a:latin typeface="Cambria Math" panose="02040503050406030204" pitchFamily="18" charset="0"/>
                            </a:rPr>
                            <m:t>𝑊h𝑖𝑡𝑒</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num>
                        <m:den>
                          <m:r>
                            <a:rPr lang="en-US" sz="2600" i="1">
                              <a:solidFill>
                                <a:schemeClr val="accent2"/>
                              </a:solidFill>
                              <a:latin typeface="Cambria Math" panose="02040503050406030204" pitchFamily="18" charset="0"/>
                            </a:rPr>
                            <m:t>𝐴𝑙𝑙</m:t>
                          </m:r>
                          <m:r>
                            <a:rPr lang="en-US" sz="2600" i="1">
                              <a:solidFill>
                                <a:schemeClr val="accent2"/>
                              </a:solidFill>
                              <a:latin typeface="Cambria Math" panose="02040503050406030204" pitchFamily="18" charset="0"/>
                            </a:rPr>
                            <m:t> </m:t>
                          </m:r>
                          <m:r>
                            <a:rPr lang="en-US" sz="2600" i="1">
                              <a:solidFill>
                                <a:schemeClr val="accent2"/>
                              </a:solidFill>
                              <a:latin typeface="Cambria Math" panose="02040503050406030204" pitchFamily="18" charset="0"/>
                            </a:rPr>
                            <m:t>𝑂𝑢𝑡𝑠𝑖𝑑𝑒𝑟𝑠</m:t>
                          </m:r>
                          <m:r>
                            <a:rPr lang="en-US" sz="2600" i="1">
                              <a:solidFill>
                                <a:schemeClr val="accent2"/>
                              </a:solidFill>
                              <a:latin typeface="Cambria Math" panose="02040503050406030204" pitchFamily="18" charset="0"/>
                            </a:rPr>
                            <m:t> </m:t>
                          </m:r>
                          <m:r>
                            <a:rPr lang="en-US" sz="2600" b="0" i="1" smtClean="0">
                              <a:solidFill>
                                <a:schemeClr val="accent2"/>
                              </a:solidFill>
                              <a:latin typeface="Cambria Math" panose="02040503050406030204" pitchFamily="18" charset="0"/>
                            </a:rPr>
                            <m:t>𝐻𝑜𝑢𝑠𝑒𝑑</m:t>
                          </m:r>
                        </m:den>
                      </m:f>
                      <m:r>
                        <m:rPr>
                          <m:nor/>
                        </m:rPr>
                        <a:rPr lang="en-US" sz="2600" dirty="0">
                          <a:solidFill>
                            <a:schemeClr val="accent2"/>
                          </a:solidFill>
                        </a:rPr>
                        <m:t> − 1</m:t>
                      </m:r>
                    </m:oMath>
                  </m:oMathPara>
                </a14:m>
                <a:endParaRPr lang="en-US" sz="2600" dirty="0">
                  <a:solidFill>
                    <a:schemeClr val="accent2"/>
                  </a:solidFill>
                </a:endParaRPr>
              </a:p>
            </p:txBody>
          </p:sp>
        </mc:Choice>
        <mc:Fallback xmlns="">
          <p:sp>
            <p:nvSpPr>
              <p:cNvPr id="6" name="TextBox 5">
                <a:extLst>
                  <a:ext uri="{FF2B5EF4-FFF2-40B4-BE49-F238E27FC236}">
                    <a16:creationId xmlns:a16="http://schemas.microsoft.com/office/drawing/2014/main" id="{9F107EBE-3F20-5441-A846-BD312FF6604C}"/>
                  </a:ext>
                </a:extLst>
              </p:cNvPr>
              <p:cNvSpPr txBox="1">
                <a:spLocks noRot="1" noChangeAspect="1" noMove="1" noResize="1" noEditPoints="1" noAdjustHandles="1" noChangeArrowheads="1" noChangeShapeType="1" noTextEdit="1"/>
              </p:cNvSpPr>
              <p:nvPr/>
            </p:nvSpPr>
            <p:spPr>
              <a:xfrm>
                <a:off x="3304309" y="300777"/>
                <a:ext cx="8887690" cy="852285"/>
              </a:xfrm>
              <a:prstGeom prst="rect">
                <a:avLst/>
              </a:prstGeom>
              <a:blipFill>
                <a:blip r:embed="rId3"/>
                <a:stretch>
                  <a:fillRect t="-1471" b="-22059"/>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36319A0-763F-F941-B576-90906F532110}"/>
              </a:ext>
            </a:extLst>
          </p:cNvPr>
          <p:cNvCxnSpPr>
            <a:cxnSpLocks/>
          </p:cNvCxnSpPr>
          <p:nvPr/>
        </p:nvCxnSpPr>
        <p:spPr>
          <a:xfrm flipH="1">
            <a:off x="3716575" y="1153062"/>
            <a:ext cx="769069" cy="165265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886BFB1-9A9F-1F4C-8577-8BB50BEB15EF}"/>
              </a:ext>
            </a:extLst>
          </p:cNvPr>
          <p:cNvSpPr txBox="1"/>
          <p:nvPr/>
        </p:nvSpPr>
        <p:spPr>
          <a:xfrm>
            <a:off x="7533564" y="3633805"/>
            <a:ext cx="4010891" cy="1815882"/>
          </a:xfrm>
          <a:prstGeom prst="rect">
            <a:avLst/>
          </a:prstGeom>
          <a:noFill/>
        </p:spPr>
        <p:txBody>
          <a:bodyPr wrap="square" rtlCol="0">
            <a:spAutoFit/>
          </a:bodyPr>
          <a:lstStyle/>
          <a:p>
            <a:r>
              <a:rPr lang="en-US" sz="2800" dirty="0"/>
              <a:t>+    Considers </a:t>
            </a:r>
            <a:r>
              <a:rPr lang="en-US" sz="2800" b="1" dirty="0">
                <a:solidFill>
                  <a:schemeClr val="accent1"/>
                </a:solidFill>
              </a:rPr>
              <a:t>outcomes</a:t>
            </a:r>
            <a:r>
              <a:rPr lang="en-US" sz="2800" dirty="0"/>
              <a:t> </a:t>
            </a:r>
          </a:p>
          <a:p>
            <a:r>
              <a:rPr lang="en-US" sz="2800" dirty="0"/>
              <a:t>      by </a:t>
            </a:r>
            <a:r>
              <a:rPr lang="en-US" sz="2800" b="1" dirty="0">
                <a:solidFill>
                  <a:srgbClr val="FF0000"/>
                </a:solidFill>
              </a:rPr>
              <a:t>race</a:t>
            </a:r>
            <a:r>
              <a:rPr lang="en-US" sz="2800" dirty="0"/>
              <a:t>.</a:t>
            </a:r>
          </a:p>
          <a:p>
            <a:pPr marL="457200" indent="-457200">
              <a:buFontTx/>
              <a:buChar char="-"/>
            </a:pPr>
            <a:r>
              <a:rPr lang="en-US" sz="2800" dirty="0"/>
              <a:t>Unclear what would</a:t>
            </a:r>
          </a:p>
          <a:p>
            <a:r>
              <a:rPr lang="en-US" sz="2800" dirty="0"/>
              <a:t>      result </a:t>
            </a:r>
            <a:r>
              <a:rPr lang="en-US" sz="2800" b="1" dirty="0">
                <a:solidFill>
                  <a:schemeClr val="accent6"/>
                </a:solidFill>
              </a:rPr>
              <a:t>without </a:t>
            </a:r>
            <a:r>
              <a:rPr lang="en-US" sz="2800" dirty="0"/>
              <a:t>CP.</a:t>
            </a:r>
          </a:p>
        </p:txBody>
      </p:sp>
      <p:sp>
        <p:nvSpPr>
          <p:cNvPr id="11" name="TextBox 10">
            <a:extLst>
              <a:ext uri="{FF2B5EF4-FFF2-40B4-BE49-F238E27FC236}">
                <a16:creationId xmlns:a16="http://schemas.microsoft.com/office/drawing/2014/main" id="{496108CE-5C27-EE48-91CD-01751B23502F}"/>
              </a:ext>
            </a:extLst>
          </p:cNvPr>
          <p:cNvSpPr txBox="1"/>
          <p:nvPr/>
        </p:nvSpPr>
        <p:spPr>
          <a:xfrm>
            <a:off x="7460294" y="1387036"/>
            <a:ext cx="4852021" cy="2246769"/>
          </a:xfrm>
          <a:prstGeom prst="rect">
            <a:avLst/>
          </a:prstGeom>
          <a:noFill/>
        </p:spPr>
        <p:txBody>
          <a:bodyPr wrap="square" rtlCol="0">
            <a:spAutoFit/>
          </a:bodyPr>
          <a:lstStyle/>
          <a:p>
            <a:r>
              <a:rPr lang="en-US" sz="2800" b="1" dirty="0"/>
              <a:t>Interpretation: </a:t>
            </a:r>
            <a:r>
              <a:rPr lang="en-US" sz="2800" dirty="0"/>
              <a:t>in majority white districts, housed insiders are 1.9x more likely to be white (and 66% less likely to be black) as housed outsiders. </a:t>
            </a:r>
          </a:p>
        </p:txBody>
      </p:sp>
      <p:sp>
        <p:nvSpPr>
          <p:cNvPr id="12" name="Rectangle 11">
            <a:extLst>
              <a:ext uri="{FF2B5EF4-FFF2-40B4-BE49-F238E27FC236}">
                <a16:creationId xmlns:a16="http://schemas.microsoft.com/office/drawing/2014/main" id="{BB724709-50B2-CB4C-9151-BE0871D5B1B8}"/>
              </a:ext>
            </a:extLst>
          </p:cNvPr>
          <p:cNvSpPr/>
          <p:nvPr/>
        </p:nvSpPr>
        <p:spPr>
          <a:xfrm>
            <a:off x="7533564" y="5473005"/>
            <a:ext cx="4253345" cy="1384995"/>
          </a:xfrm>
          <a:prstGeom prst="rect">
            <a:avLst/>
          </a:prstGeom>
        </p:spPr>
        <p:txBody>
          <a:bodyPr wrap="square">
            <a:spAutoFit/>
          </a:bodyPr>
          <a:lstStyle/>
          <a:p>
            <a:r>
              <a:rPr lang="en-US" sz="2800" b="1" dirty="0"/>
              <a:t>Base rates</a:t>
            </a:r>
            <a:r>
              <a:rPr lang="en-US" sz="2800" dirty="0"/>
              <a:t>: white applicants more likely to be insiders in majority white districts!</a:t>
            </a:r>
          </a:p>
        </p:txBody>
      </p:sp>
    </p:spTree>
    <p:extLst>
      <p:ext uri="{BB962C8B-B14F-4D97-AF65-F5344CB8AC3E}">
        <p14:creationId xmlns:p14="http://schemas.microsoft.com/office/powerpoint/2010/main" val="2141289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F3CC-ABEC-DF42-AC39-FFF5C1C3A8B6}"/>
              </a:ext>
            </a:extLst>
          </p:cNvPr>
          <p:cNvSpPr>
            <a:spLocks noGrp="1"/>
          </p:cNvSpPr>
          <p:nvPr>
            <p:ph type="title"/>
          </p:nvPr>
        </p:nvSpPr>
        <p:spPr>
          <a:xfrm>
            <a:off x="209550" y="365125"/>
            <a:ext cx="10515600" cy="1325563"/>
          </a:xfrm>
        </p:spPr>
        <p:txBody>
          <a:bodyPr/>
          <a:lstStyle/>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5AB9806-F93F-BA4F-B122-E74F9A331C00}"/>
                  </a:ext>
                </a:extLst>
              </p:cNvPr>
              <p:cNvSpPr txBox="1">
                <a:spLocks/>
              </p:cNvSpPr>
              <p:nvPr/>
            </p:nvSpPr>
            <p:spPr>
              <a:xfrm>
                <a:off x="5868537" y="862984"/>
                <a:ext cx="6441459" cy="82770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f>
                      <m:fPr>
                        <m:ctrlPr>
                          <a:rPr lang="en-US" sz="2600" i="1" smtClean="0">
                            <a:latin typeface="Cambria Math" panose="02040503050406030204" pitchFamily="18" charset="0"/>
                          </a:rPr>
                        </m:ctrlPr>
                      </m:fPr>
                      <m:num>
                        <m:r>
                          <a:rPr lang="en-US" sz="2600" i="1" smtClean="0">
                            <a:latin typeface="Cambria Math" panose="02040503050406030204" pitchFamily="18" charset="0"/>
                          </a:rPr>
                          <m:t>𝑊h𝑖𝑡𝑒</m:t>
                        </m:r>
                        <m:r>
                          <a:rPr lang="en-US" sz="2600" i="1" smtClean="0">
                            <a:latin typeface="Cambria Math" panose="02040503050406030204" pitchFamily="18" charset="0"/>
                          </a:rPr>
                          <m:t> </m:t>
                        </m:r>
                        <m:r>
                          <a:rPr lang="en-US" sz="2600" i="1" smtClean="0">
                            <a:latin typeface="Cambria Math" panose="02040503050406030204" pitchFamily="18" charset="0"/>
                          </a:rPr>
                          <m:t>𝐼𝑛𝑠𝑖𝑑𝑒𝑟𝑠</m:t>
                        </m:r>
                        <m:r>
                          <a:rPr lang="en-US" sz="2600" b="0" i="1" smtClean="0">
                            <a:latin typeface="Cambria Math" panose="02040503050406030204" pitchFamily="18" charset="0"/>
                          </a:rPr>
                          <m:t> </m:t>
                        </m:r>
                        <m:r>
                          <a:rPr lang="en-US" sz="2600" b="0" i="1" smtClean="0">
                            <a:latin typeface="Cambria Math" panose="02040503050406030204" pitchFamily="18" charset="0"/>
                          </a:rPr>
                          <m:t>𝑀𝑎𝑡𝑐h𝑒𝑑</m:t>
                        </m:r>
                      </m:num>
                      <m:den>
                        <m:r>
                          <a:rPr lang="en-US" sz="2600" i="1" smtClean="0">
                            <a:latin typeface="Cambria Math" panose="02040503050406030204" pitchFamily="18" charset="0"/>
                          </a:rPr>
                          <m:t>𝐴𝑙𝑙</m:t>
                        </m:r>
                        <m:r>
                          <a:rPr lang="en-US" sz="2600" i="1" smtClean="0">
                            <a:latin typeface="Cambria Math" panose="02040503050406030204" pitchFamily="18" charset="0"/>
                          </a:rPr>
                          <m:t> </m:t>
                        </m:r>
                        <m:r>
                          <a:rPr lang="en-US" sz="2600" i="1" smtClean="0">
                            <a:latin typeface="Cambria Math" panose="02040503050406030204" pitchFamily="18" charset="0"/>
                          </a:rPr>
                          <m:t>𝐼𝑛𝑠𝑖𝑑𝑒𝑟𝑠</m:t>
                        </m:r>
                        <m:r>
                          <a:rPr lang="en-US" sz="2600" b="0" i="1" smtClean="0">
                            <a:latin typeface="Cambria Math" panose="02040503050406030204" pitchFamily="18" charset="0"/>
                          </a:rPr>
                          <m:t> </m:t>
                        </m:r>
                        <m:r>
                          <a:rPr lang="en-US" sz="2600" b="0" i="1" smtClean="0">
                            <a:latin typeface="Cambria Math" panose="02040503050406030204" pitchFamily="18" charset="0"/>
                          </a:rPr>
                          <m:t>𝑀𝑎𝑡𝑐h𝑒𝑑</m:t>
                        </m:r>
                      </m:den>
                    </m:f>
                  </m:oMath>
                </a14:m>
                <a:r>
                  <a:rPr lang="en-US" sz="2600" dirty="0"/>
                  <a:t> / </a:t>
                </a:r>
                <a14:m>
                  <m:oMath xmlns:m="http://schemas.openxmlformats.org/officeDocument/2006/math">
                    <m:f>
                      <m:fPr>
                        <m:ctrlPr>
                          <a:rPr lang="en-US" sz="2600" i="1" smtClean="0">
                            <a:latin typeface="Cambria Math" panose="02040503050406030204" pitchFamily="18" charset="0"/>
                          </a:rPr>
                        </m:ctrlPr>
                      </m:fPr>
                      <m:num>
                        <m:r>
                          <a:rPr lang="en-US" sz="2600" i="1" smtClean="0">
                            <a:latin typeface="Cambria Math" panose="02040503050406030204" pitchFamily="18" charset="0"/>
                          </a:rPr>
                          <m:t>𝑊h𝑖𝑡𝑒</m:t>
                        </m:r>
                        <m:r>
                          <a:rPr lang="en-US" sz="2600" i="1" smtClean="0">
                            <a:latin typeface="Cambria Math" panose="02040503050406030204" pitchFamily="18" charset="0"/>
                          </a:rPr>
                          <m:t> </m:t>
                        </m:r>
                        <m:r>
                          <a:rPr lang="en-US" sz="2600" i="1" smtClean="0">
                            <a:latin typeface="Cambria Math" panose="02040503050406030204" pitchFamily="18" charset="0"/>
                          </a:rPr>
                          <m:t>𝑂𝑢𝑡𝑠𝑖𝑑𝑒𝑟𝑠</m:t>
                        </m:r>
                        <m:r>
                          <a:rPr lang="en-US" sz="2600" b="0" i="1" smtClean="0">
                            <a:latin typeface="Cambria Math" panose="02040503050406030204" pitchFamily="18" charset="0"/>
                          </a:rPr>
                          <m:t> </m:t>
                        </m:r>
                        <m:r>
                          <a:rPr lang="en-US" sz="2600" b="0" i="1" smtClean="0">
                            <a:latin typeface="Cambria Math" panose="02040503050406030204" pitchFamily="18" charset="0"/>
                          </a:rPr>
                          <m:t>𝑀𝑎𝑡𝑐h𝑒𝑑</m:t>
                        </m:r>
                      </m:num>
                      <m:den>
                        <m:r>
                          <a:rPr lang="en-US" sz="2600" i="1" smtClean="0">
                            <a:latin typeface="Cambria Math" panose="02040503050406030204" pitchFamily="18" charset="0"/>
                          </a:rPr>
                          <m:t>𝐴𝑙𝑙</m:t>
                        </m:r>
                        <m:r>
                          <a:rPr lang="en-US" sz="2600" i="1" smtClean="0">
                            <a:latin typeface="Cambria Math" panose="02040503050406030204" pitchFamily="18" charset="0"/>
                          </a:rPr>
                          <m:t> </m:t>
                        </m:r>
                        <m:r>
                          <a:rPr lang="en-US" sz="2600" i="1" smtClean="0">
                            <a:latin typeface="Cambria Math" panose="02040503050406030204" pitchFamily="18" charset="0"/>
                          </a:rPr>
                          <m:t>𝑂𝑢𝑡𝑠𝑖𝑑𝑒𝑟𝑠</m:t>
                        </m:r>
                        <m:r>
                          <a:rPr lang="en-US" sz="2600" b="0" i="1" smtClean="0">
                            <a:latin typeface="Cambria Math" panose="02040503050406030204" pitchFamily="18" charset="0"/>
                          </a:rPr>
                          <m:t> </m:t>
                        </m:r>
                        <m:r>
                          <a:rPr lang="en-US" sz="2600" b="0" i="1" smtClean="0">
                            <a:latin typeface="Cambria Math" panose="02040503050406030204" pitchFamily="18" charset="0"/>
                          </a:rPr>
                          <m:t>𝑀𝑎𝑡𝑐h𝑒𝑑</m:t>
                        </m:r>
                      </m:den>
                    </m:f>
                  </m:oMath>
                </a14:m>
                <a:r>
                  <a:rPr lang="en-US" sz="2600" dirty="0"/>
                  <a:t> - 1</a:t>
                </a:r>
              </a:p>
            </p:txBody>
          </p:sp>
        </mc:Choice>
        <mc:Fallback xmlns="">
          <p:sp>
            <p:nvSpPr>
              <p:cNvPr id="4" name="Content Placeholder 2">
                <a:extLst>
                  <a:ext uri="{FF2B5EF4-FFF2-40B4-BE49-F238E27FC236}">
                    <a16:creationId xmlns:a16="http://schemas.microsoft.com/office/drawing/2014/main" id="{55AB9806-F93F-BA4F-B122-E74F9A331C00}"/>
                  </a:ext>
                </a:extLst>
              </p:cNvPr>
              <p:cNvSpPr txBox="1">
                <a:spLocks noRot="1" noChangeAspect="1" noMove="1" noResize="1" noEditPoints="1" noAdjustHandles="1" noChangeArrowheads="1" noChangeShapeType="1" noTextEdit="1"/>
              </p:cNvSpPr>
              <p:nvPr/>
            </p:nvSpPr>
            <p:spPr>
              <a:xfrm>
                <a:off x="5868537" y="862984"/>
                <a:ext cx="6441459" cy="827704"/>
              </a:xfrm>
              <a:prstGeom prst="rect">
                <a:avLst/>
              </a:prstGeom>
              <a:blipFill>
                <a:blip r:embed="rId2"/>
                <a:stretch>
                  <a:fillRect t="-4615"/>
                </a:stretch>
              </a:blipFill>
            </p:spPr>
            <p:txBody>
              <a:bodyPr/>
              <a:lstStyle/>
              <a:p>
                <a:r>
                  <a:rPr lang="en-US">
                    <a:noFill/>
                  </a:rPr>
                  <a:t> </a:t>
                </a:r>
              </a:p>
            </p:txBody>
          </p:sp>
        </mc:Fallback>
      </mc:AlternateContent>
      <p:pic>
        <p:nvPicPr>
          <p:cNvPr id="6" name="Picture 5" descr="Table&#10;&#10;Description automatically generated">
            <a:extLst>
              <a:ext uri="{FF2B5EF4-FFF2-40B4-BE49-F238E27FC236}">
                <a16:creationId xmlns:a16="http://schemas.microsoft.com/office/drawing/2014/main" id="{C4F81016-5545-9044-86B9-CE56E03F9CD5}"/>
              </a:ext>
            </a:extLst>
          </p:cNvPr>
          <p:cNvPicPr>
            <a:picLocks noChangeAspect="1"/>
          </p:cNvPicPr>
          <p:nvPr/>
        </p:nvPicPr>
        <p:blipFill>
          <a:blip r:embed="rId3"/>
          <a:stretch>
            <a:fillRect/>
          </a:stretch>
        </p:blipFill>
        <p:spPr>
          <a:xfrm>
            <a:off x="209550" y="1754117"/>
            <a:ext cx="8684349" cy="4946934"/>
          </a:xfrm>
          <a:prstGeom prst="rect">
            <a:avLst/>
          </a:prstGeom>
        </p:spPr>
      </p:pic>
      <p:cxnSp>
        <p:nvCxnSpPr>
          <p:cNvPr id="7" name="Straight Arrow Connector 6">
            <a:extLst>
              <a:ext uri="{FF2B5EF4-FFF2-40B4-BE49-F238E27FC236}">
                <a16:creationId xmlns:a16="http://schemas.microsoft.com/office/drawing/2014/main" id="{8D5BFDDC-C8D7-4548-AFAF-D81089C0870A}"/>
              </a:ext>
            </a:extLst>
          </p:cNvPr>
          <p:cNvCxnSpPr>
            <a:cxnSpLocks/>
          </p:cNvCxnSpPr>
          <p:nvPr/>
        </p:nvCxnSpPr>
        <p:spPr>
          <a:xfrm flipH="1">
            <a:off x="4373183" y="1173707"/>
            <a:ext cx="1495354" cy="196655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D3A7669-4F34-384F-8C77-F62218AA60D1}"/>
              </a:ext>
            </a:extLst>
          </p:cNvPr>
          <p:cNvSpPr/>
          <p:nvPr/>
        </p:nvSpPr>
        <p:spPr>
          <a:xfrm>
            <a:off x="8934450" y="2549224"/>
            <a:ext cx="3048000" cy="2308324"/>
          </a:xfrm>
          <a:prstGeom prst="rect">
            <a:avLst/>
          </a:prstGeom>
        </p:spPr>
        <p:txBody>
          <a:bodyPr wrap="square">
            <a:spAutoFit/>
          </a:bodyPr>
          <a:lstStyle/>
          <a:p>
            <a:r>
              <a:rPr lang="en-US" dirty="0"/>
              <a:t>Same concern as Table 7: </a:t>
            </a:r>
          </a:p>
          <a:p>
            <a:endParaRPr lang="en-US" dirty="0"/>
          </a:p>
          <a:p>
            <a:r>
              <a:rPr lang="en-US" dirty="0"/>
              <a:t>This number reflects whether applicants of each race tend to be insiders or outsiders.</a:t>
            </a:r>
          </a:p>
          <a:p>
            <a:endParaRPr lang="en-US" dirty="0"/>
          </a:p>
          <a:p>
            <a:r>
              <a:rPr lang="en-US" b="1" dirty="0"/>
              <a:t>No</a:t>
            </a:r>
            <a:r>
              <a:rPr lang="en-US" dirty="0"/>
              <a:t> comparison of what would happen with vs without policy. </a:t>
            </a:r>
          </a:p>
        </p:txBody>
      </p:sp>
      <p:sp>
        <p:nvSpPr>
          <p:cNvPr id="11" name="TextBox 10">
            <a:extLst>
              <a:ext uri="{FF2B5EF4-FFF2-40B4-BE49-F238E27FC236}">
                <a16:creationId xmlns:a16="http://schemas.microsoft.com/office/drawing/2014/main" id="{80D29576-4521-7C46-ADEE-E6593F468F60}"/>
              </a:ext>
            </a:extLst>
          </p:cNvPr>
          <p:cNvSpPr txBox="1"/>
          <p:nvPr/>
        </p:nvSpPr>
        <p:spPr>
          <a:xfrm>
            <a:off x="8873836" y="5611091"/>
            <a:ext cx="3039773" cy="923330"/>
          </a:xfrm>
          <a:prstGeom prst="rect">
            <a:avLst/>
          </a:prstGeom>
          <a:noFill/>
        </p:spPr>
        <p:txBody>
          <a:bodyPr wrap="square" rtlCol="0">
            <a:spAutoFit/>
          </a:bodyPr>
          <a:lstStyle/>
          <a:p>
            <a:r>
              <a:rPr lang="en-US" dirty="0">
                <a:solidFill>
                  <a:srgbClr val="FF0000"/>
                </a:solidFill>
              </a:rPr>
              <a:t>What would these numbers be without community preference?</a:t>
            </a:r>
          </a:p>
        </p:txBody>
      </p:sp>
    </p:spTree>
    <p:extLst>
      <p:ext uri="{BB962C8B-B14F-4D97-AF65-F5344CB8AC3E}">
        <p14:creationId xmlns:p14="http://schemas.microsoft.com/office/powerpoint/2010/main" val="716188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1C4B2-D334-F945-9880-B72DEEBC6CAB}"/>
              </a:ext>
            </a:extLst>
          </p:cNvPr>
          <p:cNvSpPr>
            <a:spLocks noGrp="1"/>
          </p:cNvSpPr>
          <p:nvPr>
            <p:ph type="title"/>
          </p:nvPr>
        </p:nvSpPr>
        <p:spPr/>
        <p:txBody>
          <a:bodyPr/>
          <a:lstStyle/>
          <a:p>
            <a:r>
              <a:rPr lang="en-US" dirty="0"/>
              <a:t>CD Typologies</a:t>
            </a:r>
          </a:p>
        </p:txBody>
      </p:sp>
      <p:sp>
        <p:nvSpPr>
          <p:cNvPr id="3" name="Content Placeholder 2">
            <a:extLst>
              <a:ext uri="{FF2B5EF4-FFF2-40B4-BE49-F238E27FC236}">
                <a16:creationId xmlns:a16="http://schemas.microsoft.com/office/drawing/2014/main" id="{9C702EEE-F01E-2C44-85F5-46B26029EB61}"/>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40376921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761D-A728-2746-8D22-0F7E1CEE87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F2B3AF-772E-4F42-A457-CD032A5B79AF}"/>
              </a:ext>
            </a:extLst>
          </p:cNvPr>
          <p:cNvSpPr>
            <a:spLocks noGrp="1"/>
          </p:cNvSpPr>
          <p:nvPr>
            <p:ph idx="1"/>
          </p:nvPr>
        </p:nvSpPr>
        <p:spPr/>
        <p:txBody>
          <a:bodyPr>
            <a:normAutofit fontScale="92500" lnSpcReduction="20000"/>
          </a:bodyPr>
          <a:lstStyle/>
          <a:p>
            <a:pPr marL="0" lvl="0" indent="0" eaLnBrk="0" fontAlgn="base" hangingPunct="0">
              <a:lnSpc>
                <a:spcPct val="100000"/>
              </a:lnSpc>
              <a:spcBef>
                <a:spcPct val="0"/>
              </a:spcBef>
              <a:spcAft>
                <a:spcPct val="0"/>
              </a:spcAft>
              <a:buNone/>
            </a:pPr>
            <a:r>
              <a:rPr lang="en-US" altLang="en-US" dirty="0">
                <a:latin typeface="TimesNewRoman"/>
              </a:rPr>
              <a:t>I have conducted my analysis in three ways, each of which demonstrate that the CP policy does not have a disparate impact on any race. First, I demonstrate that African Americans and Hispanics are overrepresented in the City’s affordable housing units as compared to their representation among low income New York City residents. The second analysis compares lottery results with the CP policy and without the CP policy. The third analysis examines the stage of the Lottery Process that determines which applications will be able to compete for a unit by demonstrating their actual eligibility and interest in a unit. This stage of the Lottery Process, referred to as the Consideration Stage, is the only stage where the CP policy has an impact on who can compete for affordable housing. My analyses demonstrate that there is no meaningful disparate impact. </a:t>
            </a:r>
            <a:endParaRPr lang="en-US" altLang="en-US" sz="4000" dirty="0">
              <a:latin typeface="Arial" panose="020B0604020202020204" pitchFamily="34" charset="0"/>
            </a:endParaRPr>
          </a:p>
          <a:p>
            <a:endParaRPr lang="en-US" dirty="0"/>
          </a:p>
        </p:txBody>
      </p:sp>
      <p:pic>
        <p:nvPicPr>
          <p:cNvPr id="1026" name="Picture 2" descr="page10image77517120">
            <a:extLst>
              <a:ext uri="{FF2B5EF4-FFF2-40B4-BE49-F238E27FC236}">
                <a16:creationId xmlns:a16="http://schemas.microsoft.com/office/drawing/2014/main" id="{B5A92B5C-0A39-644C-957F-6985725FA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266700"/>
            <a:ext cx="4711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10image77513088">
            <a:extLst>
              <a:ext uri="{FF2B5EF4-FFF2-40B4-BE49-F238E27FC236}">
                <a16:creationId xmlns:a16="http://schemas.microsoft.com/office/drawing/2014/main" id="{5535C47C-B014-2C40-8A8B-A2916210E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0" y="-266700"/>
            <a:ext cx="27178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10image77515776">
            <a:extLst>
              <a:ext uri="{FF2B5EF4-FFF2-40B4-BE49-F238E27FC236}">
                <a16:creationId xmlns:a16="http://schemas.microsoft.com/office/drawing/2014/main" id="{192D050E-98AF-404D-B956-63A8E2BC67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0" y="-266700"/>
            <a:ext cx="18288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4056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97503-2476-ED46-A728-7533B9CF5F0E}"/>
              </a:ext>
            </a:extLst>
          </p:cNvPr>
          <p:cNvSpPr>
            <a:spLocks noGrp="1"/>
          </p:cNvSpPr>
          <p:nvPr>
            <p:ph type="title"/>
          </p:nvPr>
        </p:nvSpPr>
        <p:spPr/>
        <p:txBody>
          <a:bodyPr/>
          <a:lstStyle/>
          <a:p>
            <a:r>
              <a:rPr lang="en-US" dirty="0"/>
              <a:t>Siskin’s Report</a:t>
            </a:r>
          </a:p>
        </p:txBody>
      </p:sp>
      <p:sp>
        <p:nvSpPr>
          <p:cNvPr id="3" name="Content Placeholder 2">
            <a:extLst>
              <a:ext uri="{FF2B5EF4-FFF2-40B4-BE49-F238E27FC236}">
                <a16:creationId xmlns:a16="http://schemas.microsoft.com/office/drawing/2014/main" id="{EDBE95E0-9D2A-A342-A586-D854D5A1DCA4}"/>
              </a:ext>
            </a:extLst>
          </p:cNvPr>
          <p:cNvSpPr>
            <a:spLocks noGrp="1"/>
          </p:cNvSpPr>
          <p:nvPr>
            <p:ph idx="1"/>
          </p:nvPr>
        </p:nvSpPr>
        <p:spPr/>
        <p:txBody>
          <a:bodyPr/>
          <a:lstStyle/>
          <a:p>
            <a:pPr marL="0" indent="0">
              <a:buNone/>
            </a:pPr>
            <a:endParaRPr lang="en-US" dirty="0"/>
          </a:p>
          <a:p>
            <a:pPr marL="0" indent="0">
              <a:buNone/>
            </a:pPr>
            <a:r>
              <a:rPr lang="en-US" dirty="0"/>
              <a:t>“Kitchen Sink” approach</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3B806EA1-D570-AB46-8AFC-C732B28774A1}"/>
              </a:ext>
            </a:extLst>
          </p:cNvPr>
          <p:cNvPicPr>
            <a:picLocks noChangeAspect="1"/>
          </p:cNvPicPr>
          <p:nvPr/>
        </p:nvPicPr>
        <p:blipFill>
          <a:blip r:embed="rId2"/>
          <a:stretch>
            <a:fillRect/>
          </a:stretch>
        </p:blipFill>
        <p:spPr>
          <a:xfrm>
            <a:off x="768350" y="3143827"/>
            <a:ext cx="7137400" cy="736600"/>
          </a:xfrm>
          <a:prstGeom prst="rect">
            <a:avLst/>
          </a:prstGeom>
        </p:spPr>
      </p:pic>
      <p:pic>
        <p:nvPicPr>
          <p:cNvPr id="7" name="Picture 6">
            <a:extLst>
              <a:ext uri="{FF2B5EF4-FFF2-40B4-BE49-F238E27FC236}">
                <a16:creationId xmlns:a16="http://schemas.microsoft.com/office/drawing/2014/main" id="{FAEE987F-ACA4-0447-97AD-E894FF8207B0}"/>
              </a:ext>
            </a:extLst>
          </p:cNvPr>
          <p:cNvPicPr>
            <a:picLocks noChangeAspect="1"/>
          </p:cNvPicPr>
          <p:nvPr/>
        </p:nvPicPr>
        <p:blipFill>
          <a:blip r:embed="rId3"/>
          <a:stretch>
            <a:fillRect/>
          </a:stretch>
        </p:blipFill>
        <p:spPr>
          <a:xfrm>
            <a:off x="838200" y="4190495"/>
            <a:ext cx="6997700" cy="723900"/>
          </a:xfrm>
          <a:prstGeom prst="rect">
            <a:avLst/>
          </a:prstGeom>
        </p:spPr>
      </p:pic>
      <p:pic>
        <p:nvPicPr>
          <p:cNvPr id="9" name="Picture 8" descr="Text&#10;&#10;Description automatically generated">
            <a:extLst>
              <a:ext uri="{FF2B5EF4-FFF2-40B4-BE49-F238E27FC236}">
                <a16:creationId xmlns:a16="http://schemas.microsoft.com/office/drawing/2014/main" id="{35987084-3676-BB44-8AF9-1D2AA4C234E8}"/>
              </a:ext>
            </a:extLst>
          </p:cNvPr>
          <p:cNvPicPr>
            <a:picLocks noChangeAspect="1"/>
          </p:cNvPicPr>
          <p:nvPr/>
        </p:nvPicPr>
        <p:blipFill>
          <a:blip r:embed="rId4"/>
          <a:stretch>
            <a:fillRect/>
          </a:stretch>
        </p:blipFill>
        <p:spPr>
          <a:xfrm>
            <a:off x="838200" y="5224463"/>
            <a:ext cx="7251700" cy="952500"/>
          </a:xfrm>
          <a:prstGeom prst="rect">
            <a:avLst/>
          </a:prstGeom>
        </p:spPr>
      </p:pic>
    </p:spTree>
    <p:extLst>
      <p:ext uri="{BB962C8B-B14F-4D97-AF65-F5344CB8AC3E}">
        <p14:creationId xmlns:p14="http://schemas.microsoft.com/office/powerpoint/2010/main" val="4487207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DA14E-7B35-A944-BB37-77CC51ADFE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1CF3EC-6703-2D4E-B832-AE4449BB8A51}"/>
              </a:ext>
            </a:extLst>
          </p:cNvPr>
          <p:cNvSpPr>
            <a:spLocks noGrp="1"/>
          </p:cNvSpPr>
          <p:nvPr>
            <p:ph idx="1"/>
          </p:nvPr>
        </p:nvSpPr>
        <p:spPr/>
        <p:txBody>
          <a:bodyPr/>
          <a:lstStyle/>
          <a:p>
            <a:pPr marL="0" indent="0">
              <a:buNone/>
            </a:pPr>
            <a:r>
              <a:rPr lang="en-US" i="1" dirty="0"/>
              <a:t>“even if one were to select awardees with the goal of increasing (or decreasing) the Dissimilarity Index the result would have a small impact on the Dissimilarity Index between African Americans and whites. This is primarily due to the fact that the </a:t>
            </a:r>
            <a:r>
              <a:rPr lang="en-US" b="1" i="1" dirty="0"/>
              <a:t>housing lottery units make up only a very small portion of the housing stock in New York City</a:t>
            </a:r>
            <a:r>
              <a:rPr lang="en-US" i="1" dirty="0"/>
              <a:t>.”</a:t>
            </a:r>
          </a:p>
          <a:p>
            <a:endParaRPr lang="en-US" dirty="0"/>
          </a:p>
        </p:txBody>
      </p:sp>
    </p:spTree>
    <p:extLst>
      <p:ext uri="{BB962C8B-B14F-4D97-AF65-F5344CB8AC3E}">
        <p14:creationId xmlns:p14="http://schemas.microsoft.com/office/powerpoint/2010/main" val="1548470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1C525-D757-9343-BC04-FD7A05CB9DF8}"/>
              </a:ext>
            </a:extLst>
          </p:cNvPr>
          <p:cNvSpPr>
            <a:spLocks noGrp="1"/>
          </p:cNvSpPr>
          <p:nvPr>
            <p:ph type="title"/>
          </p:nvPr>
        </p:nvSpPr>
        <p:spPr/>
        <p:txBody>
          <a:bodyPr/>
          <a:lstStyle/>
          <a:p>
            <a:r>
              <a:rPr lang="en-US" dirty="0"/>
              <a:t>Simulation Results</a:t>
            </a:r>
          </a:p>
        </p:txBody>
      </p:sp>
      <p:pic>
        <p:nvPicPr>
          <p:cNvPr id="5" name="Content Placeholder 4" descr="A picture containing text, receipt, screenshot&#10;&#10;Description automatically generated">
            <a:extLst>
              <a:ext uri="{FF2B5EF4-FFF2-40B4-BE49-F238E27FC236}">
                <a16:creationId xmlns:a16="http://schemas.microsoft.com/office/drawing/2014/main" id="{F3EFB38A-C16D-9D40-A676-79458EB63ED0}"/>
              </a:ext>
            </a:extLst>
          </p:cNvPr>
          <p:cNvPicPr>
            <a:picLocks noGrp="1" noChangeAspect="1"/>
          </p:cNvPicPr>
          <p:nvPr>
            <p:ph idx="1"/>
          </p:nvPr>
        </p:nvPicPr>
        <p:blipFill>
          <a:blip r:embed="rId2"/>
          <a:stretch>
            <a:fillRect/>
          </a:stretch>
        </p:blipFill>
        <p:spPr>
          <a:xfrm>
            <a:off x="838200" y="1690688"/>
            <a:ext cx="8715122" cy="4460371"/>
          </a:xfrm>
        </p:spPr>
      </p:pic>
    </p:spTree>
    <p:extLst>
      <p:ext uri="{BB962C8B-B14F-4D97-AF65-F5344CB8AC3E}">
        <p14:creationId xmlns:p14="http://schemas.microsoft.com/office/powerpoint/2010/main" val="13198993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9E4A-0E7A-8646-8BCD-DACABBE0F23C}"/>
              </a:ext>
            </a:extLst>
          </p:cNvPr>
          <p:cNvSpPr>
            <a:spLocks noGrp="1"/>
          </p:cNvSpPr>
          <p:nvPr>
            <p:ph type="title"/>
          </p:nvPr>
        </p:nvSpPr>
        <p:spPr/>
        <p:txBody>
          <a:bodyPr/>
          <a:lstStyle/>
          <a:p>
            <a:endParaRPr lang="en-US"/>
          </a:p>
        </p:txBody>
      </p:sp>
      <p:pic>
        <p:nvPicPr>
          <p:cNvPr id="5" name="Content Placeholder 4" descr="Table&#10;&#10;Description automatically generated">
            <a:extLst>
              <a:ext uri="{FF2B5EF4-FFF2-40B4-BE49-F238E27FC236}">
                <a16:creationId xmlns:a16="http://schemas.microsoft.com/office/drawing/2014/main" id="{D018BC0C-B38A-D04F-B812-A03B1DDDB7F5}"/>
              </a:ext>
            </a:extLst>
          </p:cNvPr>
          <p:cNvPicPr>
            <a:picLocks noGrp="1" noChangeAspect="1"/>
          </p:cNvPicPr>
          <p:nvPr>
            <p:ph idx="1"/>
          </p:nvPr>
        </p:nvPicPr>
        <p:blipFill>
          <a:blip r:embed="rId2"/>
          <a:stretch>
            <a:fillRect/>
          </a:stretch>
        </p:blipFill>
        <p:spPr>
          <a:xfrm>
            <a:off x="838200" y="1943367"/>
            <a:ext cx="8605716" cy="4280011"/>
          </a:xfrm>
        </p:spPr>
      </p:pic>
      <p:sp>
        <p:nvSpPr>
          <p:cNvPr id="6" name="Donut 5">
            <a:extLst>
              <a:ext uri="{FF2B5EF4-FFF2-40B4-BE49-F238E27FC236}">
                <a16:creationId xmlns:a16="http://schemas.microsoft.com/office/drawing/2014/main" id="{AD09B640-3AC6-314C-812E-7C51DFB60C5A}"/>
              </a:ext>
            </a:extLst>
          </p:cNvPr>
          <p:cNvSpPr/>
          <p:nvPr/>
        </p:nvSpPr>
        <p:spPr>
          <a:xfrm>
            <a:off x="8229599" y="5275686"/>
            <a:ext cx="873457" cy="655092"/>
          </a:xfrm>
          <a:prstGeom prst="donut">
            <a:avLst>
              <a:gd name="adj" fmla="val 186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highlight>
                <a:srgbClr val="FF0000"/>
              </a:highlight>
            </a:endParaRPr>
          </a:p>
        </p:txBody>
      </p:sp>
      <p:sp>
        <p:nvSpPr>
          <p:cNvPr id="7" name="Donut 6">
            <a:extLst>
              <a:ext uri="{FF2B5EF4-FFF2-40B4-BE49-F238E27FC236}">
                <a16:creationId xmlns:a16="http://schemas.microsoft.com/office/drawing/2014/main" id="{104BE594-4C81-1F48-9764-2D594CE620EE}"/>
              </a:ext>
            </a:extLst>
          </p:cNvPr>
          <p:cNvSpPr/>
          <p:nvPr/>
        </p:nvSpPr>
        <p:spPr>
          <a:xfrm>
            <a:off x="8068100" y="4388697"/>
            <a:ext cx="1034956" cy="655092"/>
          </a:xfrm>
          <a:prstGeom prst="donut">
            <a:avLst>
              <a:gd name="adj" fmla="val 186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highlight>
                <a:srgbClr val="FF0000"/>
              </a:highlight>
            </a:endParaRPr>
          </a:p>
        </p:txBody>
      </p:sp>
    </p:spTree>
    <p:extLst>
      <p:ext uri="{BB962C8B-B14F-4D97-AF65-F5344CB8AC3E}">
        <p14:creationId xmlns:p14="http://schemas.microsoft.com/office/powerpoint/2010/main" val="10478566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4196D-CC07-9E49-B171-CA8B5EA1776B}"/>
              </a:ext>
            </a:extLst>
          </p:cNvPr>
          <p:cNvSpPr>
            <a:spLocks noGrp="1"/>
          </p:cNvSpPr>
          <p:nvPr>
            <p:ph type="title"/>
          </p:nvPr>
        </p:nvSpPr>
        <p:spPr/>
        <p:txBody>
          <a:bodyPr/>
          <a:lstStyle/>
          <a:p>
            <a:r>
              <a:rPr lang="en-US" dirty="0"/>
              <a:t>Income Levels</a:t>
            </a:r>
          </a:p>
        </p:txBody>
      </p:sp>
      <p:sp>
        <p:nvSpPr>
          <p:cNvPr id="3" name="Content Placeholder 2">
            <a:extLst>
              <a:ext uri="{FF2B5EF4-FFF2-40B4-BE49-F238E27FC236}">
                <a16:creationId xmlns:a16="http://schemas.microsoft.com/office/drawing/2014/main" id="{661093DD-22C4-1646-970C-CFCC882A1AA1}"/>
              </a:ext>
            </a:extLst>
          </p:cNvPr>
          <p:cNvSpPr>
            <a:spLocks noGrp="1"/>
          </p:cNvSpPr>
          <p:nvPr>
            <p:ph idx="1"/>
          </p:nvPr>
        </p:nvSpPr>
        <p:spPr/>
        <p:txBody>
          <a:bodyPr/>
          <a:lstStyle/>
          <a:p>
            <a:endParaRPr lang="en-US" dirty="0"/>
          </a:p>
          <a:p>
            <a:pPr marL="0" indent="0">
              <a:buNone/>
            </a:pPr>
            <a:r>
              <a:rPr lang="en-US" dirty="0"/>
              <a:t>Missing from both analyses!</a:t>
            </a:r>
          </a:p>
        </p:txBody>
      </p:sp>
    </p:spTree>
    <p:extLst>
      <p:ext uri="{BB962C8B-B14F-4D97-AF65-F5344CB8AC3E}">
        <p14:creationId xmlns:p14="http://schemas.microsoft.com/office/powerpoint/2010/main" val="14228261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2886</TotalTime>
  <Words>1775</Words>
  <Application>Microsoft Macintosh PowerPoint</Application>
  <PresentationFormat>Widescreen</PresentationFormat>
  <Paragraphs>272</Paragraphs>
  <Slides>46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Calibri Light</vt:lpstr>
      <vt:lpstr>Cambria Math</vt:lpstr>
      <vt:lpstr>TimesNewRoman</vt:lpstr>
      <vt:lpstr>Office Theme</vt:lpstr>
      <vt:lpstr>NYC </vt:lpstr>
      <vt:lpstr>New York Affordable Housing Lotteries</vt:lpstr>
      <vt:lpstr>Community Preference Policy</vt:lpstr>
      <vt:lpstr>Community Preference Policy</vt:lpstr>
      <vt:lpstr>Community Preference Policy</vt:lpstr>
      <vt:lpstr>PowerPoint Presentation</vt:lpstr>
      <vt:lpstr>How to establish  “disparate impact on the basis of race”?</vt:lpstr>
      <vt:lpstr>Part 1: Beveridge’s Report</vt:lpstr>
      <vt:lpstr> How to study disparate impact of CP on race? Compare outcomes by race, with and without CP </vt:lpstr>
      <vt:lpstr> How to study disparate impact of CP on race? Compare outcomes by race, with and without CP </vt:lpstr>
      <vt:lpstr> How to study disparate impact of CP on race? Compare outcomes by race, with and without CP </vt:lpstr>
      <vt:lpstr> How to study disparate impact of CP on race? Compare outcomes by race, with and without CP </vt:lpstr>
      <vt:lpstr> How to study disparate impact of CP on race? Compare outcomes by race, with and without CP </vt:lpstr>
      <vt:lpstr>The Plaintiff’s Argument</vt:lpstr>
      <vt:lpstr>The Plaintiff’s Argument</vt:lpstr>
      <vt:lpstr>Beveridge’s Units of Analysis</vt:lpstr>
      <vt:lpstr>Beveridge’s Units of Analysis</vt:lpstr>
      <vt:lpstr>PowerPoint Presentation</vt:lpstr>
      <vt:lpstr>PowerPoint Presentation</vt:lpstr>
      <vt:lpstr>PowerPoint Presentation</vt:lpstr>
      <vt:lpstr>Multi-Stage Pipeline</vt:lpstr>
      <vt:lpstr>PowerPoint Presentation</vt:lpstr>
      <vt:lpstr>Siskin’s Rebuttal to Table 1</vt:lpstr>
      <vt:lpstr>On to Table 2…</vt:lpstr>
      <vt:lpstr>On to Table 2…</vt:lpstr>
      <vt:lpstr>On to Table 2…</vt:lpstr>
      <vt:lpstr>Beveridge’s  “second method of assessing CP disparate impact”</vt:lpstr>
      <vt:lpstr>Beveridge’s  “second method of assessing CP disparate impact”</vt:lpstr>
      <vt:lpstr>Beveridge’s  “second method of assessing CP disparate impact”</vt:lpstr>
      <vt:lpstr>Analysis of “Apparently Eligible” applicants</vt:lpstr>
      <vt:lpstr>Analysis of “Apparently Eligible” applicants</vt:lpstr>
      <vt:lpstr>Tables 4, 5, 6: same critiques as for Tables 1, 2, 3</vt:lpstr>
      <vt:lpstr>Table 7…</vt:lpstr>
      <vt:lpstr>Table 7…</vt:lpstr>
      <vt:lpstr>Table 7…</vt:lpstr>
      <vt:lpstr>Table 8…</vt:lpstr>
      <vt:lpstr>Table 8…</vt:lpstr>
      <vt:lpstr>Table 8…</vt:lpstr>
      <vt:lpstr>PowerPoint Presentation</vt:lpstr>
      <vt:lpstr>CD Typologies</vt:lpstr>
      <vt:lpstr>PowerPoint Presentation</vt:lpstr>
      <vt:lpstr>Siskin’s Report</vt:lpstr>
      <vt:lpstr>PowerPoint Presentation</vt:lpstr>
      <vt:lpstr>Simulation Results</vt:lpstr>
      <vt:lpstr>PowerPoint Presentation</vt:lpstr>
      <vt:lpstr>Income Levels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Nicholas A Arnosti</dc:creator>
  <cp:lastModifiedBy>Nicholas A Arnosti</cp:lastModifiedBy>
  <cp:revision>46</cp:revision>
  <dcterms:created xsi:type="dcterms:W3CDTF">2022-01-23T08:05:15Z</dcterms:created>
  <dcterms:modified xsi:type="dcterms:W3CDTF">2022-02-06T16:33:48Z</dcterms:modified>
</cp:coreProperties>
</file>