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58" r:id="rId4"/>
    <p:sldId id="257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28"/>
    <p:restoredTop sz="94605"/>
  </p:normalViewPr>
  <p:slideViewPr>
    <p:cSldViewPr snapToGrid="0" snapToObjects="1">
      <p:cViewPr varScale="1">
        <p:scale>
          <a:sx n="67" d="100"/>
          <a:sy n="67" d="100"/>
        </p:scale>
        <p:origin x="176" y="9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85845-F680-A04B-B34B-39DF555633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B2B183-AC80-BD49-B1EF-FACCAF9E31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AAAEB-431B-B84D-97C3-17E60A501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21743-D0D5-A943-8D42-58F070AD1897}" type="datetimeFigureOut">
              <a:rPr lang="en-US" smtClean="0"/>
              <a:t>1/23/22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4127F9-B469-3945-B531-F82800FD7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FE2005-1F49-0A4F-853E-B4CFD91C5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F3973-2BE7-8D49-B4B7-EF99BACCD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410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4FD73-8AFE-DB4E-AF24-401B12D6D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6F33A-287A-754E-8EAB-5CBC7E195D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C05CB9-0FF2-C542-B05C-7596AE308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21743-D0D5-A943-8D42-58F070AD1897}" type="datetimeFigureOut">
              <a:rPr lang="en-US" smtClean="0"/>
              <a:t>1/23/22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03034F-8F1C-BF44-9534-CA218689A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E37244-2D66-084B-9660-ECB905C8C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F3973-2BE7-8D49-B4B7-EF99BACCD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30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CA3E8-4404-194B-BA18-A34CB421C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8DC93E-F8D3-ED45-AD25-6CAB59A009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8940B-C3CD-4642-A7C0-AD19D48EC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21743-D0D5-A943-8D42-58F070AD1897}" type="datetimeFigureOut">
              <a:rPr lang="en-US" smtClean="0"/>
              <a:t>1/23/22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B25BC-C687-FD48-AF31-CDC107BC9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BE7D6-B13D-D547-BF96-59EED2175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F3973-2BE7-8D49-B4B7-EF99BACCD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146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2A3A1-D42C-9641-B129-A4C2FFE60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57EA0-5E61-7544-8B3C-04E1E63176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A0B6E2-1E51-5647-A4A5-499BE9332B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542CF1-5BB9-F842-8482-539CD02C2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21743-D0D5-A943-8D42-58F070AD1897}" type="datetimeFigureOut">
              <a:rPr lang="en-US" smtClean="0"/>
              <a:t>1/23/22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D58057-5498-5F41-AF3A-0DF5D2509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041C7A-B882-944E-802C-9683932A4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F3973-2BE7-8D49-B4B7-EF99BACCD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803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38CCF-4110-B540-A5AF-DA680A078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FED1A-4A50-C446-8BA7-73C7BC335B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62D403-E050-8440-A14C-307DDE5D87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A2F67F-C4C8-C647-9863-AC54E984FD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D3EEE8-B7A4-244A-A285-5FD24C73EA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BDD976-32A2-AE44-B697-E2648D1D1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21743-D0D5-A943-8D42-58F070AD1897}" type="datetimeFigureOut">
              <a:rPr lang="en-US" smtClean="0"/>
              <a:t>1/23/22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85EE88-670B-2344-8B5A-CB500FD0D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CB62E0-C3F4-6A42-9CB2-7551D112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F3973-2BE7-8D49-B4B7-EF99BACCD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702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E5D45-1928-9944-8E76-7DBD0B114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A005EA-C89A-B14E-B4D1-F9ABC9815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21743-D0D5-A943-8D42-58F070AD1897}" type="datetimeFigureOut">
              <a:rPr lang="en-US" smtClean="0"/>
              <a:t>1/23/22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73C63A-6C04-7246-84A3-B17D4A634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F42939-4F1B-5B4B-B5F1-F6367CCAD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F3973-2BE7-8D49-B4B7-EF99BACCD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63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23B928-E57A-D341-B7AD-3C9626F6D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21743-D0D5-A943-8D42-58F070AD1897}" type="datetimeFigureOut">
              <a:rPr lang="en-US" smtClean="0"/>
              <a:t>1/23/22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D7B032-0302-2048-86D3-592A603ED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F3916A-288F-9840-8611-638A9ADAA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F3973-2BE7-8D49-B4B7-EF99BACCD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996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BAA29-B422-4948-A0E0-9FAF8FAE0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26663-CCFE-414D-855C-F075D4B89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017C48-7606-CA45-AF4B-A197F1D423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51E0A4-4E24-E54C-AD4D-4DF87AA8B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21743-D0D5-A943-8D42-58F070AD1897}" type="datetimeFigureOut">
              <a:rPr lang="en-US" smtClean="0"/>
              <a:t>1/23/22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262182-2D3C-D745-8101-0E54381D6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76CAD7-008C-2C40-A171-B6AB15288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F3973-2BE7-8D49-B4B7-EF99BACCD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66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367FB-1390-1343-BFD8-B00AC0750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3E6730-2A6C-6248-9E27-D4AB113607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8B404F-1256-5C46-AC76-F6F7ECF73B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71013-DE3B-C54A-ADB4-40FA8D252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21743-D0D5-A943-8D42-58F070AD1897}" type="datetimeFigureOut">
              <a:rPr lang="en-US" smtClean="0"/>
              <a:t>1/23/22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68DACB-A0B2-CF46-B826-2BDAB1A01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A57C08-2A04-A840-8DCB-FE611E6E3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F3973-2BE7-8D49-B4B7-EF99BACCD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442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95DD5-975B-4346-BF7E-E09722CCE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26C886-A7C3-3C40-ACD7-EB1AAAF072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F4F6F-11FB-8F40-80D4-A43081C64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21743-D0D5-A943-8D42-58F070AD1897}" type="datetimeFigureOut">
              <a:rPr lang="en-US" smtClean="0"/>
              <a:t>1/23/22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65C1C-E231-FD4E-B4EE-F8677030C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44EC2-6E78-6B43-8EE9-CB46FD07F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F3973-2BE7-8D49-B4B7-EF99BACCD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423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C81327-593B-F94E-9717-EBFD0EC938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F6829D-7CC1-AF45-9486-921213963F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65309-BA66-2C47-9EB3-CA8091D23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21743-D0D5-A943-8D42-58F070AD1897}" type="datetimeFigureOut">
              <a:rPr lang="en-US" smtClean="0"/>
              <a:t>1/23/22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2F1C5D-F680-A14A-A575-8B2FD31D6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1FD5B-26C6-084A-9FD5-57D0BE511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F3973-2BE7-8D49-B4B7-EF99BACCD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22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A083E9-1A0F-7F4E-8DD9-CC48791E2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C775DE-6E8E-2441-8E8D-038B413AFE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0E762-2EC8-1945-B0BC-F125B99F45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221743-D0D5-A943-8D42-58F070AD1897}" type="datetimeFigureOut">
              <a:rPr lang="en-US" smtClean="0"/>
              <a:t>1/23/22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92B3FC-63B5-5F4C-BDBC-D25F8D9ED7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70776C-1036-0841-A832-626AE486B7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0F3973-2BE7-8D49-B4B7-EF99BACCD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716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EA247-C052-C944-8AE6-C95450507E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D6015C-D268-9C45-BBF3-F451C071B2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722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BF834-3832-2C44-9A4B-74878B98C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 Racial Groups (disjoint)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18271-EB53-3A4C-B54B-B26E12DE8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755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1C4B2-D334-F945-9880-B72DEEBC6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CD Typologies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02EEE-F01E-2C44-85F5-46B26029EB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692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04214-03B5-A448-B63B-2C7FE576F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Table&#10;&#10;Description automatically generated">
            <a:extLst>
              <a:ext uri="{FF2B5EF4-FFF2-40B4-BE49-F238E27FC236}">
                <a16:creationId xmlns:a16="http://schemas.microsoft.com/office/drawing/2014/main" id="{1F56374D-FFD2-704F-ADF5-5DF8B8E162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5111" y="1690688"/>
            <a:ext cx="7900987" cy="488558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E97EB2-FDE6-C548-B3DF-CBC34288A043}"/>
              </a:ext>
            </a:extLst>
          </p:cNvPr>
          <p:cNvSpPr txBox="1"/>
          <p:nvPr/>
        </p:nvSpPr>
        <p:spPr>
          <a:xfrm>
            <a:off x="8316098" y="2261287"/>
            <a:ext cx="34665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no analysis of race.</a:t>
            </a:r>
          </a:p>
          <a:p>
            <a:r>
              <a:rPr lang="en-US" dirty="0"/>
              <a:t>Also: obvious that CP beneficiary entrant chances are higher, question is by how much.</a:t>
            </a:r>
          </a:p>
          <a:p>
            <a:r>
              <a:rPr lang="en-US" dirty="0"/>
              <a:t>Finally: These are bad estimates.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B0E1A73-B40C-B54E-A072-70A40F368893}"/>
                  </a:ext>
                </a:extLst>
              </p:cNvPr>
              <p:cNvSpPr txBox="1"/>
              <p:nvPr/>
            </p:nvSpPr>
            <p:spPr>
              <a:xfrm>
                <a:off x="10716315" y="4002398"/>
                <a:ext cx="1066382" cy="6154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𝐼𝑀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𝐼𝑀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𝐼𝑁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B0E1A73-B40C-B54E-A072-70A40F3688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6315" y="4002398"/>
                <a:ext cx="1066382" cy="615490"/>
              </a:xfrm>
              <a:prstGeom prst="rect">
                <a:avLst/>
              </a:prstGeom>
              <a:blipFill>
                <a:blip r:embed="rId3"/>
                <a:stretch>
                  <a:fillRect b="-20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6874F00-FC51-D34B-9FFD-ED94F8E5DED1}"/>
                  </a:ext>
                </a:extLst>
              </p:cNvPr>
              <p:cNvSpPr txBox="1"/>
              <p:nvPr/>
            </p:nvSpPr>
            <p:spPr>
              <a:xfrm>
                <a:off x="8501063" y="4000540"/>
                <a:ext cx="1201034" cy="6173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𝑂𝑀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𝑂𝑀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𝑂𝑁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6874F00-FC51-D34B-9FFD-ED94F8E5DE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063" y="4000540"/>
                <a:ext cx="1201034" cy="617348"/>
              </a:xfrm>
              <a:prstGeom prst="rect">
                <a:avLst/>
              </a:prstGeom>
              <a:blipFill>
                <a:blip r:embed="rId4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E36BC94A-0DD3-FA43-B863-38FBF275D486}"/>
              </a:ext>
            </a:extLst>
          </p:cNvPr>
          <p:cNvSpPr txBox="1"/>
          <p:nvPr/>
        </p:nvSpPr>
        <p:spPr>
          <a:xfrm>
            <a:off x="8066440" y="4845632"/>
            <a:ext cx="415088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much more likely to receive housing?</a:t>
            </a:r>
          </a:p>
          <a:p>
            <a:endParaRPr lang="en-US" dirty="0"/>
          </a:p>
          <a:p>
            <a:r>
              <a:rPr lang="en-US" dirty="0"/>
              <a:t>How much more likely to receive offer?</a:t>
            </a:r>
          </a:p>
        </p:txBody>
      </p:sp>
    </p:spTree>
    <p:extLst>
      <p:ext uri="{BB962C8B-B14F-4D97-AF65-F5344CB8AC3E}">
        <p14:creationId xmlns:p14="http://schemas.microsoft.com/office/powerpoint/2010/main" val="3483140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43F7F-9889-EB49-BB73-B657C0947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Table&#10;&#10;Description automatically generated">
            <a:extLst>
              <a:ext uri="{FF2B5EF4-FFF2-40B4-BE49-F238E27FC236}">
                <a16:creationId xmlns:a16="http://schemas.microsoft.com/office/drawing/2014/main" id="{C9B35F46-B2DA-E74A-9490-B3D0078229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6427845" cy="5033962"/>
          </a:xfr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D7D7AB7-67CE-2D46-B17C-31DE8089E8AB}"/>
              </a:ext>
            </a:extLst>
          </p:cNvPr>
          <p:cNvCxnSpPr>
            <a:cxnSpLocks/>
          </p:cNvCxnSpPr>
          <p:nvPr/>
        </p:nvCxnSpPr>
        <p:spPr>
          <a:xfrm flipH="1">
            <a:off x="5381897" y="3200400"/>
            <a:ext cx="2063932" cy="31224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287DA8E-FCE2-324F-97A1-FB93ADC6DA13}"/>
                  </a:ext>
                </a:extLst>
              </p:cNvPr>
              <p:cNvSpPr txBox="1"/>
              <p:nvPr/>
            </p:nvSpPr>
            <p:spPr>
              <a:xfrm>
                <a:off x="7530365" y="2023659"/>
                <a:ext cx="3633687" cy="8797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𝑊𝐼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𝑊𝐼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𝑊𝑂</m:t>
                        </m:r>
                      </m:den>
                    </m:f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/</m:t>
                    </m:r>
                    <m:f>
                      <m:f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𝐵𝐼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𝐵𝐼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𝐵𝑂</m:t>
                        </m:r>
                      </m:den>
                    </m:f>
                  </m:oMath>
                </a14:m>
                <a:r>
                  <a:rPr lang="en-US" sz="3600" dirty="0"/>
                  <a:t>  - 1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287DA8E-FCE2-324F-97A1-FB93ADC6DA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0365" y="2023659"/>
                <a:ext cx="3633687" cy="879793"/>
              </a:xfrm>
              <a:prstGeom prst="rect">
                <a:avLst/>
              </a:prstGeom>
              <a:blipFill>
                <a:blip r:embed="rId3"/>
                <a:stretch>
                  <a:fillRect l="-348" r="-4181" b="-1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6447F117-8323-CA4C-92C8-CE75A6C1305D}"/>
              </a:ext>
            </a:extLst>
          </p:cNvPr>
          <p:cNvSpPr txBox="1"/>
          <p:nvPr/>
        </p:nvSpPr>
        <p:spPr>
          <a:xfrm>
            <a:off x="7594436" y="2989420"/>
            <a:ext cx="10807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6.86%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4BE0BF-A5F9-EA4F-BCC2-2817B35D6ADC}"/>
              </a:ext>
            </a:extLst>
          </p:cNvPr>
          <p:cNvSpPr txBox="1"/>
          <p:nvPr/>
        </p:nvSpPr>
        <p:spPr>
          <a:xfrm>
            <a:off x="9347208" y="2989420"/>
            <a:ext cx="1313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0.86%</a:t>
            </a:r>
          </a:p>
        </p:txBody>
      </p:sp>
    </p:spTree>
    <p:extLst>
      <p:ext uri="{BB962C8B-B14F-4D97-AF65-F5344CB8AC3E}">
        <p14:creationId xmlns:p14="http://schemas.microsoft.com/office/powerpoint/2010/main" val="2637098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616D3-07F1-ED44-A68E-16DE2FB8F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“My second method of assessing CP disparate impact”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1D75BB-0544-0C49-B4D9-816F345477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239000" y="1970087"/>
                <a:ext cx="4743450" cy="4351338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𝑊𝐼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𝐻𝐼</m:t>
                        </m:r>
                      </m:den>
                    </m:f>
                  </m:oMath>
                </a14:m>
                <a:r>
                  <a:rPr lang="en-US" dirty="0"/>
                  <a:t>/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𝑊𝑂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𝑊𝑂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𝐵𝑂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𝐴𝑂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𝐻𝑂</m:t>
                        </m:r>
                      </m:den>
                    </m:f>
                  </m:oMath>
                </a14:m>
                <a:r>
                  <a:rPr lang="en-US" dirty="0"/>
                  <a:t> - 1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1D75BB-0544-0C49-B4D9-816F345477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239000" y="1970087"/>
                <a:ext cx="4743450" cy="4351338"/>
              </a:xfrm>
              <a:blipFill>
                <a:blip r:embed="rId2"/>
                <a:stretch>
                  <a:fillRect t="-292" r="-1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Table&#10;&#10;Description automatically generated">
            <a:extLst>
              <a:ext uri="{FF2B5EF4-FFF2-40B4-BE49-F238E27FC236}">
                <a16:creationId xmlns:a16="http://schemas.microsoft.com/office/drawing/2014/main" id="{53DE17AD-C176-E84D-9607-C675F0F165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1" y="1825625"/>
            <a:ext cx="6610350" cy="4232275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746C9C9-7AEC-CA4B-81A7-E953C09DBC73}"/>
              </a:ext>
            </a:extLst>
          </p:cNvPr>
          <p:cNvCxnSpPr>
            <a:cxnSpLocks/>
          </p:cNvCxnSpPr>
          <p:nvPr/>
        </p:nvCxnSpPr>
        <p:spPr>
          <a:xfrm flipH="1">
            <a:off x="3781426" y="2552700"/>
            <a:ext cx="3457574" cy="38844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30BCECD-35D4-CB44-8A87-EE3715CE6F03}"/>
              </a:ext>
            </a:extLst>
          </p:cNvPr>
          <p:cNvSpPr txBox="1"/>
          <p:nvPr/>
        </p:nvSpPr>
        <p:spPr>
          <a:xfrm>
            <a:off x="7554254" y="2746920"/>
            <a:ext cx="3235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 26.6</a:t>
            </a:r>
            <a:r>
              <a:rPr lang="en-US" sz="2800" dirty="0"/>
              <a:t>%	</a:t>
            </a:r>
            <a:r>
              <a:rPr lang="en-US" sz="2800"/>
              <a:t>      9.9</a:t>
            </a:r>
            <a:r>
              <a:rPr lang="en-US" sz="2800" dirty="0"/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972502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3BB18-AC6F-0C4D-AB4D-30689F1D1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D14A3-881F-5445-89B7-CD3D2F4C2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No table shows disparate impact: must be combined.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 attempt to determine counter-factual.</a:t>
            </a:r>
          </a:p>
        </p:txBody>
      </p:sp>
    </p:spTree>
    <p:extLst>
      <p:ext uri="{BB962C8B-B14F-4D97-AF65-F5344CB8AC3E}">
        <p14:creationId xmlns:p14="http://schemas.microsoft.com/office/powerpoint/2010/main" val="2851202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104</Words>
  <Application>Microsoft Macintosh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Office Theme</vt:lpstr>
      <vt:lpstr>PowerPoint Presentation</vt:lpstr>
      <vt:lpstr>Four Racial Groups (disjoint)</vt:lpstr>
      <vt:lpstr>CD Typologies</vt:lpstr>
      <vt:lpstr>PowerPoint Presentation</vt:lpstr>
      <vt:lpstr>PowerPoint Presentation</vt:lpstr>
      <vt:lpstr>“My second method of assessing CP disparate impact”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Nicholas A Arnosti</dc:creator>
  <cp:lastModifiedBy>Nicholas A Arnosti</cp:lastModifiedBy>
  <cp:revision>3</cp:revision>
  <dcterms:created xsi:type="dcterms:W3CDTF">2022-01-23T08:05:15Z</dcterms:created>
  <dcterms:modified xsi:type="dcterms:W3CDTF">2022-01-23T08:30:16Z</dcterms:modified>
</cp:coreProperties>
</file>