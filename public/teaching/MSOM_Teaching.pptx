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2"/>
  </p:notesMasterIdLst>
  <p:sldIdLst>
    <p:sldId id="651" r:id="rId2"/>
    <p:sldId id="640" r:id="rId3"/>
    <p:sldId id="634" r:id="rId4"/>
    <p:sldId id="322" r:id="rId5"/>
    <p:sldId id="257" r:id="rId6"/>
    <p:sldId id="591" r:id="rId7"/>
    <p:sldId id="649" r:id="rId8"/>
    <p:sldId id="645" r:id="rId9"/>
    <p:sldId id="594" r:id="rId10"/>
    <p:sldId id="595" r:id="rId11"/>
    <p:sldId id="315" r:id="rId12"/>
    <p:sldId id="597" r:id="rId13"/>
    <p:sldId id="643" r:id="rId14"/>
    <p:sldId id="598" r:id="rId15"/>
    <p:sldId id="372" r:id="rId16"/>
    <p:sldId id="635" r:id="rId17"/>
    <p:sldId id="648" r:id="rId18"/>
    <p:sldId id="646" r:id="rId19"/>
    <p:sldId id="647" r:id="rId20"/>
    <p:sldId id="65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730"/>
    <p:restoredTop sz="96197"/>
  </p:normalViewPr>
  <p:slideViewPr>
    <p:cSldViewPr snapToGrid="0" snapToObjects="1">
      <p:cViewPr varScale="1">
        <p:scale>
          <a:sx n="58" d="100"/>
          <a:sy n="58" d="100"/>
        </p:scale>
        <p:origin x="208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B5503-A5D6-1E40-8164-14CEF6AAB850}" type="datetimeFigureOut">
              <a:rPr lang="en-US" smtClean="0"/>
              <a:t>6/30/24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5FA52-D83C-7548-9E8E-7799220140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73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https://www.migrationpolicy.org/content/explainer-how-us-legal-immigration-system-works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55C27-138A-B040-8454-CB77E18878E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60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0023-B2A6-0B45-B6CA-E5557E257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B0F6D-4743-7646-988E-32893E42F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1E4E9-A2B9-6242-9F54-4C3168E9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F127-4E9B-4444-9677-212435A13CEA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15CFE-2DEA-9D41-BDBA-619E5F5E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89FD3-35B4-E94A-976A-E6C2E581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1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1724-6235-0E48-84D4-8690A58EF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9034-8CE7-9E4F-AF97-A96CDAB8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C4B3-7C3C-F046-8C66-3980A0DD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1873-07EE-6543-80B5-50A555C1EFA4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598E5-F986-0D46-9659-B9CBCDFD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DAAF1-C999-4444-9421-F2CAAB49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4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7525-5028-7A45-AA4A-2C54D820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85AAF-1D2D-2B46-877C-7D41E69E3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3158-BD7A-ED4D-A1D5-1292CE68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1979D-5280-AA47-9BA1-60A99DAC82EA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809F6-E3CC-B44B-9B88-60C3A4BF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8AD54-8342-B74A-81F7-E0A36F53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5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6DA9-8F91-C645-8749-2E416C72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99DD-A876-9245-9BFE-D5BFE652A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E8588-63DB-CC43-8F5F-B3D2D958A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3629A-8EAF-7247-BEC6-9B05D27E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6320-F6EC-614B-B58F-2067ACD569A1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4DB71-A5F3-D444-B593-41CC4C04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1C2A8-1825-F94A-AEBE-206E67AB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FCE8-9A8A-F241-BB36-73ADF685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B7D9D-0ECF-984E-A584-40A613BB4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57D5C-6FE7-D746-B203-6B2DEC0AE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9F657-4550-CC46-8AE3-866C2DB48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6CE6E-B77E-CB42-86E8-B6BBA49B0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B4D32-D577-FB41-8790-E90E1DD8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19445-E82A-A149-B6BB-3219C3488769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A591D-C011-1F4C-9E52-3CB5899A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16B6F-BE2B-E74A-835C-2F7E7A0A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33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25C5-C4C8-3C43-96C4-262CDA4B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A49BD-B027-CB44-91CD-EFF163AD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782B-6574-D745-9D51-7D3444C91C75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94B9F-9D46-274B-9715-44335B41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8D7EF-2AAB-994B-B6E7-0B52C21F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0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CC018-85CF-444D-AF1A-3EA3BBA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F9A5-6E46-254B-BEA3-B47930EDB4EE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1A4B1-E8D8-194A-B07E-7F3D59C2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0EF50-6E96-E648-8BF9-1A2C95F6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66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C3F9-6F04-A64F-8752-82CBC246A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814C3-19B2-1B48-87D1-CB3FA30B4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D9915-8975-134D-A109-B53FE9FD5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0AD5-B0CA-A042-97CA-F9CEB384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E035-0E16-3942-A81F-C241ACB13945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C8328-8104-7B49-879C-8357F0A5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D9EC5-CE74-1E44-9ACF-2C1F1A76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8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1A3-256A-B846-8558-53AC061C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88676-FE55-9E4F-8D73-A2BCEFA2D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C5AC3-EB6F-B34D-88C9-34B6BDEFE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FAF9F-138B-BA43-BFD4-8863FC3D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A6BC-0814-BC4F-BCD6-7F5DFB30C870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D406A-D034-EC41-992B-5783C850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C2ED1-E077-D74F-9323-FE754076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1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2DAA-91A2-A94C-9F1B-221E3587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FAB38-7601-4F4E-A198-B71A80159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231E0-093C-9E4E-95BB-191821A3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8CC5-A558-A94F-AAC0-622D257961DB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C4375-FF03-E741-B002-B742D834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ABED1-FD4A-F44F-BF2B-40BB680D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2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1DBEB-77EB-A746-ADDD-2B659ABBF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3E27D-1F98-E24E-B60B-C05D839A1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4E269-B011-1B45-939F-FFE3C73C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F514-92E9-434A-962E-EC9A4BA2E967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4CFF6-576C-F64B-9F32-FB2FA04F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Nick Arnosti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72E9-EC23-3643-8BF4-8A59634B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30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577D7-94AD-4F4A-A845-26586315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5BA6B-2F28-7D43-9892-D1CBB0BF5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F1BB9-8EAF-6147-8BC9-47FAC6669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601BD-7764-8244-87D9-224DF2379357}" type="datetime1">
              <a:rPr lang="en-US" smtClean="0"/>
              <a:t>6/30/24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AFC9-F0EE-BA46-AEBD-6E8232A38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(c) Nick Arnosti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D5E2D-6B01-1E47-BE43-B5559600A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69584-4773-A84E-8391-EEC4BE76D6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862E-EA23-154E-B067-B6F92D5F25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Engineering The Allocation </a:t>
            </a:r>
            <a:br>
              <a:rPr lang="en-US" dirty="0"/>
            </a:br>
            <a:r>
              <a:rPr lang="en-US" dirty="0"/>
              <a:t>of Public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AB92F-519D-4B46-81BF-871326506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Professor Nick Arnosti</a:t>
            </a:r>
          </a:p>
          <a:p>
            <a:r>
              <a:rPr lang="en-US" dirty="0"/>
              <a:t>University of Minnesota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4999E-5364-FD4E-8F5F-0E19DB5E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527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F2FB-4B6D-4EA7-22B2-1BB54859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for Today: Maximum Quotas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EB6E-9324-7CF6-76CF-811694D75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sz="3200" dirty="0" err="1"/>
              <a:t>Sample</a:t>
            </a:r>
            <a:r>
              <a:rPr lang="es-ES_tradnl" sz="3200" dirty="0"/>
              <a:t> Content (</a:t>
            </a:r>
            <a:r>
              <a:rPr lang="es-ES_tradnl" sz="3200" dirty="0" err="1"/>
              <a:t>Abbreviated</a:t>
            </a:r>
            <a:r>
              <a:rPr lang="es-ES_tradnl" sz="3200" dirty="0"/>
              <a:t>)</a:t>
            </a:r>
          </a:p>
          <a:p>
            <a:pPr lvl="1"/>
            <a:r>
              <a:rPr lang="es-ES_tradnl" dirty="0" err="1"/>
              <a:t>Diversity</a:t>
            </a:r>
            <a:r>
              <a:rPr lang="es-ES_tradnl" dirty="0"/>
              <a:t> visa </a:t>
            </a:r>
            <a:r>
              <a:rPr lang="es-ES_tradnl" dirty="0" err="1"/>
              <a:t>lottery</a:t>
            </a:r>
            <a:r>
              <a:rPr lang="es-ES_tradnl" dirty="0"/>
              <a:t> </a:t>
            </a:r>
            <a:r>
              <a:rPr lang="es-ES_tradnl" dirty="0" err="1"/>
              <a:t>overview</a:t>
            </a:r>
            <a:endParaRPr lang="es-ES_tradnl" dirty="0"/>
          </a:p>
          <a:p>
            <a:pPr lvl="1"/>
            <a:r>
              <a:rPr lang="es-ES_tradnl" dirty="0"/>
              <a:t>Top Down Algorithm (</a:t>
            </a:r>
            <a:r>
              <a:rPr lang="es-ES_tradnl" dirty="0" err="1"/>
              <a:t>practice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Define goals (desirable properties):						maximize selected applicants, priority </a:t>
            </a:r>
            <a:r>
              <a:rPr lang="es-ES_tradnl" dirty="0" err="1"/>
              <a:t>domination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Conditions under which Top Down Algorithm achieves </a:t>
            </a:r>
            <a:r>
              <a:rPr lang="es-ES_tradnl" dirty="0" err="1"/>
              <a:t>these</a:t>
            </a:r>
            <a:r>
              <a:rPr lang="es-ES_tradnl" dirty="0"/>
              <a:t> </a:t>
            </a:r>
            <a:r>
              <a:rPr lang="es-ES_tradnl" dirty="0" err="1"/>
              <a:t>goals</a:t>
            </a:r>
            <a:endParaRPr lang="es-ES_tradnl" dirty="0"/>
          </a:p>
          <a:p>
            <a:pPr lvl="1"/>
            <a:endParaRPr lang="es-ES_tradnl" dirty="0"/>
          </a:p>
          <a:p>
            <a:pPr marL="514350" indent="-514350">
              <a:buFont typeface="+mj-lt"/>
              <a:buAutoNum type="arabicPeriod"/>
            </a:pPr>
            <a:r>
              <a:rPr lang="es-ES_tradnl" sz="3200" dirty="0" err="1"/>
              <a:t>Course</a:t>
            </a:r>
            <a:r>
              <a:rPr lang="es-ES_tradnl" sz="3200" dirty="0"/>
              <a:t> </a:t>
            </a:r>
            <a:r>
              <a:rPr lang="es-ES_tradnl" sz="3200" dirty="0" err="1"/>
              <a:t>Overview</a:t>
            </a:r>
            <a:endParaRPr lang="es-ES_tradnl" sz="3200" dirty="0"/>
          </a:p>
          <a:p>
            <a:pPr lvl="1"/>
            <a:r>
              <a:rPr lang="es-ES_tradnl" dirty="0" err="1"/>
              <a:t>Topics</a:t>
            </a:r>
            <a:endParaRPr lang="es-ES_tradnl" dirty="0"/>
          </a:p>
          <a:p>
            <a:pPr lvl="1"/>
            <a:r>
              <a:rPr lang="es-ES_tradnl" dirty="0" err="1"/>
              <a:t>Students</a:t>
            </a:r>
            <a:endParaRPr lang="es-ES_tradnl" dirty="0"/>
          </a:p>
          <a:p>
            <a:pPr lvl="1"/>
            <a:r>
              <a:rPr lang="es-ES_tradnl" dirty="0" err="1"/>
              <a:t>Pedagogy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F61E3-B151-E467-86FB-FF168A297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4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B3F6-257E-8299-3AAD-642D58195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the end of lecture, you will be able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0617E-BC0F-DC28-C898-99FDD1B4D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28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Describe constraints governing allocation of diversity visas</a:t>
            </a:r>
          </a:p>
          <a:p>
            <a:endParaRPr lang="en-US" dirty="0"/>
          </a:p>
          <a:p>
            <a:r>
              <a:rPr lang="en-US" dirty="0"/>
              <a:t>Calculate the outcome of the Top Down Algorithm.</a:t>
            </a:r>
          </a:p>
          <a:p>
            <a:endParaRPr lang="en-US" dirty="0"/>
          </a:p>
          <a:p>
            <a:r>
              <a:rPr lang="en-US" dirty="0"/>
              <a:t>Determine whether one selection priority dominates another.</a:t>
            </a:r>
          </a:p>
          <a:p>
            <a:endParaRPr lang="en-US" dirty="0"/>
          </a:p>
          <a:p>
            <a:r>
              <a:rPr lang="en-US" dirty="0"/>
              <a:t>Explain what it means for quota categories to be “nested”, and why this matters.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EC6E5-A930-6682-45EE-996977B3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233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Permanent Visa (Green Card) Categories</a:t>
            </a:r>
          </a:p>
        </p:txBody>
      </p:sp>
      <p:pic>
        <p:nvPicPr>
          <p:cNvPr id="4" name="Content Placeholder 3" descr="Explainer_LegalImmigrationSystem-Table-updated-800x1299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8" t="37364" r="2138" b="31623"/>
          <a:stretch/>
        </p:blipFill>
        <p:spPr>
          <a:xfrm>
            <a:off x="5219957" y="1647760"/>
            <a:ext cx="6989989" cy="3520059"/>
          </a:xfrm>
        </p:spPr>
      </p:pic>
      <p:pic>
        <p:nvPicPr>
          <p:cNvPr id="5" name="Content Placeholder 3" descr="Explainer_LegalImmigrationSystem-Table-updated-800x1299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2" b="63135"/>
          <a:stretch/>
        </p:blipFill>
        <p:spPr>
          <a:xfrm>
            <a:off x="-366165" y="1648622"/>
            <a:ext cx="7186545" cy="3294694"/>
          </a:xfrm>
          <a:prstGeom prst="rect">
            <a:avLst/>
          </a:prstGeom>
        </p:spPr>
      </p:pic>
      <p:pic>
        <p:nvPicPr>
          <p:cNvPr id="7" name="Content Placeholder 3" descr="Explainer_LegalImmigrationSystem-Table-updated-800x1299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38" b="20698"/>
          <a:stretch/>
        </p:blipFill>
        <p:spPr>
          <a:xfrm>
            <a:off x="-366165" y="5020694"/>
            <a:ext cx="7186545" cy="1340551"/>
          </a:xfrm>
          <a:prstGeom prst="rect">
            <a:avLst/>
          </a:prstGeom>
        </p:spPr>
      </p:pic>
      <p:pic>
        <p:nvPicPr>
          <p:cNvPr id="8" name="Content Placeholder 3" descr="Explainer_LegalImmigrationSystem-Table-updated-800x1299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55" b="14655"/>
          <a:stretch/>
        </p:blipFill>
        <p:spPr>
          <a:xfrm>
            <a:off x="5362709" y="5180038"/>
            <a:ext cx="6989990" cy="6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9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Permanent Visas (Immigrant Visas)</a:t>
            </a:r>
          </a:p>
        </p:txBody>
      </p:sp>
      <p:pic>
        <p:nvPicPr>
          <p:cNvPr id="4" name="Content Placeholder 3" descr="Explainer_LegalImmigrationSystem-Legal Immigration Pie_small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78"/>
          <a:stretch/>
        </p:blipFill>
        <p:spPr>
          <a:xfrm>
            <a:off x="959243" y="1490908"/>
            <a:ext cx="5136757" cy="52280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61A7A-A00E-3743-92D0-E44F563B3E9C}"/>
              </a:ext>
            </a:extLst>
          </p:cNvPr>
          <p:cNvSpPr txBox="1"/>
          <p:nvPr/>
        </p:nvSpPr>
        <p:spPr>
          <a:xfrm>
            <a:off x="6486526" y="4989314"/>
            <a:ext cx="4746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Just over 1 million Green Cards issued each year.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F1035-1581-8046-865A-18220D07C9D1}"/>
              </a:ext>
            </a:extLst>
          </p:cNvPr>
          <p:cNvSpPr txBox="1"/>
          <p:nvPr/>
        </p:nvSpPr>
        <p:spPr>
          <a:xfrm>
            <a:off x="6486526" y="2289049"/>
            <a:ext cx="52435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Immediate Family has no Cap</a:t>
            </a:r>
          </a:p>
          <a:p>
            <a:r>
              <a:rPr lang="en-US" sz="2800" dirty="0"/>
              <a:t>Family-Sponsored Cap of 226,000</a:t>
            </a:r>
          </a:p>
          <a:p>
            <a:r>
              <a:rPr lang="en-US" sz="2800" dirty="0"/>
              <a:t>Employment-Based Cap of 140,000</a:t>
            </a:r>
          </a:p>
          <a:p>
            <a:r>
              <a:rPr lang="en-US" sz="2800" dirty="0"/>
              <a:t>Diversity Cap of 55,000</a:t>
            </a:r>
          </a:p>
        </p:txBody>
      </p:sp>
    </p:spTree>
    <p:extLst>
      <p:ext uri="{BB962C8B-B14F-4D97-AF65-F5344CB8AC3E}">
        <p14:creationId xmlns:p14="http://schemas.microsoft.com/office/powerpoint/2010/main" val="122117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A976-489C-8D4C-912B-0BE86106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Diversity Visa Lottery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AB1C-3D89-C747-9DC5-3141CEC2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Eligibility: </a:t>
            </a:r>
            <a:r>
              <a:rPr lang="en-US" dirty="0"/>
              <a:t>must be born in a country with few recent immigrants to US.</a:t>
            </a:r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b="1" dirty="0"/>
              <a:t>Maximum Quotas: </a:t>
            </a:r>
          </a:p>
          <a:p>
            <a:r>
              <a:rPr lang="en-US" dirty="0"/>
              <a:t>Total cap of 55,000.</a:t>
            </a:r>
          </a:p>
          <a:p>
            <a:r>
              <a:rPr lang="en-US" dirty="0"/>
              <a:t>No country may receive more than 7% of total.</a:t>
            </a:r>
          </a:p>
          <a:p>
            <a:r>
              <a:rPr lang="en-US" dirty="0"/>
              <a:t>Additional regional caps based on recent immigration patterns.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Lottery: </a:t>
            </a:r>
            <a:endParaRPr lang="en-US" sz="2400" b="1" dirty="0"/>
          </a:p>
          <a:p>
            <a:pPr marL="0" indent="0">
              <a:buNone/>
            </a:pPr>
            <a:r>
              <a:rPr lang="en-US" sz="2800" dirty="0"/>
              <a:t>Each applicant assigned a lottery number that determines priority.</a:t>
            </a:r>
          </a:p>
        </p:txBody>
      </p:sp>
    </p:spTree>
    <p:extLst>
      <p:ext uri="{BB962C8B-B14F-4D97-AF65-F5344CB8AC3E}">
        <p14:creationId xmlns:p14="http://schemas.microsoft.com/office/powerpoint/2010/main" val="334595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CE0773-FBAC-8149-9DA7-A4500B3C6DEC}"/>
              </a:ext>
            </a:extLst>
          </p:cNvPr>
          <p:cNvSpPr txBox="1"/>
          <p:nvPr/>
        </p:nvSpPr>
        <p:spPr>
          <a:xfrm>
            <a:off x="10122684" y="1690688"/>
            <a:ext cx="1807379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Region: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Asia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Africa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04420-ADC5-D988-BF2F-DA5CE46932C3}"/>
              </a:ext>
            </a:extLst>
          </p:cNvPr>
          <p:cNvSpPr txBox="1"/>
          <p:nvPr/>
        </p:nvSpPr>
        <p:spPr>
          <a:xfrm>
            <a:off x="7244561" y="1690688"/>
            <a:ext cx="31281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Country of Origin</a:t>
            </a:r>
            <a:r>
              <a:rPr lang="en-US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Afghanistan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Bhutan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Cameroon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Djibouti.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EAB85-6F65-8F46-9621-F42A25ED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Quotas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894A2-8A8C-7740-95FE-AC88F566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27C329-0302-CD43-BEDE-34DB3730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58005"/>
            <a:ext cx="6477002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Quotas: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2 applicants from each country.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3 applicants from each region.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</a:t>
            </a:r>
            <a:r>
              <a:rPr lang="en-US" dirty="0"/>
              <a:t> 6 applicants in total.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Priority Order: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2108089-118B-9773-D6BB-2737F4CE4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377210"/>
              </p:ext>
            </p:extLst>
          </p:nvPr>
        </p:nvGraphicFramePr>
        <p:xfrm>
          <a:off x="942974" y="4206528"/>
          <a:ext cx="601196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97">
                  <a:extLst>
                    <a:ext uri="{9D8B030D-6E8A-4147-A177-3AD203B41FA5}">
                      <a16:colId xmlns:a16="http://schemas.microsoft.com/office/drawing/2014/main" val="55530839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1526366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771475273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4631655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19833053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250423865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99712550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05699570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46597124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94758261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3010954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28872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7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00089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062E893-8ED0-1866-80E8-B550971A4BF0}"/>
              </a:ext>
            </a:extLst>
          </p:cNvPr>
          <p:cNvSpPr/>
          <p:nvPr/>
        </p:nvSpPr>
        <p:spPr>
          <a:xfrm>
            <a:off x="942975" y="5336480"/>
            <a:ext cx="6011963" cy="138499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1. </a:t>
            </a:r>
            <a:r>
              <a:rPr lang="en-US" sz="2800" dirty="0"/>
              <a:t>Which applicants should we select?</a:t>
            </a:r>
          </a:p>
          <a:p>
            <a:r>
              <a:rPr lang="en-US" sz="2800" b="1" dirty="0"/>
              <a:t>2. </a:t>
            </a:r>
            <a:r>
              <a:rPr lang="en-US" sz="2800" dirty="0"/>
              <a:t>Compare answers with your neighbor.</a:t>
            </a:r>
          </a:p>
          <a:p>
            <a:r>
              <a:rPr lang="en-US" sz="2800" b="1" dirty="0"/>
              <a:t>3. </a:t>
            </a:r>
            <a:r>
              <a:rPr lang="en-US" sz="2800" dirty="0"/>
              <a:t>Put your answer on the whiteboard.</a:t>
            </a:r>
          </a:p>
        </p:txBody>
      </p:sp>
    </p:spTree>
    <p:extLst>
      <p:ext uri="{BB962C8B-B14F-4D97-AF65-F5344CB8AC3E}">
        <p14:creationId xmlns:p14="http://schemas.microsoft.com/office/powerpoint/2010/main" val="311978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CE0773-FBAC-8149-9DA7-A4500B3C6DEC}"/>
              </a:ext>
            </a:extLst>
          </p:cNvPr>
          <p:cNvSpPr txBox="1"/>
          <p:nvPr/>
        </p:nvSpPr>
        <p:spPr>
          <a:xfrm>
            <a:off x="10122684" y="1690688"/>
            <a:ext cx="1807379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Region: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Asia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Africa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04420-ADC5-D988-BF2F-DA5CE46932C3}"/>
              </a:ext>
            </a:extLst>
          </p:cNvPr>
          <p:cNvSpPr txBox="1"/>
          <p:nvPr/>
        </p:nvSpPr>
        <p:spPr>
          <a:xfrm>
            <a:off x="7244561" y="1690688"/>
            <a:ext cx="31281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Country of Origin</a:t>
            </a:r>
            <a:r>
              <a:rPr lang="en-US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Afghanistan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Bhutan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Cameroon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Djibouti.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EAB85-6F65-8F46-9621-F42A25ED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Quotas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894A2-8A8C-7740-95FE-AC88F566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27C329-0302-CD43-BEDE-34DB3730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58005"/>
            <a:ext cx="6477002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Quotas: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2 applicants from each country.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3 applicants from each region.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</a:t>
            </a:r>
            <a:r>
              <a:rPr lang="en-US" dirty="0"/>
              <a:t> 6 applicants in total.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Priority Order: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2108089-118B-9773-D6BB-2737F4CE4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403866"/>
              </p:ext>
            </p:extLst>
          </p:nvPr>
        </p:nvGraphicFramePr>
        <p:xfrm>
          <a:off x="942974" y="4206528"/>
          <a:ext cx="601196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97">
                  <a:extLst>
                    <a:ext uri="{9D8B030D-6E8A-4147-A177-3AD203B41FA5}">
                      <a16:colId xmlns:a16="http://schemas.microsoft.com/office/drawing/2014/main" val="55530839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1526366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771475273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4631655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19833053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250423865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99712550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05699570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46597124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94758261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3010954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28872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7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00089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062E893-8ED0-1866-80E8-B550971A4BF0}"/>
              </a:ext>
            </a:extLst>
          </p:cNvPr>
          <p:cNvSpPr/>
          <p:nvPr/>
        </p:nvSpPr>
        <p:spPr>
          <a:xfrm>
            <a:off x="942975" y="5336480"/>
            <a:ext cx="6011963" cy="138499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1. </a:t>
            </a:r>
            <a:r>
              <a:rPr lang="en-US" sz="2800" dirty="0"/>
              <a:t>Which applicants should we select?</a:t>
            </a:r>
          </a:p>
          <a:p>
            <a:r>
              <a:rPr lang="en-US" sz="2800" b="1" dirty="0"/>
              <a:t>2. </a:t>
            </a:r>
            <a:r>
              <a:rPr lang="en-US" sz="2800" dirty="0"/>
              <a:t>Compare answers with your neighbor.</a:t>
            </a:r>
          </a:p>
          <a:p>
            <a:r>
              <a:rPr lang="en-US" sz="2800" b="1" dirty="0"/>
              <a:t>3. </a:t>
            </a:r>
            <a:r>
              <a:rPr lang="en-US" sz="2800" dirty="0"/>
              <a:t>Put your answer on the whiteboard.</a:t>
            </a:r>
          </a:p>
        </p:txBody>
      </p:sp>
    </p:spTree>
    <p:extLst>
      <p:ext uri="{BB962C8B-B14F-4D97-AF65-F5344CB8AC3E}">
        <p14:creationId xmlns:p14="http://schemas.microsoft.com/office/powerpoint/2010/main" val="1850015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9D80-C73D-9C82-DCED-8F8FDA3A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Top Down (“Greedy”) Selection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0E3F-D185-9314-D3A4-1083704EB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Process applicants in priority order. At each step, allocate a visa to the next applicant unless doing so would violate an upper quota (when combined with applicants that have already received visas).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natural algorithm, but is it good?  </a:t>
            </a:r>
          </a:p>
          <a:p>
            <a:endParaRPr lang="en-US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CAECE-368D-4A07-A971-D6539745E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71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F7C7-9E35-DC80-54CE-AC0CFB85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5B632-25CF-7DB3-7615-3BC58C88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_tradnl" dirty="0"/>
              <a:t>Comply with upper quotas.</a:t>
            </a:r>
          </a:p>
          <a:p>
            <a:pPr marL="514350" indent="-514350">
              <a:buFont typeface="+mj-lt"/>
              <a:buAutoNum type="arabicPeriod"/>
            </a:pPr>
            <a:endParaRPr lang="es-ES_tradnl" dirty="0"/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Select as many applicants as possible.</a:t>
            </a:r>
          </a:p>
          <a:p>
            <a:pPr marL="514350" indent="-514350">
              <a:buFont typeface="+mj-lt"/>
              <a:buAutoNum type="arabicPeriod"/>
            </a:pPr>
            <a:endParaRPr lang="es-ES_tradnl" dirty="0"/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Choose high priority applicants.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4442D-E3C9-D1F2-49BA-4CBB7E20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38BA1-3261-983A-C322-E346D5771FF3}"/>
              </a:ext>
            </a:extLst>
          </p:cNvPr>
          <p:cNvSpPr txBox="1"/>
          <p:nvPr/>
        </p:nvSpPr>
        <p:spPr>
          <a:xfrm>
            <a:off x="7429500" y="1898651"/>
            <a:ext cx="4543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accent1"/>
                </a:solidFill>
              </a:rPr>
              <a:t>Feasible</a:t>
            </a:r>
          </a:p>
          <a:p>
            <a:endParaRPr lang="es-ES_tradnl" sz="2800" b="1" dirty="0">
              <a:solidFill>
                <a:schemeClr val="accent1"/>
              </a:solidFill>
            </a:endParaRPr>
          </a:p>
          <a:p>
            <a:r>
              <a:rPr lang="es-ES_tradnl" sz="2800" b="1" dirty="0">
                <a:solidFill>
                  <a:schemeClr val="accent1"/>
                </a:solidFill>
              </a:rPr>
              <a:t>Maximize selected applicants</a:t>
            </a:r>
          </a:p>
          <a:p>
            <a:endParaRPr lang="es-ES_tradnl" sz="2800" b="1" dirty="0">
              <a:solidFill>
                <a:schemeClr val="accent1"/>
              </a:solidFill>
            </a:endParaRPr>
          </a:p>
          <a:p>
            <a:r>
              <a:rPr lang="es-ES_tradnl" sz="2800" b="1" dirty="0">
                <a:solidFill>
                  <a:schemeClr val="accent1"/>
                </a:solidFill>
              </a:rPr>
              <a:t>Priority dominate </a:t>
            </a:r>
          </a:p>
          <a:p>
            <a:r>
              <a:rPr lang="es-ES_tradnl" sz="2800" b="1" dirty="0">
                <a:solidFill>
                  <a:schemeClr val="accent1"/>
                </a:solidFill>
              </a:rPr>
              <a:t>other feasible selections</a:t>
            </a:r>
          </a:p>
        </p:txBody>
      </p:sp>
    </p:spTree>
    <p:extLst>
      <p:ext uri="{BB962C8B-B14F-4D97-AF65-F5344CB8AC3E}">
        <p14:creationId xmlns:p14="http://schemas.microsoft.com/office/powerpoint/2010/main" val="2737802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A976-489C-8D4C-912B-0BE86106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Desirable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062BE-C724-FB46-A02E-321B4F7F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824B3F-AAE0-9F43-9783-2E6A151665D6}"/>
                  </a:ext>
                </a:extLst>
              </p:cNvPr>
              <p:cNvSpPr/>
              <p:nvPr/>
            </p:nvSpPr>
            <p:spPr>
              <a:xfrm>
                <a:off x="838200" y="1690688"/>
                <a:ext cx="10515600" cy="31085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A </a:t>
                </a:r>
                <a:r>
                  <a:rPr lang="en-US" sz="2800" b="1" dirty="0">
                    <a:solidFill>
                      <a:srgbClr val="2D3B45"/>
                    </a:solidFill>
                    <a:latin typeface="LatoWeb"/>
                  </a:rPr>
                  <a:t>feasible</a:t>
                </a:r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 </a:t>
                </a:r>
                <a:r>
                  <a:rPr lang="en-US" sz="2800" b="1" dirty="0">
                    <a:solidFill>
                      <a:srgbClr val="2D3B45"/>
                    </a:solidFill>
                    <a:latin typeface="LatoWeb"/>
                  </a:rPr>
                  <a:t>selection </a:t>
                </a:r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is a subset of applicants satisfying all quotas.</a:t>
                </a:r>
              </a:p>
              <a:p>
                <a:endParaRPr lang="en-US" sz="2800" dirty="0">
                  <a:solidFill>
                    <a:srgbClr val="2D3B45"/>
                  </a:solidFill>
                  <a:latin typeface="LatoWeb"/>
                </a:endParaRPr>
              </a:p>
              <a:p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A feasible selection </a:t>
                </a:r>
                <a:r>
                  <a:rPr lang="en-US" sz="2800" b="1" dirty="0">
                    <a:solidFill>
                      <a:srgbClr val="2D3B45"/>
                    </a:solidFill>
                    <a:latin typeface="LatoWeb"/>
                  </a:rPr>
                  <a:t>maximizes selected applicants </a:t>
                </a:r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if no other feasible selection selects strictly more applicants.</a:t>
                </a:r>
              </a:p>
              <a:p>
                <a:endParaRPr lang="en-US" sz="2800" dirty="0">
                  <a:solidFill>
                    <a:srgbClr val="2D3B45"/>
                  </a:solidFill>
                  <a:latin typeface="LatoWeb"/>
                </a:endParaRPr>
              </a:p>
              <a:p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Selection S </a:t>
                </a:r>
                <a:r>
                  <a:rPr lang="en-US" sz="2800" b="1" dirty="0">
                    <a:solidFill>
                      <a:srgbClr val="2D3B45"/>
                    </a:solidFill>
                    <a:latin typeface="LatoWeb"/>
                  </a:rPr>
                  <a:t>priority dominates </a:t>
                </a:r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selection S’ if S selects at least as many of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2D3B45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 highest-ranked applicants, for </a:t>
                </a:r>
                <a:r>
                  <a:rPr lang="en-US" sz="2800" i="1" u="sng" dirty="0">
                    <a:solidFill>
                      <a:srgbClr val="2D3B45"/>
                    </a:solidFill>
                    <a:latin typeface="LatoWeb"/>
                  </a:rPr>
                  <a:t>every</a:t>
                </a:r>
                <a:r>
                  <a:rPr lang="en-US" sz="2800" i="1" dirty="0">
                    <a:solidFill>
                      <a:srgbClr val="2D3B45"/>
                    </a:solidFill>
                    <a:latin typeface="LatoWeb"/>
                  </a:rPr>
                  <a:t> </a:t>
                </a:r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2D3B45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rgbClr val="2D3B45"/>
                    </a:solidFill>
                    <a:latin typeface="LatoWeb"/>
                  </a:rPr>
                  <a:t>.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824B3F-AAE0-9F43-9783-2E6A15166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515600" cy="3108543"/>
              </a:xfrm>
              <a:prstGeom prst="rect">
                <a:avLst/>
              </a:prstGeom>
              <a:blipFill>
                <a:blip r:embed="rId2"/>
                <a:stretch>
                  <a:fillRect l="-1206" t="-1626" r="-724" b="-4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6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CE0773-FBAC-8149-9DA7-A4500B3C6DEC}"/>
              </a:ext>
            </a:extLst>
          </p:cNvPr>
          <p:cNvSpPr txBox="1"/>
          <p:nvPr/>
        </p:nvSpPr>
        <p:spPr>
          <a:xfrm>
            <a:off x="10122684" y="1690688"/>
            <a:ext cx="1807379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Region: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Asia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Africa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04420-ADC5-D988-BF2F-DA5CE46932C3}"/>
              </a:ext>
            </a:extLst>
          </p:cNvPr>
          <p:cNvSpPr txBox="1"/>
          <p:nvPr/>
        </p:nvSpPr>
        <p:spPr>
          <a:xfrm>
            <a:off x="7244561" y="1690688"/>
            <a:ext cx="31281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Country of Origin</a:t>
            </a:r>
            <a:r>
              <a:rPr lang="en-US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Afghanistan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Bhutan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Cameroon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Djibouti.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EAB85-6F65-8F46-9621-F42A25ED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Quotas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894A2-8A8C-7740-95FE-AC88F566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27C329-0302-CD43-BEDE-34DB3730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58005"/>
            <a:ext cx="6477002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Quotas: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2 applicants from each country.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3 applicants from each region.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</a:t>
            </a:r>
            <a:r>
              <a:rPr lang="en-US" dirty="0"/>
              <a:t> 6 applicants in total.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Priority Order: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2108089-118B-9773-D6BB-2737F4CE4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054941"/>
              </p:ext>
            </p:extLst>
          </p:nvPr>
        </p:nvGraphicFramePr>
        <p:xfrm>
          <a:off x="942974" y="4206528"/>
          <a:ext cx="601196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97">
                  <a:extLst>
                    <a:ext uri="{9D8B030D-6E8A-4147-A177-3AD203B41FA5}">
                      <a16:colId xmlns:a16="http://schemas.microsoft.com/office/drawing/2014/main" val="55530839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1526366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771475273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4631655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19833053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250423865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99712550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05699570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46597124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94758261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3010954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28872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7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000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402115C-9BC2-07DF-BA2F-10C6B7087997}"/>
              </a:ext>
            </a:extLst>
          </p:cNvPr>
          <p:cNvSpPr/>
          <p:nvPr/>
        </p:nvSpPr>
        <p:spPr>
          <a:xfrm>
            <a:off x="942974" y="5335528"/>
            <a:ext cx="10987089" cy="138499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Choose a different priority order. 						     For your order, does the Greedy algorithm select 6 applicants?</a:t>
            </a:r>
          </a:p>
          <a:p>
            <a:pPr marL="514350" indent="-514350">
              <a:buAutoNum type="arabicPeriod"/>
            </a:pPr>
            <a:r>
              <a:rPr lang="en-US" sz="2800" dirty="0"/>
              <a:t>Find a priority order such that Greedy does </a:t>
            </a:r>
            <a:r>
              <a:rPr lang="en-US" sz="2800" i="1" dirty="0"/>
              <a:t>not </a:t>
            </a:r>
            <a:r>
              <a:rPr lang="en-US" sz="2800" dirty="0"/>
              <a:t>select 6 applicants.</a:t>
            </a:r>
          </a:p>
        </p:txBody>
      </p:sp>
    </p:spTree>
    <p:extLst>
      <p:ext uri="{BB962C8B-B14F-4D97-AF65-F5344CB8AC3E}">
        <p14:creationId xmlns:p14="http://schemas.microsoft.com/office/powerpoint/2010/main" val="393531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B81CA28-733F-C56D-97AD-58AAE8955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58005"/>
            <a:ext cx="6649249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Quotas: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2 applicants from each country.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 </a:t>
            </a:r>
            <a:r>
              <a:rPr lang="en-US" dirty="0"/>
              <a:t>3 applicants from each age group.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At </a:t>
            </a:r>
            <a:r>
              <a:rPr lang="en-US" b="1" dirty="0"/>
              <a:t>most</a:t>
            </a:r>
            <a:r>
              <a:rPr lang="en-US" dirty="0"/>
              <a:t> 6 applicants in total.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Priority Order: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C171B246-A8D7-9DF0-9CF9-4D98C3FE2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451881"/>
              </p:ext>
            </p:extLst>
          </p:nvPr>
        </p:nvGraphicFramePr>
        <p:xfrm>
          <a:off x="942974" y="4206528"/>
          <a:ext cx="601196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97">
                  <a:extLst>
                    <a:ext uri="{9D8B030D-6E8A-4147-A177-3AD203B41FA5}">
                      <a16:colId xmlns:a16="http://schemas.microsoft.com/office/drawing/2014/main" val="55530839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1526366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771475273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4631655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19833053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250423865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99712550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056995704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465971242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194758261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2530109546"/>
                    </a:ext>
                  </a:extLst>
                </a:gridCol>
                <a:gridCol w="500997">
                  <a:extLst>
                    <a:ext uri="{9D8B030D-6E8A-4147-A177-3AD203B41FA5}">
                      <a16:colId xmlns:a16="http://schemas.microsoft.com/office/drawing/2014/main" val="328872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7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2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dirty="0">
                          <a:solidFill>
                            <a:schemeClr val="accent6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00089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5DB664A-E9A9-2417-7F58-1AA0FC8B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Quotas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0A4FC-57A9-8EA6-EDB6-0D0627B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0F490-1167-FEA9-F750-157A462161B7}"/>
              </a:ext>
            </a:extLst>
          </p:cNvPr>
          <p:cNvSpPr txBox="1"/>
          <p:nvPr/>
        </p:nvSpPr>
        <p:spPr>
          <a:xfrm>
            <a:off x="7244561" y="1690688"/>
            <a:ext cx="31281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Country of Origin</a:t>
            </a:r>
            <a:r>
              <a:rPr lang="en-US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Afghanistan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Bhutan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Cameroon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Djibouti.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11B3E-77A6-5DEC-F3A4-91861BCBFD30}"/>
              </a:ext>
            </a:extLst>
          </p:cNvPr>
          <p:cNvSpPr txBox="1"/>
          <p:nvPr/>
        </p:nvSpPr>
        <p:spPr>
          <a:xfrm>
            <a:off x="10125076" y="1690688"/>
            <a:ext cx="2209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u="sng" dirty="0"/>
              <a:t>Age Group: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Young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Middle Aged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D61EBE-F58C-DD07-9973-AA02DE994A68}"/>
              </a:ext>
            </a:extLst>
          </p:cNvPr>
          <p:cNvSpPr/>
          <p:nvPr/>
        </p:nvSpPr>
        <p:spPr>
          <a:xfrm>
            <a:off x="838197" y="5469424"/>
            <a:ext cx="10844214" cy="95410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How many applicants are selected by the greedy algorithm?</a:t>
            </a:r>
          </a:p>
          <a:p>
            <a:pPr marL="514350" indent="-514350">
              <a:buAutoNum type="arabicPeriod"/>
            </a:pPr>
            <a:r>
              <a:rPr lang="en-US" sz="2800" dirty="0"/>
              <a:t>Is there a feasible selection that accepts more applicants?</a:t>
            </a:r>
          </a:p>
        </p:txBody>
      </p:sp>
    </p:spTree>
    <p:extLst>
      <p:ext uri="{BB962C8B-B14F-4D97-AF65-F5344CB8AC3E}">
        <p14:creationId xmlns:p14="http://schemas.microsoft.com/office/powerpoint/2010/main" val="165343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5616-D4E8-EE41-B0F5-0E86BAEC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What is the difference between these examples?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0A64-3340-A142-ABE0-853D3570E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4675" cy="91757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Quota categories are </a:t>
            </a:r>
            <a:r>
              <a:rPr lang="en-US" b="1" dirty="0"/>
              <a:t>nested</a:t>
            </a:r>
            <a:r>
              <a:rPr lang="en-US" dirty="0"/>
              <a:t> (</a:t>
            </a:r>
            <a:r>
              <a:rPr lang="en-US" b="1" dirty="0"/>
              <a:t>laminar</a:t>
            </a:r>
            <a:r>
              <a:rPr lang="en-US" dirty="0"/>
              <a:t>) if for any two categories, either one contains the other, or nobody is in both categories.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887F8-E021-DD49-87EC-45F41E84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6232" y="6357913"/>
            <a:ext cx="2743200" cy="365125"/>
          </a:xfrm>
        </p:spPr>
        <p:txBody>
          <a:bodyPr/>
          <a:lstStyle/>
          <a:p>
            <a:fld id="{9E969584-4773-A84E-8391-EEC4BE76D611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85244E-F8B0-0C4C-9C08-0B24139D49EF}"/>
              </a:ext>
            </a:extLst>
          </p:cNvPr>
          <p:cNvSpPr/>
          <p:nvPr/>
        </p:nvSpPr>
        <p:spPr>
          <a:xfrm>
            <a:off x="895350" y="3724506"/>
            <a:ext cx="5162550" cy="29017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56ADA9-A778-204E-A120-F0933C4EDEDD}"/>
              </a:ext>
            </a:extLst>
          </p:cNvPr>
          <p:cNvSpPr/>
          <p:nvPr/>
        </p:nvSpPr>
        <p:spPr>
          <a:xfrm>
            <a:off x="1352550" y="3925228"/>
            <a:ext cx="1809750" cy="24993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r>
              <a:rPr lang="en-US" sz="4200" dirty="0">
                <a:solidFill>
                  <a:schemeClr val="tx1"/>
                </a:solidFill>
              </a:rPr>
              <a:t>R1</a:t>
            </a: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CBA4B5-BDFC-6D47-8E07-BE338275DDBE}"/>
              </a:ext>
            </a:extLst>
          </p:cNvPr>
          <p:cNvSpPr/>
          <p:nvPr/>
        </p:nvSpPr>
        <p:spPr>
          <a:xfrm>
            <a:off x="3857625" y="3925229"/>
            <a:ext cx="1809750" cy="24993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r>
              <a:rPr lang="en-US" sz="4200" dirty="0">
                <a:solidFill>
                  <a:schemeClr val="tx1"/>
                </a:solidFill>
              </a:rPr>
              <a:t>R2</a:t>
            </a: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27CA96-EA98-D545-B71C-245C785DF236}"/>
              </a:ext>
            </a:extLst>
          </p:cNvPr>
          <p:cNvSpPr/>
          <p:nvPr/>
        </p:nvSpPr>
        <p:spPr>
          <a:xfrm>
            <a:off x="4071936" y="4705394"/>
            <a:ext cx="1381125" cy="638742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7EC075-4CCA-E14D-9D80-6236DF6E90AE}"/>
              </a:ext>
            </a:extLst>
          </p:cNvPr>
          <p:cNvSpPr/>
          <p:nvPr/>
        </p:nvSpPr>
        <p:spPr>
          <a:xfrm>
            <a:off x="4071936" y="5585848"/>
            <a:ext cx="1381125" cy="638742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dirty="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E94591-6151-004B-8BDC-A95B7C8D6F73}"/>
              </a:ext>
            </a:extLst>
          </p:cNvPr>
          <p:cNvSpPr/>
          <p:nvPr/>
        </p:nvSpPr>
        <p:spPr>
          <a:xfrm>
            <a:off x="1566862" y="4712575"/>
            <a:ext cx="1381125" cy="638742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327455-3A2F-6548-92C7-7FD3FDD12040}"/>
              </a:ext>
            </a:extLst>
          </p:cNvPr>
          <p:cNvSpPr txBox="1"/>
          <p:nvPr/>
        </p:nvSpPr>
        <p:spPr>
          <a:xfrm>
            <a:off x="946460" y="3115680"/>
            <a:ext cx="63877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1: categories are nested.</a:t>
            </a:r>
          </a:p>
          <a:p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A39DE-5B7A-27B1-B1F9-ACB08683D4F4}"/>
              </a:ext>
            </a:extLst>
          </p:cNvPr>
          <p:cNvSpPr txBox="1"/>
          <p:nvPr/>
        </p:nvSpPr>
        <p:spPr>
          <a:xfrm>
            <a:off x="6724533" y="3115680"/>
            <a:ext cx="6322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2: not nested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40066C-FCB8-8826-8476-924D8B190B50}"/>
              </a:ext>
            </a:extLst>
          </p:cNvPr>
          <p:cNvSpPr/>
          <p:nvPr/>
        </p:nvSpPr>
        <p:spPr>
          <a:xfrm>
            <a:off x="6416482" y="3733250"/>
            <a:ext cx="5162550" cy="29017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9CFDB0-2A2E-F71C-008A-8390D0037E7A}"/>
              </a:ext>
            </a:extLst>
          </p:cNvPr>
          <p:cNvSpPr/>
          <p:nvPr/>
        </p:nvSpPr>
        <p:spPr>
          <a:xfrm>
            <a:off x="6873682" y="3933972"/>
            <a:ext cx="1809750" cy="24906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r>
              <a:rPr lang="en-US" sz="4200" dirty="0">
                <a:solidFill>
                  <a:schemeClr val="tx1"/>
                </a:solidFill>
              </a:rPr>
              <a:t>Y</a:t>
            </a: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E663B44-121B-5DEC-E834-4E688CEA6DE0}"/>
              </a:ext>
            </a:extLst>
          </p:cNvPr>
          <p:cNvSpPr/>
          <p:nvPr/>
        </p:nvSpPr>
        <p:spPr>
          <a:xfrm>
            <a:off x="9378757" y="3933973"/>
            <a:ext cx="1809750" cy="24906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r>
              <a:rPr lang="en-US" sz="4200" dirty="0">
                <a:solidFill>
                  <a:schemeClr val="tx1"/>
                </a:solidFill>
              </a:rPr>
              <a:t>M</a:t>
            </a: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  <a:p>
            <a:pPr algn="ctr"/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23188DF-C83D-C777-D0E7-B50B2AC8CD53}"/>
              </a:ext>
            </a:extLst>
          </p:cNvPr>
          <p:cNvSpPr/>
          <p:nvPr/>
        </p:nvSpPr>
        <p:spPr>
          <a:xfrm>
            <a:off x="1566862" y="5625705"/>
            <a:ext cx="1381125" cy="638742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93817C-F394-C2E0-B44D-57ACE6D4C44D}"/>
              </a:ext>
            </a:extLst>
          </p:cNvPr>
          <p:cNvSpPr/>
          <p:nvPr/>
        </p:nvSpPr>
        <p:spPr>
          <a:xfrm>
            <a:off x="7101295" y="4524508"/>
            <a:ext cx="3881438" cy="361771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2839D8E-7439-8543-D5D0-7C946D1C7737}"/>
              </a:ext>
            </a:extLst>
          </p:cNvPr>
          <p:cNvSpPr/>
          <p:nvPr/>
        </p:nvSpPr>
        <p:spPr>
          <a:xfrm>
            <a:off x="7101295" y="4979229"/>
            <a:ext cx="3881438" cy="361771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582D13B-43E7-A43A-FB4E-D2A692F9CE29}"/>
              </a:ext>
            </a:extLst>
          </p:cNvPr>
          <p:cNvSpPr/>
          <p:nvPr/>
        </p:nvSpPr>
        <p:spPr>
          <a:xfrm>
            <a:off x="7101295" y="5433950"/>
            <a:ext cx="3881438" cy="361771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22DFA4E-1639-00C2-4EB5-7A94F24FEF0B}"/>
              </a:ext>
            </a:extLst>
          </p:cNvPr>
          <p:cNvSpPr/>
          <p:nvPr/>
        </p:nvSpPr>
        <p:spPr>
          <a:xfrm>
            <a:off x="7101295" y="5903192"/>
            <a:ext cx="3881438" cy="361771"/>
          </a:xfrm>
          <a:prstGeom prst="round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73946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/>
      <p:bldP spid="5" grpId="0" animBg="1"/>
      <p:bldP spid="6" grpId="0" build="allAtOnce" animBg="1"/>
      <p:bldP spid="7" grpId="0" build="allAtOnce" animBg="1"/>
      <p:bldP spid="10" grpId="0" build="allAtOnce" animBg="1"/>
      <p:bldP spid="11" grpId="0" build="allAtOnce" animBg="1"/>
      <p:bldP spid="12" grpId="0" build="allAtOnce" animBg="1"/>
      <p:bldP spid="17" grpId="0"/>
      <p:bldP spid="9" grpId="0"/>
      <p:bldP spid="14" grpId="0" animBg="1"/>
      <p:bldP spid="15" grpId="0" build="allAtOnce" animBg="1"/>
      <p:bldP spid="16" grpId="0" build="allAtOnce" animBg="1"/>
      <p:bldP spid="21" grpId="0" build="allAtOnce" animBg="1"/>
      <p:bldP spid="22" grpId="0" build="allAtOnce" animBg="1"/>
      <p:bldP spid="23" grpId="0" build="allAtOnce" animBg="1"/>
      <p:bldP spid="24" grpId="0" build="allAtOnce" animBg="1"/>
      <p:bldP spid="25" grpId="0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5616-D4E8-EE41-B0F5-0E86BAEC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Greedy “works” when categories are nested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812DE6-9D30-7F6A-61EC-E6611D645EAE}"/>
              </a:ext>
            </a:extLst>
          </p:cNvPr>
          <p:cNvSpPr txBox="1">
            <a:spLocks/>
          </p:cNvSpPr>
          <p:nvPr/>
        </p:nvSpPr>
        <p:spPr>
          <a:xfrm>
            <a:off x="838200" y="3119136"/>
            <a:ext cx="10759066" cy="2222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Theorem (Maximum Quotas).</a:t>
            </a: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greedy algorithm always finds a feasible selection which is not priority dominated by any other feasible selection.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If categories are nested, it always finds a selection that maximizes selected applicants and priority dominates any other feasible selection.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2AAD71-5787-5FE3-C7B8-7BB2027B5017}"/>
              </a:ext>
            </a:extLst>
          </p:cNvPr>
          <p:cNvSpPr/>
          <p:nvPr/>
        </p:nvSpPr>
        <p:spPr>
          <a:xfrm>
            <a:off x="838200" y="5538768"/>
            <a:ext cx="105155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When categories are </a:t>
            </a:r>
            <a:r>
              <a:rPr lang="en-US" sz="2800" b="1" dirty="0"/>
              <a:t>not </a:t>
            </a:r>
            <a:r>
              <a:rPr lang="en-US" sz="2800" dirty="0"/>
              <a:t>nested, the number of people selected by the greedy algorithm may depend on the processing order!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CA0131-0D1B-E0BB-3B8F-7662BEFD453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734675" cy="917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Quota categories are </a:t>
            </a:r>
            <a:r>
              <a:rPr lang="en-US" b="1" dirty="0"/>
              <a:t>nested</a:t>
            </a:r>
            <a:r>
              <a:rPr lang="en-US" dirty="0"/>
              <a:t> (</a:t>
            </a:r>
            <a:r>
              <a:rPr lang="en-US" b="1" dirty="0"/>
              <a:t>laminar</a:t>
            </a:r>
            <a:r>
              <a:rPr lang="en-US" dirty="0"/>
              <a:t>) if for any two categories, either one contains the other, or nobody is in both categories.</a:t>
            </a:r>
          </a:p>
        </p:txBody>
      </p:sp>
    </p:spTree>
    <p:extLst>
      <p:ext uri="{BB962C8B-B14F-4D97-AF65-F5344CB8AC3E}">
        <p14:creationId xmlns:p14="http://schemas.microsoft.com/office/powerpoint/2010/main" val="171437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862E-EA23-154E-B067-B6F92D5F25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Engineering The Allocation </a:t>
            </a:r>
            <a:br>
              <a:rPr lang="en-US" dirty="0"/>
            </a:br>
            <a:r>
              <a:rPr lang="en-US" dirty="0"/>
              <a:t>of Public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AB92F-519D-4B46-81BF-871326506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Professor Nick Arnosti</a:t>
            </a:r>
          </a:p>
          <a:p>
            <a:r>
              <a:rPr lang="en-US" dirty="0"/>
              <a:t>University of Minnesota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4999E-5364-FD4E-8F5F-0E19DB5E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015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DCFF-5594-113C-329E-F68CC2AA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E934-AA4C-BB51-8ED2-AF6FF224E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666249" cy="540036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Matching Foundations</a:t>
            </a:r>
          </a:p>
          <a:p>
            <a:pPr lvl="1"/>
            <a:r>
              <a:rPr lang="en-US" dirty="0"/>
              <a:t>Serial Dictatorship, Top Trading Cycles, Deferred Acceptance</a:t>
            </a:r>
          </a:p>
          <a:p>
            <a:pPr lvl="1"/>
            <a:r>
              <a:rPr lang="en-US" dirty="0"/>
              <a:t>School choice, residency matching, board game swaps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Diversity and Affirmative Action</a:t>
            </a:r>
          </a:p>
          <a:p>
            <a:pPr lvl="1"/>
            <a:r>
              <a:rPr lang="en-US" dirty="0"/>
              <a:t>Quotas, reserves</a:t>
            </a:r>
          </a:p>
          <a:p>
            <a:pPr lvl="1"/>
            <a:r>
              <a:rPr lang="en-US" dirty="0"/>
              <a:t>Visa allocation, Indian Civil Service, Brazilian University Admissions…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Dynamic Matching</a:t>
            </a:r>
          </a:p>
          <a:p>
            <a:pPr lvl="1"/>
            <a:r>
              <a:rPr lang="en-US" dirty="0"/>
              <a:t>Cycles, chains, lotteries, waiting lists</a:t>
            </a:r>
          </a:p>
          <a:p>
            <a:pPr lvl="1"/>
            <a:r>
              <a:rPr lang="en-US" dirty="0"/>
              <a:t>Organ allocation, housing allocation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806F7-822C-9F39-0A61-BA2C8C26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38851-A588-2F13-E3AA-0B14843EFD33}"/>
              </a:ext>
            </a:extLst>
          </p:cNvPr>
          <p:cNvSpPr txBox="1"/>
          <p:nvPr/>
        </p:nvSpPr>
        <p:spPr>
          <a:xfrm>
            <a:off x="6730770" y="3144490"/>
            <a:ext cx="5201036" cy="9541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i="1" dirty="0"/>
              <a:t>Algorithms for Affirmative Action</a:t>
            </a:r>
          </a:p>
          <a:p>
            <a:r>
              <a:rPr lang="en-US" sz="2800" dirty="0"/>
              <a:t>Informs Transactions on Education</a:t>
            </a:r>
          </a:p>
        </p:txBody>
      </p:sp>
    </p:spTree>
    <p:extLst>
      <p:ext uri="{BB962C8B-B14F-4D97-AF65-F5344CB8AC3E}">
        <p14:creationId xmlns:p14="http://schemas.microsoft.com/office/powerpoint/2010/main" val="285319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DD5E-F648-B254-ABDF-890E7B92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8AB40-5BAF-70E6-EFC4-1C7011651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~20 students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Officially offered at masters level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students are Seniors in </a:t>
            </a:r>
            <a:r>
              <a:rPr lang="en-US" dirty="0" err="1"/>
              <a:t>ISyE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Several PhD students, several sophomores/juniors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Students in Econ, CS, Stats, BME, Civil…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53CFC-CB85-1E8B-0430-E2A708F6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589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15C00-A491-6221-C761-833AA7DA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Pedagogical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87F1A-BC6D-683D-826A-22AF95D22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Minimize</a:t>
            </a:r>
            <a:r>
              <a:rPr lang="en-US" dirty="0"/>
              <a:t>: notation, proofs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Incorporate</a:t>
            </a:r>
            <a:r>
              <a:rPr lang="en-US" dirty="0"/>
              <a:t>: examples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Keep</a:t>
            </a:r>
            <a:r>
              <a:rPr lang="en-US" dirty="0"/>
              <a:t>: definitions, theorem statements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Frequent homework (2x/week), quick (instant) feedback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3D7C4-0FC1-D06D-19E7-B7168FFA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61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AA28A-9962-8177-8FBC-2F8CF5F9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53C21-55AB-03B7-A3CA-3D6CAA2AC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nickarnosti.com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arnosti@umn.edu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A9E18-619A-2A98-3C76-468B0683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9584-4773-A84E-8391-EEC4BE76D61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7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5B57AAB9-6F26-4F46-B4B4-E147A446187E}" vid="{31DC0A76-C392-3F41-8E4A-B15F0CEEF4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10675</TotalTime>
  <Words>1080</Words>
  <Application>Microsoft Macintosh PowerPoint</Application>
  <PresentationFormat>Widescreen</PresentationFormat>
  <Paragraphs>336</Paragraphs>
  <Slides>20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LatoWeb</vt:lpstr>
      <vt:lpstr>Office Theme</vt:lpstr>
      <vt:lpstr>Engineering The Allocation  of Public Resources</vt:lpstr>
      <vt:lpstr>Plan for Today: Maximum Quotas</vt:lpstr>
      <vt:lpstr>By the end of lecture, you will be able to…</vt:lpstr>
      <vt:lpstr>Permanent Visa (Green Card) Categories</vt:lpstr>
      <vt:lpstr>Permanent Visas (Immigrant Visas)</vt:lpstr>
      <vt:lpstr>Diversity Visa Lottery</vt:lpstr>
      <vt:lpstr>Maximum Quotas Example 1</vt:lpstr>
      <vt:lpstr>Maximum Quotas Example 1</vt:lpstr>
      <vt:lpstr>Top Down (“Greedy”) Selection Algorithm</vt:lpstr>
      <vt:lpstr>Goals</vt:lpstr>
      <vt:lpstr>Desirable Properties</vt:lpstr>
      <vt:lpstr>Maximum Quotas Example 1</vt:lpstr>
      <vt:lpstr>Maximum Quotas Example 2</vt:lpstr>
      <vt:lpstr>What is the difference between these examples?</vt:lpstr>
      <vt:lpstr>Greedy “works” when categories are nested</vt:lpstr>
      <vt:lpstr>Engineering The Allocation  of Public Resources</vt:lpstr>
      <vt:lpstr>Content Overview</vt:lpstr>
      <vt:lpstr>Student Body</vt:lpstr>
      <vt:lpstr>Pedagogical Principles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Systems for  Allocating Public Goods</dc:title>
  <dc:creator>Nicholas A Arnosti</dc:creator>
  <cp:lastModifiedBy>Nick Arnosti</cp:lastModifiedBy>
  <cp:revision>223</cp:revision>
  <dcterms:created xsi:type="dcterms:W3CDTF">2022-02-23T21:01:26Z</dcterms:created>
  <dcterms:modified xsi:type="dcterms:W3CDTF">2024-07-01T05:38:09Z</dcterms:modified>
</cp:coreProperties>
</file>