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76" r:id="rId4"/>
    <p:sldId id="318" r:id="rId5"/>
    <p:sldId id="279" r:id="rId6"/>
    <p:sldId id="319" r:id="rId7"/>
    <p:sldId id="331" r:id="rId8"/>
    <p:sldId id="313" r:id="rId9"/>
    <p:sldId id="315" r:id="rId10"/>
    <p:sldId id="316" r:id="rId11"/>
    <p:sldId id="329" r:id="rId12"/>
    <p:sldId id="320" r:id="rId13"/>
    <p:sldId id="289" r:id="rId14"/>
    <p:sldId id="322" r:id="rId15"/>
    <p:sldId id="332" r:id="rId16"/>
    <p:sldId id="340" r:id="rId17"/>
    <p:sldId id="338" r:id="rId18"/>
    <p:sldId id="333" r:id="rId19"/>
    <p:sldId id="336" r:id="rId20"/>
    <p:sldId id="330" r:id="rId21"/>
    <p:sldId id="328" r:id="rId22"/>
    <p:sldId id="337" r:id="rId23"/>
    <p:sldId id="339" r:id="rId24"/>
    <p:sldId id="334" r:id="rId25"/>
    <p:sldId id="325" r:id="rId26"/>
    <p:sldId id="341" r:id="rId27"/>
    <p:sldId id="326" r:id="rId28"/>
    <p:sldId id="324" r:id="rId29"/>
    <p:sldId id="327" r:id="rId30"/>
    <p:sldId id="267" r:id="rId31"/>
    <p:sldId id="342" r:id="rId32"/>
    <p:sldId id="343" r:id="rId33"/>
    <p:sldId id="345" r:id="rId34"/>
    <p:sldId id="344" r:id="rId35"/>
    <p:sldId id="287" r:id="rId36"/>
    <p:sldId id="26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22"/>
    <p:restoredTop sz="94605"/>
  </p:normalViewPr>
  <p:slideViewPr>
    <p:cSldViewPr snapToGrid="0" snapToObjects="1">
      <p:cViewPr varScale="1">
        <p:scale>
          <a:sx n="89" d="100"/>
          <a:sy n="89" d="100"/>
        </p:scale>
        <p:origin x="16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85845-F680-A04B-B34B-39DF55563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B2B183-AC80-BD49-B1EF-FACCAF9E3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AAAEB-431B-B84D-97C3-17E60A501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127F9-B469-3945-B531-F82800FD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E2005-1F49-0A4F-853E-B4CFD91C5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410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4FD73-8AFE-DB4E-AF24-401B12D6D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6F33A-287A-754E-8EAB-5CBC7E195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05CB9-0FF2-C542-B05C-7596AE308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3034F-8F1C-BF44-9534-CA218689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37244-2D66-084B-9660-ECB905C8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0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CA3E8-4404-194B-BA18-A34CB421C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DC93E-F8D3-ED45-AD25-6CAB59A00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8940B-C3CD-4642-A7C0-AD19D48EC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B25BC-C687-FD48-AF31-CDC107BC9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BE7D6-B13D-D547-BF96-59EED217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4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2A3A1-D42C-9641-B129-A4C2FFE60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57EA0-5E61-7544-8B3C-04E1E63176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A0B6E2-1E51-5647-A4A5-499BE9332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42CF1-5BB9-F842-8482-539CD02C2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2/13/22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58057-5498-5F41-AF3A-0DF5D2509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41C7A-B882-944E-802C-9683932A4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03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8CCF-4110-B540-A5AF-DA680A078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ED1A-4A50-C446-8BA7-73C7BC335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2D403-E050-8440-A14C-307DDE5D8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A2F67F-C4C8-C647-9863-AC54E984F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D3EEE8-B7A4-244A-A285-5FD24C73EA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DD976-32A2-AE44-B697-E2648D1D1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2/13/22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85EE88-670B-2344-8B5A-CB500FD0D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CB62E0-C3F4-6A42-9CB2-7551D112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702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E5D45-1928-9944-8E76-7DBD0B114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A005EA-C89A-B14E-B4D1-F9ABC9815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2/13/22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73C63A-6C04-7246-84A3-B17D4A634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42939-4F1B-5B4B-B5F1-F6367CCAD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3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23B928-E57A-D341-B7AD-3C9626F6D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2/13/22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7B032-0302-2048-86D3-592A603E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F3916A-288F-9840-8611-638A9ADAA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96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AA29-B422-4948-A0E0-9FAF8FAE0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26663-CCFE-414D-855C-F075D4B89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17C48-7606-CA45-AF4B-A197F1D42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1E0A4-4E24-E54C-AD4D-4DF87AA8B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2/13/22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62182-2D3C-D745-8101-0E54381D6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AD7-008C-2C40-A171-B6AB15288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6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367FB-1390-1343-BFD8-B00AC0750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3E6730-2A6C-6248-9E27-D4AB113607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B404F-1256-5C46-AC76-F6F7ECF73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71013-DE3B-C54A-ADB4-40FA8D252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2/13/22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8DACB-A0B2-CF46-B826-2BDAB1A01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57C08-2A04-A840-8DCB-FE611E6E3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42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95DD5-975B-4346-BF7E-E09722CCE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26C886-A7C3-3C40-ACD7-EB1AAAF07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F4F6F-11FB-8F40-80D4-A43081C64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65C1C-E231-FD4E-B4EE-F8677030C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44EC2-6E78-6B43-8EE9-CB46FD07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23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C81327-593B-F94E-9717-EBFD0EC93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6829D-7CC1-AF45-9486-921213963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65309-BA66-2C47-9EB3-CA8091D23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21743-D0D5-A943-8D42-58F070AD1897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F1C5D-F680-A14A-A575-8B2FD31D6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1FD5B-26C6-084A-9FD5-57D0BE511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A083E9-1A0F-7F4E-8DD9-CC48791E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775DE-6E8E-2441-8E8D-038B413AF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0E762-2EC8-1945-B0BC-F125B99F45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21743-D0D5-A943-8D42-58F070AD1897}" type="datetimeFigureOut">
              <a:rPr lang="en-US" smtClean="0"/>
              <a:t>2/13/22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2B3FC-63B5-5F4C-BDBC-D25F8D9ED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0776C-1036-0841-A832-626AE486B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F3973-2BE7-8D49-B4B7-EF99BACCD4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16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EA247-C052-C944-8AE6-C95450507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0280" y="927835"/>
            <a:ext cx="10431439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Do “Community Preference” Policies Violate the Fair Housing Act?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D6015C-D268-9C45-BBF3-F451C071B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1988" y="3987800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/>
              <a:t>Part 2: Examining the City’s Defense</a:t>
            </a:r>
          </a:p>
          <a:p>
            <a:endParaRPr lang="en-US" sz="2800" dirty="0"/>
          </a:p>
          <a:p>
            <a:r>
              <a:rPr lang="en-US" sz="2800" dirty="0"/>
              <a:t>Nick </a:t>
            </a:r>
            <a:r>
              <a:rPr lang="en-US" sz="2800" dirty="0" err="1"/>
              <a:t>Arnosti</a:t>
            </a:r>
            <a:r>
              <a:rPr lang="en-US" sz="2800" dirty="0"/>
              <a:t> (not a legal scholar)</a:t>
            </a:r>
          </a:p>
        </p:txBody>
      </p:sp>
    </p:spTree>
    <p:extLst>
      <p:ext uri="{BB962C8B-B14F-4D97-AF65-F5344CB8AC3E}">
        <p14:creationId xmlns:p14="http://schemas.microsoft.com/office/powerpoint/2010/main" val="95072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7F2DC-1B3D-5D4E-A5AC-05EB51ACB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York Affordable Housing Lotteries</a:t>
            </a:r>
          </a:p>
        </p:txBody>
      </p:sp>
      <p:pic>
        <p:nvPicPr>
          <p:cNvPr id="20" name="Content Placeholder 1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F3A9601-3EDC-9547-99BC-49CF99CB5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1587" y="1940521"/>
            <a:ext cx="10515600" cy="4177181"/>
          </a:xfrm>
        </p:spPr>
      </p:pic>
    </p:spTree>
    <p:extLst>
      <p:ext uri="{BB962C8B-B14F-4D97-AF65-F5344CB8AC3E}">
        <p14:creationId xmlns:p14="http://schemas.microsoft.com/office/powerpoint/2010/main" val="1334088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7F2DC-1B3D-5D4E-A5AC-05EB51ACB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 Preference Policy</a:t>
            </a:r>
          </a:p>
        </p:txBody>
      </p:sp>
      <p:pic>
        <p:nvPicPr>
          <p:cNvPr id="18" name="Picture 17" descr="Map&#10;&#10;Description automatically generated">
            <a:extLst>
              <a:ext uri="{FF2B5EF4-FFF2-40B4-BE49-F238E27FC236}">
                <a16:creationId xmlns:a16="http://schemas.microsoft.com/office/drawing/2014/main" id="{F5011A49-A436-A04A-BC25-DA580E8420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389" b="96708" l="2422" r="95547">
                        <a14:foregroundMark x1="90078" y1="63793" x2="89688" y2="43730"/>
                        <a14:foregroundMark x1="89688" y1="43730" x2="92656" y2="35737"/>
                        <a14:foregroundMark x1="92656" y1="35737" x2="97422" y2="43260"/>
                        <a14:foregroundMark x1="97422" y1="43260" x2="93750" y2="51097"/>
                        <a14:foregroundMark x1="93750" y1="51097" x2="93359" y2="60031"/>
                        <a14:foregroundMark x1="93359" y1="60031" x2="90391" y2="59718"/>
                        <a14:foregroundMark x1="95547" y1="41693" x2="95547" y2="39420"/>
                        <a14:foregroundMark x1="81953" y1="9561" x2="64844" y2="3605"/>
                        <a14:foregroundMark x1="64844" y1="3605" x2="60234" y2="10972"/>
                        <a14:foregroundMark x1="60234" y1="10972" x2="68750" y2="8777"/>
                        <a14:foregroundMark x1="68750" y1="8777" x2="74219" y2="9169"/>
                        <a14:foregroundMark x1="71641" y1="4389" x2="68750" y2="9169"/>
                        <a14:foregroundMark x1="49922" y1="35345" x2="52109" y2="36129"/>
                        <a14:foregroundMark x1="51797" y1="61599" x2="52109" y2="60502"/>
                        <a14:foregroundMark x1="69844" y1="81505" x2="86094" y2="74922"/>
                        <a14:foregroundMark x1="86094" y1="74922" x2="87891" y2="73041"/>
                        <a14:foregroundMark x1="26719" y1="71944" x2="17734" y2="69357"/>
                        <a14:foregroundMark x1="17734" y1="69357" x2="30781" y2="68260"/>
                        <a14:foregroundMark x1="25313" y1="76332" x2="16406" y2="76019"/>
                        <a14:foregroundMark x1="16406" y1="76019" x2="25781" y2="76489"/>
                        <a14:foregroundMark x1="25781" y1="76489" x2="29688" y2="78918"/>
                        <a14:foregroundMark x1="20156" y1="79310" x2="13516" y2="73746"/>
                        <a14:foregroundMark x1="13516" y1="73746" x2="16094" y2="74530"/>
                        <a14:foregroundMark x1="49922" y1="35031" x2="53984" y2="29467"/>
                        <a14:foregroundMark x1="2422" y1="96708" x2="17813" y2="86364"/>
                        <a14:foregroundMark x1="17813" y1="86364" x2="18672" y2="84483"/>
                        <a14:foregroundMark x1="53281" y1="24295" x2="56563" y2="16379"/>
                        <a14:foregroundMark x1="56563" y1="16379" x2="56172" y2="25392"/>
                        <a14:foregroundMark x1="70938" y1="80799" x2="86953" y2="75235"/>
                        <a14:foregroundMark x1="86953" y1="75235" x2="85313" y2="73746"/>
                        <a14:backgroundMark x1="21563" y1="58621" x2="26016" y2="51097"/>
                        <a14:backgroundMark x1="26016" y1="51097" x2="26016" y2="50549"/>
                        <a14:backgroundMark x1="20156" y1="61207" x2="17891" y2="63480"/>
                        <a14:backgroundMark x1="2109" y1="86677" x2="8828" y2="80956"/>
                        <a14:backgroundMark x1="8828" y1="80956" x2="9453" y2="70455"/>
                        <a14:backgroundMark x1="6875" y1="84091" x2="10313" y2="76019"/>
                        <a14:backgroundMark x1="10313" y1="76019" x2="9453" y2="68260"/>
                        <a14:backgroundMark x1="6484" y1="85266" x2="7578" y2="85580"/>
                        <a14:backgroundMark x1="8750" y1="79310" x2="7266" y2="85972"/>
                        <a14:backgroundMark x1="7969" y1="83777" x2="9063" y2="78605"/>
                        <a14:backgroundMark x1="8359" y1="83777" x2="9453" y2="78605"/>
                        <a14:backgroundMark x1="8359" y1="82680" x2="8750" y2="77821"/>
                        <a14:backgroundMark x1="8359" y1="81191" x2="8359" y2="81191"/>
                        <a14:backgroundMark x1="9453" y1="80408" x2="9453" y2="80408"/>
                        <a14:backgroundMark x1="8359" y1="80408" x2="9844" y2="75627"/>
                        <a14:backgroundMark x1="8359" y1="80799" x2="9844" y2="70063"/>
                        <a14:backgroundMark x1="9844" y1="75627" x2="10547" y2="75235"/>
                        <a14:backgroundMark x1="27891" y1="92947" x2="47734" y2="93730"/>
                        <a14:backgroundMark x1="39609" y1="85972" x2="39766" y2="95611"/>
                        <a14:backgroundMark x1="39766" y1="95611" x2="60156" y2="90047"/>
                        <a14:backgroundMark x1="60156" y1="90047" x2="74375" y2="90439"/>
                        <a14:backgroundMark x1="74375" y1="90439" x2="82813" y2="95455"/>
                        <a14:backgroundMark x1="82813" y1="95455" x2="87500" y2="91850"/>
                        <a14:backgroundMark x1="87109" y1="87461" x2="78906" y2="97571"/>
                        <a14:backgroundMark x1="78906" y1="97571" x2="68516" y2="98197"/>
                        <a14:backgroundMark x1="68516" y1="98197" x2="60156" y2="94671"/>
                        <a14:backgroundMark x1="60156" y1="94671" x2="38516" y2="95533"/>
                        <a14:backgroundMark x1="39297" y1="89655" x2="30391" y2="92633"/>
                        <a14:backgroundMark x1="30391" y1="92633" x2="37031" y2="84875"/>
                        <a14:backgroundMark x1="37031" y1="84875" x2="47500" y2="85031"/>
                        <a14:backgroundMark x1="47500" y1="85031" x2="55781" y2="89263"/>
                        <a14:backgroundMark x1="55781" y1="89263" x2="65469" y2="90596"/>
                        <a14:backgroundMark x1="65469" y1="90596" x2="75547" y2="89577"/>
                        <a14:backgroundMark x1="75547" y1="89577" x2="83594" y2="85580"/>
                        <a14:backgroundMark x1="83594" y1="85580" x2="88594" y2="90047"/>
                        <a14:backgroundMark x1="90391" y1="95219" x2="90391" y2="86442"/>
                        <a14:backgroundMark x1="90391" y1="86442" x2="82578" y2="82288"/>
                        <a14:backgroundMark x1="82578" y1="82288" x2="73906" y2="83699"/>
                        <a14:backgroundMark x1="73906" y1="83699" x2="82734" y2="83542"/>
                        <a14:backgroundMark x1="82734" y1="83542" x2="90391" y2="87304"/>
                        <a14:backgroundMark x1="90391" y1="87304" x2="90781" y2="91144"/>
                        <a14:backgroundMark x1="85313" y1="81505" x2="93750" y2="83150"/>
                        <a14:backgroundMark x1="93750" y1="83150" x2="97422" y2="86677"/>
                        <a14:backgroundMark x1="10156" y1="98119" x2="22031" y2="95768"/>
                        <a14:backgroundMark x1="22031" y1="95768" x2="35156" y2="79389"/>
                        <a14:backgroundMark x1="35156" y1="79389" x2="43984" y2="81348"/>
                        <a14:backgroundMark x1="43984" y1="81348" x2="45547" y2="82994"/>
                        <a14:backgroundMark x1="8359" y1="98903" x2="8750" y2="98903"/>
                        <a14:backgroundMark x1="234" y1="99295" x2="2422" y2="90987"/>
                        <a14:backgroundMark x1="2422" y1="90987" x2="1719" y2="87853"/>
                        <a14:backgroundMark x1="21563" y1="88950" x2="21563" y2="88950"/>
                        <a14:backgroundMark x1="21563" y1="88950" x2="21563" y2="88950"/>
                        <a14:backgroundMark x1="23047" y1="88166" x2="20859" y2="91536"/>
                        <a14:backgroundMark x1="52891" y1="87853" x2="53594" y2="84091"/>
                        <a14:backgroundMark x1="53594" y1="83386" x2="69453" y2="80799"/>
                        <a14:backgroundMark x1="83047" y1="68966" x2="81563" y2="68260"/>
                        <a14:backgroundMark x1="81563" y1="67868" x2="83438" y2="68652"/>
                        <a14:backgroundMark x1="83828" y1="68652" x2="75391" y2="63480"/>
                        <a14:backgroundMark x1="75391" y1="63480" x2="82813" y2="69201"/>
                        <a14:backgroundMark x1="82813" y1="69201" x2="71719" y2="67163"/>
                        <a14:backgroundMark x1="71719" y1="67163" x2="73125" y2="75940"/>
                        <a14:backgroundMark x1="73125" y1="75940" x2="79531" y2="70219"/>
                        <a14:backgroundMark x1="79531" y1="70219" x2="80156" y2="70063"/>
                        <a14:backgroundMark x1="81563" y1="73041" x2="72656" y2="76332"/>
                        <a14:backgroundMark x1="72656" y1="76332" x2="67969" y2="69044"/>
                        <a14:backgroundMark x1="67969" y1="69044" x2="71406" y2="77586"/>
                        <a14:backgroundMark x1="71406" y1="77586" x2="78203" y2="68809"/>
                        <a14:backgroundMark x1="78203" y1="68809" x2="86641" y2="71630"/>
                        <a14:backgroundMark x1="86641" y1="71630" x2="75313" y2="76332"/>
                        <a14:backgroundMark x1="75313" y1="76332" x2="67891" y2="71944"/>
                        <a14:backgroundMark x1="67891" y1="71944" x2="73828" y2="75235"/>
                        <a14:backgroundMark x1="67969" y1="69357" x2="67969" y2="70063"/>
                        <a14:backgroundMark x1="69063" y1="68652" x2="66875" y2="71944"/>
                        <a14:backgroundMark x1="67266" y1="67163" x2="76563" y2="66458"/>
                        <a14:backgroundMark x1="76563" y1="66458" x2="68750" y2="69984"/>
                        <a14:backgroundMark x1="68750" y1="69984" x2="69063" y2="69357"/>
                        <a14:backgroundMark x1="35938" y1="64185" x2="38438" y2="56034"/>
                        <a14:backgroundMark x1="38438" y1="56034" x2="36719" y2="65517"/>
                        <a14:backgroundMark x1="36719" y1="65517" x2="40391" y2="80094"/>
                        <a14:backgroundMark x1="40703" y1="50862" x2="45313" y2="34248"/>
                        <a14:backgroundMark x1="45313" y1="34248" x2="58047" y2="10658"/>
                        <a14:backgroundMark x1="58047" y1="10658" x2="58438" y2="8777"/>
                        <a14:backgroundMark x1="69844" y1="29859" x2="69844" y2="29859"/>
                        <a14:backgroundMark x1="91563" y1="8464" x2="92813" y2="18025"/>
                        <a14:backgroundMark x1="92813" y1="18025" x2="86172" y2="24060"/>
                        <a14:backgroundMark x1="86172" y1="24060" x2="84141" y2="25078"/>
                        <a14:backgroundMark x1="83438" y1="25784" x2="80859" y2="19906"/>
                        <a14:backgroundMark x1="84922" y1="26489" x2="85625" y2="24687"/>
                        <a14:backgroundMark x1="85625" y1="28762" x2="85625" y2="26881"/>
                        <a14:backgroundMark x1="82734" y1="29075" x2="77188" y2="27273"/>
                        <a14:backgroundMark x1="69844" y1="29467" x2="70156" y2="29859"/>
                        <a14:backgroundMark x1="70547" y1="30956" x2="75313" y2="28370"/>
                        <a14:backgroundMark x1="49609" y1="50157" x2="51797" y2="41850"/>
                        <a14:backgroundMark x1="51797" y1="41850" x2="49375" y2="51332"/>
                        <a14:backgroundMark x1="49375" y1="51332" x2="44766" y2="51254"/>
                        <a14:backgroundMark x1="56953" y1="33542" x2="65391" y2="31897"/>
                        <a14:backgroundMark x1="65391" y1="31897" x2="65781" y2="28762"/>
                        <a14:backgroundMark x1="22734" y1="65282" x2="30078" y2="63088"/>
                        <a14:backgroundMark x1="9453" y1="72649" x2="13047" y2="64890"/>
                        <a14:backgroundMark x1="13047" y1="64890" x2="10938" y2="64577"/>
                        <a14:backgroundMark x1="68359" y1="30956" x2="72422" y2="36129"/>
                        <a14:backgroundMark x1="85313" y1="28762" x2="87500" y2="3244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29387" y="614958"/>
            <a:ext cx="6262613" cy="624304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0D11B-A84A-2240-ADB3-042017265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201"/>
            <a:ext cx="7807036" cy="18111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Community Preference is a longstanding NYC policy that </a:t>
            </a:r>
            <a:r>
              <a:rPr lang="en-US" b="1" dirty="0"/>
              <a:t>reserves 50% of units in most subsidized affordable housing developments</a:t>
            </a:r>
            <a:r>
              <a:rPr lang="en-US" dirty="0"/>
              <a:t> for residents of the local Community District.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046BC0-3F02-7B4D-BDD6-E05A4EE7DDCD}"/>
              </a:ext>
            </a:extLst>
          </p:cNvPr>
          <p:cNvSpPr/>
          <p:nvPr/>
        </p:nvSpPr>
        <p:spPr>
          <a:xfrm>
            <a:off x="838200" y="3429000"/>
            <a:ext cx="626261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200" b="1" dirty="0">
                <a:solidFill>
                  <a:srgbClr val="FF0000"/>
                </a:solidFill>
              </a:rPr>
              <a:t>Lawsuit!</a:t>
            </a:r>
          </a:p>
          <a:p>
            <a:r>
              <a:rPr lang="en-US" sz="2800" dirty="0"/>
              <a:t>Plaintiffs claim that the policy has racially discriminatory impacts and perpetuates the harmful legacy of segregation.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0A99FD-C857-BB48-B68F-617EB40A336B}"/>
              </a:ext>
            </a:extLst>
          </p:cNvPr>
          <p:cNvSpPr txBox="1"/>
          <p:nvPr/>
        </p:nvSpPr>
        <p:spPr>
          <a:xfrm>
            <a:off x="7350354" y="6231265"/>
            <a:ext cx="48416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NYC has 59 Community Districts</a:t>
            </a:r>
          </a:p>
        </p:txBody>
      </p:sp>
    </p:spTree>
    <p:extLst>
      <p:ext uri="{BB962C8B-B14F-4D97-AF65-F5344CB8AC3E}">
        <p14:creationId xmlns:p14="http://schemas.microsoft.com/office/powerpoint/2010/main" val="3320448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364C-A2BC-1A47-A910-931F2B95D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300" dirty="0"/>
              <a:t>How to establish </a:t>
            </a:r>
            <a:br>
              <a:rPr lang="en-US" sz="5300" dirty="0"/>
            </a:br>
            <a:r>
              <a:rPr lang="en-US" sz="5300" dirty="0"/>
              <a:t>“disparate impact on the basis of race”?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CF0E2-8BE0-9F4D-8434-B9EAFA4D5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0082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Data analysis: 10,245 units in 168 lotteries from 2012-2018.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Plaintiffs hired Andrew Beveridge to make the case.</a:t>
            </a:r>
          </a:p>
          <a:p>
            <a:pPr marL="0" indent="0">
              <a:buNone/>
            </a:pPr>
            <a:endParaRPr lang="en-US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The city hired Bernard Siskin to rebut.</a:t>
            </a:r>
          </a:p>
          <a:p>
            <a:pPr marL="0" indent="0">
              <a:buNone/>
            </a:pPr>
            <a:endParaRPr lang="en-US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</a:rPr>
              <a:t>I offer my own take.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B4858C-BD88-9F4A-9C84-C1F2B13FBE8F}"/>
              </a:ext>
            </a:extLst>
          </p:cNvPr>
          <p:cNvSpPr txBox="1"/>
          <p:nvPr/>
        </p:nvSpPr>
        <p:spPr>
          <a:xfrm>
            <a:off x="10224655" y="3744112"/>
            <a:ext cx="11664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Part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5E9AE-9C0E-5E49-A93A-1A28F84C4575}"/>
              </a:ext>
            </a:extLst>
          </p:cNvPr>
          <p:cNvSpPr txBox="1"/>
          <p:nvPr/>
        </p:nvSpPr>
        <p:spPr>
          <a:xfrm>
            <a:off x="10224655" y="4837386"/>
            <a:ext cx="11664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Part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608E4A-66B0-4D48-855B-4A5A66EC7AF0}"/>
              </a:ext>
            </a:extLst>
          </p:cNvPr>
          <p:cNvSpPr txBox="1"/>
          <p:nvPr/>
        </p:nvSpPr>
        <p:spPr>
          <a:xfrm>
            <a:off x="10224655" y="6073698"/>
            <a:ext cx="11664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Part 3</a:t>
            </a:r>
          </a:p>
        </p:txBody>
      </p:sp>
    </p:spTree>
    <p:extLst>
      <p:ext uri="{BB962C8B-B14F-4D97-AF65-F5344CB8AC3E}">
        <p14:creationId xmlns:p14="http://schemas.microsoft.com/office/powerpoint/2010/main" val="3196473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364C-A2BC-1A47-A910-931F2B95D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300" dirty="0"/>
              <a:t>How to establish </a:t>
            </a:r>
            <a:br>
              <a:rPr lang="en-US" sz="5300" dirty="0"/>
            </a:br>
            <a:r>
              <a:rPr lang="en-US" sz="5300" dirty="0"/>
              <a:t>“disparate impact on the basis of race”?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CF0E2-8BE0-9F4D-8434-B9EAFA4D5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0082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Data analysis: 10,245 units in 168 lotteries from 2012-2018.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Plaintiffs hired Andrew Beveridge to make the case.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The city hired Bernard Siskin to rebut.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I offer my own take.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B4858C-BD88-9F4A-9C84-C1F2B13FBE8F}"/>
              </a:ext>
            </a:extLst>
          </p:cNvPr>
          <p:cNvSpPr txBox="1"/>
          <p:nvPr/>
        </p:nvSpPr>
        <p:spPr>
          <a:xfrm>
            <a:off x="10224655" y="3744112"/>
            <a:ext cx="11664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Part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5E9AE-9C0E-5E49-A93A-1A28F84C4575}"/>
              </a:ext>
            </a:extLst>
          </p:cNvPr>
          <p:cNvSpPr txBox="1"/>
          <p:nvPr/>
        </p:nvSpPr>
        <p:spPr>
          <a:xfrm>
            <a:off x="10224655" y="4837386"/>
            <a:ext cx="11664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Part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608E4A-66B0-4D48-855B-4A5A66EC7AF0}"/>
              </a:ext>
            </a:extLst>
          </p:cNvPr>
          <p:cNvSpPr txBox="1"/>
          <p:nvPr/>
        </p:nvSpPr>
        <p:spPr>
          <a:xfrm>
            <a:off x="10224655" y="6073698"/>
            <a:ext cx="11664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Part 3</a:t>
            </a:r>
          </a:p>
        </p:txBody>
      </p:sp>
    </p:spTree>
    <p:extLst>
      <p:ext uri="{BB962C8B-B14F-4D97-AF65-F5344CB8AC3E}">
        <p14:creationId xmlns:p14="http://schemas.microsoft.com/office/powerpoint/2010/main" val="2158624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364C-A2BC-1A47-A910-931F2B95D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300" dirty="0"/>
              <a:t>How to establish </a:t>
            </a:r>
            <a:br>
              <a:rPr lang="en-US" sz="5300" dirty="0"/>
            </a:br>
            <a:r>
              <a:rPr lang="en-US" sz="5300" dirty="0"/>
              <a:t>“disparate impact on the basis of race”?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CF0E2-8BE0-9F4D-8434-B9EAFA4D5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0082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Data analysis: 10,245 units in 168 lotteries from 2012-2018.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Plaintiffs hired Andrew Beveridge to make the case.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The city hired Bernard Siskin to rebut.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I offer my own take.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B4858C-BD88-9F4A-9C84-C1F2B13FBE8F}"/>
              </a:ext>
            </a:extLst>
          </p:cNvPr>
          <p:cNvSpPr txBox="1"/>
          <p:nvPr/>
        </p:nvSpPr>
        <p:spPr>
          <a:xfrm>
            <a:off x="10224655" y="3744112"/>
            <a:ext cx="11664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Part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5E9AE-9C0E-5E49-A93A-1A28F84C4575}"/>
              </a:ext>
            </a:extLst>
          </p:cNvPr>
          <p:cNvSpPr txBox="1"/>
          <p:nvPr/>
        </p:nvSpPr>
        <p:spPr>
          <a:xfrm>
            <a:off x="10224655" y="4837386"/>
            <a:ext cx="11664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Part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608E4A-66B0-4D48-855B-4A5A66EC7AF0}"/>
              </a:ext>
            </a:extLst>
          </p:cNvPr>
          <p:cNvSpPr txBox="1"/>
          <p:nvPr/>
        </p:nvSpPr>
        <p:spPr>
          <a:xfrm>
            <a:off x="10224655" y="6073698"/>
            <a:ext cx="11664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</a:rPr>
              <a:t>Part 3</a:t>
            </a: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0B26897D-3C9F-424E-B61C-E6CFA8CE15D3}"/>
              </a:ext>
            </a:extLst>
          </p:cNvPr>
          <p:cNvSpPr/>
          <p:nvPr/>
        </p:nvSpPr>
        <p:spPr>
          <a:xfrm>
            <a:off x="823686" y="4701602"/>
            <a:ext cx="10629900" cy="827314"/>
          </a:xfrm>
          <a:prstGeom prst="frame">
            <a:avLst>
              <a:gd name="adj1" fmla="val 3728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845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FB08A04-7A3D-9B47-8222-D5AB92CEC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1325563"/>
          </a:xfrm>
        </p:spPr>
        <p:txBody>
          <a:bodyPr>
            <a:normAutofit/>
          </a:bodyPr>
          <a:lstStyle/>
          <a:p>
            <a:pPr marL="0" indent="0"/>
            <a:r>
              <a:rPr lang="en-US" dirty="0"/>
              <a:t>Recap: My Critique of Beveridge’s Report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1B212B-6973-4842-9473-A005A1E82C1E}"/>
              </a:ext>
            </a:extLst>
          </p:cNvPr>
          <p:cNvSpPr/>
          <p:nvPr/>
        </p:nvSpPr>
        <p:spPr>
          <a:xfrm>
            <a:off x="838200" y="1477963"/>
            <a:ext cx="40966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To study a policy’s impact, must compare </a:t>
            </a:r>
            <a:r>
              <a:rPr lang="en-US" sz="2800" b="1" dirty="0">
                <a:solidFill>
                  <a:schemeClr val="accent1"/>
                </a:solidFill>
              </a:rPr>
              <a:t>outcomes</a:t>
            </a:r>
            <a:r>
              <a:rPr lang="en-US" sz="2800" dirty="0"/>
              <a:t> with and </a:t>
            </a:r>
            <a:r>
              <a:rPr lang="en-US" sz="2800" b="1" dirty="0">
                <a:solidFill>
                  <a:schemeClr val="accent6"/>
                </a:solidFill>
              </a:rPr>
              <a:t>without</a:t>
            </a:r>
            <a:r>
              <a:rPr lang="en-US" sz="2800" dirty="0"/>
              <a:t> it!</a:t>
            </a:r>
          </a:p>
          <a:p>
            <a:endParaRPr lang="en-US" sz="2800" dirty="0"/>
          </a:p>
          <a:p>
            <a:r>
              <a:rPr lang="en-US" sz="2800" dirty="0"/>
              <a:t>Beveridge fails to do this.</a:t>
            </a:r>
          </a:p>
        </p:txBody>
      </p:sp>
    </p:spTree>
    <p:extLst>
      <p:ext uri="{BB962C8B-B14F-4D97-AF65-F5344CB8AC3E}">
        <p14:creationId xmlns:p14="http://schemas.microsoft.com/office/powerpoint/2010/main" val="3799965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4EDB2921-2B2F-614E-AC91-7944EAC91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257063"/>
              </p:ext>
            </p:extLst>
          </p:nvPr>
        </p:nvGraphicFramePr>
        <p:xfrm>
          <a:off x="5371935" y="1477963"/>
          <a:ext cx="6530108" cy="51905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6219">
                  <a:extLst>
                    <a:ext uri="{9D8B030D-6E8A-4147-A177-3AD203B41FA5}">
                      <a16:colId xmlns:a16="http://schemas.microsoft.com/office/drawing/2014/main" val="2848947315"/>
                    </a:ext>
                  </a:extLst>
                </a:gridCol>
                <a:gridCol w="2098964">
                  <a:extLst>
                    <a:ext uri="{9D8B030D-6E8A-4147-A177-3AD203B41FA5}">
                      <a16:colId xmlns:a16="http://schemas.microsoft.com/office/drawing/2014/main" val="493647060"/>
                    </a:ext>
                  </a:extLst>
                </a:gridCol>
                <a:gridCol w="3054925">
                  <a:extLst>
                    <a:ext uri="{9D8B030D-6E8A-4147-A177-3AD203B41FA5}">
                      <a16:colId xmlns:a16="http://schemas.microsoft.com/office/drawing/2014/main" val="1740170233"/>
                    </a:ext>
                  </a:extLst>
                </a:gridCol>
              </a:tblGrid>
              <a:tr h="906290"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Incorporates </a:t>
                      </a:r>
                      <a:r>
                        <a:rPr lang="en-US" sz="2800" dirty="0">
                          <a:solidFill>
                            <a:schemeClr val="accent1"/>
                          </a:solidFill>
                        </a:rPr>
                        <a:t>Outcomes</a:t>
                      </a:r>
                    </a:p>
                  </a:txBody>
                  <a:tcPr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Clear what would happen </a:t>
                      </a:r>
                      <a:r>
                        <a:rPr lang="en-US" sz="2800" dirty="0">
                          <a:solidFill>
                            <a:schemeClr val="accent6"/>
                          </a:solidFill>
                        </a:rPr>
                        <a:t>without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 CP</a:t>
                      </a:r>
                    </a:p>
                  </a:txBody>
                  <a:tcPr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96097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1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654970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2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28167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3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635414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4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745539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5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427005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6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355373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7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759209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8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217655"/>
                  </a:ext>
                </a:extLst>
              </a:tr>
            </a:tbl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AFB08A04-7A3D-9B47-8222-D5AB92CEC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1325563"/>
          </a:xfrm>
        </p:spPr>
        <p:txBody>
          <a:bodyPr>
            <a:normAutofit/>
          </a:bodyPr>
          <a:lstStyle/>
          <a:p>
            <a:pPr marL="0" indent="0"/>
            <a:r>
              <a:rPr lang="en-US" dirty="0"/>
              <a:t>Recap: My Critique of Beveridge’s Report</a:t>
            </a:r>
          </a:p>
        </p:txBody>
      </p:sp>
      <p:pic>
        <p:nvPicPr>
          <p:cNvPr id="11" name="Picture 1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D6678BF-D57C-8645-A150-5B7293022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04" y="2473475"/>
            <a:ext cx="481094" cy="458975"/>
          </a:xfrm>
          <a:prstGeom prst="rect">
            <a:avLst/>
          </a:prstGeom>
        </p:spPr>
      </p:pic>
      <p:pic>
        <p:nvPicPr>
          <p:cNvPr id="12" name="Picture 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1B50972-D951-5D46-ABD6-8056A60B3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04" y="4073235"/>
            <a:ext cx="481094" cy="458975"/>
          </a:xfrm>
          <a:prstGeom prst="rect">
            <a:avLst/>
          </a:prstGeom>
        </p:spPr>
      </p:pic>
      <p:pic>
        <p:nvPicPr>
          <p:cNvPr id="13" name="Picture 1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3E33025-5960-F74C-94BA-8BC2A8C1F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04" y="5631391"/>
            <a:ext cx="481094" cy="458975"/>
          </a:xfrm>
          <a:prstGeom prst="rect">
            <a:avLst/>
          </a:prstGeom>
        </p:spPr>
      </p:pic>
      <p:pic>
        <p:nvPicPr>
          <p:cNvPr id="14" name="Picture 1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0ACBA41-E0AE-BE4E-9891-4FC3DBF31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04" y="6161800"/>
            <a:ext cx="481094" cy="458975"/>
          </a:xfrm>
          <a:prstGeom prst="rect">
            <a:avLst/>
          </a:prstGeom>
        </p:spPr>
      </p:pic>
      <p:pic>
        <p:nvPicPr>
          <p:cNvPr id="15" name="Picture 14" descr="A picture containing clipart&#10;&#10;Description automatically generated">
            <a:extLst>
              <a:ext uri="{FF2B5EF4-FFF2-40B4-BE49-F238E27FC236}">
                <a16:creationId xmlns:a16="http://schemas.microsoft.com/office/drawing/2014/main" id="{CF336748-6D24-1F44-A986-A09D61C1B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04" y="2989370"/>
            <a:ext cx="481094" cy="457277"/>
          </a:xfrm>
          <a:prstGeom prst="rect">
            <a:avLst/>
          </a:prstGeom>
        </p:spPr>
      </p:pic>
      <p:pic>
        <p:nvPicPr>
          <p:cNvPr id="16" name="Picture 15" descr="A picture containing clipart&#10;&#10;Description automatically generated">
            <a:extLst>
              <a:ext uri="{FF2B5EF4-FFF2-40B4-BE49-F238E27FC236}">
                <a16:creationId xmlns:a16="http://schemas.microsoft.com/office/drawing/2014/main" id="{75DE5C9F-531C-DA44-9D79-72FEA5208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04" y="3538960"/>
            <a:ext cx="481094" cy="457277"/>
          </a:xfrm>
          <a:prstGeom prst="rect">
            <a:avLst/>
          </a:prstGeom>
        </p:spPr>
      </p:pic>
      <p:pic>
        <p:nvPicPr>
          <p:cNvPr id="17" name="Picture 16" descr="A picture containing clipart&#10;&#10;Description automatically generated">
            <a:extLst>
              <a:ext uri="{FF2B5EF4-FFF2-40B4-BE49-F238E27FC236}">
                <a16:creationId xmlns:a16="http://schemas.microsoft.com/office/drawing/2014/main" id="{84C97F7C-D445-C248-BACE-EC52E4316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04" y="4588426"/>
            <a:ext cx="481094" cy="457277"/>
          </a:xfrm>
          <a:prstGeom prst="rect">
            <a:avLst/>
          </a:prstGeom>
        </p:spPr>
      </p:pic>
      <p:pic>
        <p:nvPicPr>
          <p:cNvPr id="18" name="Picture 17" descr="A picture containing clipart&#10;&#10;Description automatically generated">
            <a:extLst>
              <a:ext uri="{FF2B5EF4-FFF2-40B4-BE49-F238E27FC236}">
                <a16:creationId xmlns:a16="http://schemas.microsoft.com/office/drawing/2014/main" id="{4216DC37-3053-3845-A0E4-A7309D1D2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04" y="5122701"/>
            <a:ext cx="481094" cy="457277"/>
          </a:xfrm>
          <a:prstGeom prst="rect">
            <a:avLst/>
          </a:prstGeom>
        </p:spPr>
      </p:pic>
      <p:pic>
        <p:nvPicPr>
          <p:cNvPr id="20" name="Picture 19" descr="A picture containing clipart&#10;&#10;Description automatically generated">
            <a:extLst>
              <a:ext uri="{FF2B5EF4-FFF2-40B4-BE49-F238E27FC236}">
                <a16:creationId xmlns:a16="http://schemas.microsoft.com/office/drawing/2014/main" id="{4D56615C-681E-E145-B13B-C30D6111F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191" y="2473476"/>
            <a:ext cx="481094" cy="457277"/>
          </a:xfrm>
          <a:prstGeom prst="rect">
            <a:avLst/>
          </a:prstGeom>
        </p:spPr>
      </p:pic>
      <p:pic>
        <p:nvPicPr>
          <p:cNvPr id="21" name="Picture 20" descr="A picture containing clipart&#10;&#10;Description automatically generated">
            <a:extLst>
              <a:ext uri="{FF2B5EF4-FFF2-40B4-BE49-F238E27FC236}">
                <a16:creationId xmlns:a16="http://schemas.microsoft.com/office/drawing/2014/main" id="{845C8F63-7856-ED41-B513-734C9F6F7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191" y="4052453"/>
            <a:ext cx="481094" cy="457277"/>
          </a:xfrm>
          <a:prstGeom prst="rect">
            <a:avLst/>
          </a:prstGeom>
        </p:spPr>
      </p:pic>
      <p:pic>
        <p:nvPicPr>
          <p:cNvPr id="22" name="Picture 21" descr="A picture containing clipart&#10;&#10;Description automatically generated">
            <a:extLst>
              <a:ext uri="{FF2B5EF4-FFF2-40B4-BE49-F238E27FC236}">
                <a16:creationId xmlns:a16="http://schemas.microsoft.com/office/drawing/2014/main" id="{A8F10A42-6B18-0644-992D-01000830A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191" y="5633089"/>
            <a:ext cx="481094" cy="457277"/>
          </a:xfrm>
          <a:prstGeom prst="rect">
            <a:avLst/>
          </a:prstGeom>
        </p:spPr>
      </p:pic>
      <p:pic>
        <p:nvPicPr>
          <p:cNvPr id="23" name="Picture 22" descr="A picture containing clipart&#10;&#10;Description automatically generated">
            <a:extLst>
              <a:ext uri="{FF2B5EF4-FFF2-40B4-BE49-F238E27FC236}">
                <a16:creationId xmlns:a16="http://schemas.microsoft.com/office/drawing/2014/main" id="{86A2723B-1CA7-834C-80DB-BD9D39F55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191" y="6181589"/>
            <a:ext cx="481094" cy="457277"/>
          </a:xfrm>
          <a:prstGeom prst="rect">
            <a:avLst/>
          </a:prstGeom>
        </p:spPr>
      </p:pic>
      <p:pic>
        <p:nvPicPr>
          <p:cNvPr id="30" name="Picture 2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AE4032C-BE2C-6140-A0FA-AD5C58D95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191" y="2990996"/>
            <a:ext cx="481094" cy="458975"/>
          </a:xfrm>
          <a:prstGeom prst="rect">
            <a:avLst/>
          </a:prstGeom>
        </p:spPr>
      </p:pic>
      <p:pic>
        <p:nvPicPr>
          <p:cNvPr id="31" name="Picture 3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67E2A2F-3963-B14A-A719-46F97121D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191" y="3521724"/>
            <a:ext cx="481094" cy="458975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4D124E5-D11A-F747-91D0-4DD7375C8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191" y="4581484"/>
            <a:ext cx="481094" cy="458975"/>
          </a:xfrm>
          <a:prstGeom prst="rect">
            <a:avLst/>
          </a:prstGeom>
        </p:spPr>
      </p:pic>
      <p:pic>
        <p:nvPicPr>
          <p:cNvPr id="33" name="Picture 3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D784474-1B6F-9141-BF90-96AF0104F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191" y="5119560"/>
            <a:ext cx="481094" cy="4589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1B212B-6973-4842-9473-A005A1E82C1E}"/>
              </a:ext>
            </a:extLst>
          </p:cNvPr>
          <p:cNvSpPr/>
          <p:nvPr/>
        </p:nvSpPr>
        <p:spPr>
          <a:xfrm>
            <a:off x="838200" y="1477963"/>
            <a:ext cx="40966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To study a policy’s impact, must compare </a:t>
            </a:r>
            <a:r>
              <a:rPr lang="en-US" sz="2800" b="1" dirty="0">
                <a:solidFill>
                  <a:schemeClr val="accent1"/>
                </a:solidFill>
              </a:rPr>
              <a:t>outcomes</a:t>
            </a:r>
            <a:r>
              <a:rPr lang="en-US" sz="2800" dirty="0"/>
              <a:t> with and </a:t>
            </a:r>
            <a:r>
              <a:rPr lang="en-US" sz="2800" b="1" dirty="0">
                <a:solidFill>
                  <a:schemeClr val="accent6"/>
                </a:solidFill>
              </a:rPr>
              <a:t>without</a:t>
            </a:r>
            <a:r>
              <a:rPr lang="en-US" sz="2800" dirty="0"/>
              <a:t> it!</a:t>
            </a:r>
          </a:p>
          <a:p>
            <a:endParaRPr lang="en-US" sz="2800" dirty="0"/>
          </a:p>
          <a:p>
            <a:r>
              <a:rPr lang="en-US" sz="2800" dirty="0"/>
              <a:t>Beveridge fails to do this.</a:t>
            </a:r>
          </a:p>
        </p:txBody>
      </p:sp>
    </p:spTree>
    <p:extLst>
      <p:ext uri="{BB962C8B-B14F-4D97-AF65-F5344CB8AC3E}">
        <p14:creationId xmlns:p14="http://schemas.microsoft.com/office/powerpoint/2010/main" val="3491067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4EDB2921-2B2F-614E-AC91-7944EAC91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710888"/>
              </p:ext>
            </p:extLst>
          </p:nvPr>
        </p:nvGraphicFramePr>
        <p:xfrm>
          <a:off x="5371935" y="1477963"/>
          <a:ext cx="6530108" cy="51905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6219">
                  <a:extLst>
                    <a:ext uri="{9D8B030D-6E8A-4147-A177-3AD203B41FA5}">
                      <a16:colId xmlns:a16="http://schemas.microsoft.com/office/drawing/2014/main" val="2848947315"/>
                    </a:ext>
                  </a:extLst>
                </a:gridCol>
                <a:gridCol w="2098964">
                  <a:extLst>
                    <a:ext uri="{9D8B030D-6E8A-4147-A177-3AD203B41FA5}">
                      <a16:colId xmlns:a16="http://schemas.microsoft.com/office/drawing/2014/main" val="493647060"/>
                    </a:ext>
                  </a:extLst>
                </a:gridCol>
                <a:gridCol w="3054925">
                  <a:extLst>
                    <a:ext uri="{9D8B030D-6E8A-4147-A177-3AD203B41FA5}">
                      <a16:colId xmlns:a16="http://schemas.microsoft.com/office/drawing/2014/main" val="1740170233"/>
                    </a:ext>
                  </a:extLst>
                </a:gridCol>
              </a:tblGrid>
              <a:tr h="906290"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Incorporates </a:t>
                      </a:r>
                      <a:r>
                        <a:rPr lang="en-US" sz="2800" dirty="0">
                          <a:solidFill>
                            <a:schemeClr val="accent1"/>
                          </a:solidFill>
                        </a:rPr>
                        <a:t>Outcomes</a:t>
                      </a:r>
                    </a:p>
                  </a:txBody>
                  <a:tcPr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Clear what would happen </a:t>
                      </a:r>
                      <a:r>
                        <a:rPr lang="en-US" sz="2800" dirty="0">
                          <a:solidFill>
                            <a:schemeClr val="accent6"/>
                          </a:solidFill>
                        </a:rPr>
                        <a:t>without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 CP</a:t>
                      </a:r>
                    </a:p>
                  </a:txBody>
                  <a:tcPr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96097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1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654970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2</a:t>
                      </a:r>
                    </a:p>
                  </a:txBody>
                  <a:tcPr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28167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3</a:t>
                      </a:r>
                    </a:p>
                  </a:txBody>
                  <a:tcPr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635414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4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745539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5</a:t>
                      </a:r>
                    </a:p>
                  </a:txBody>
                  <a:tcPr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427005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6</a:t>
                      </a:r>
                    </a:p>
                  </a:txBody>
                  <a:tcPr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355373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7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759209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8</a:t>
                      </a:r>
                    </a:p>
                  </a:txBody>
                  <a:tcPr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217655"/>
                  </a:ext>
                </a:extLst>
              </a:tr>
            </a:tbl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AFB08A04-7A3D-9B47-8222-D5AB92CEC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1325563"/>
          </a:xfrm>
        </p:spPr>
        <p:txBody>
          <a:bodyPr>
            <a:normAutofit/>
          </a:bodyPr>
          <a:lstStyle/>
          <a:p>
            <a:pPr marL="0" indent="0"/>
            <a:r>
              <a:rPr lang="en-US" dirty="0"/>
              <a:t>Recap: My Critique of Beveridge’s Report</a:t>
            </a:r>
          </a:p>
        </p:txBody>
      </p:sp>
      <p:pic>
        <p:nvPicPr>
          <p:cNvPr id="11" name="Picture 1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D6678BF-D57C-8645-A150-5B7293022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04" y="2473475"/>
            <a:ext cx="481094" cy="458975"/>
          </a:xfrm>
          <a:prstGeom prst="rect">
            <a:avLst/>
          </a:prstGeom>
        </p:spPr>
      </p:pic>
      <p:pic>
        <p:nvPicPr>
          <p:cNvPr id="12" name="Picture 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1B50972-D951-5D46-ABD6-8056A60B3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04" y="4073235"/>
            <a:ext cx="481094" cy="458975"/>
          </a:xfrm>
          <a:prstGeom prst="rect">
            <a:avLst/>
          </a:prstGeom>
        </p:spPr>
      </p:pic>
      <p:pic>
        <p:nvPicPr>
          <p:cNvPr id="13" name="Picture 1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3E33025-5960-F74C-94BA-8BC2A8C1F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04" y="5631391"/>
            <a:ext cx="481094" cy="458975"/>
          </a:xfrm>
          <a:prstGeom prst="rect">
            <a:avLst/>
          </a:prstGeom>
        </p:spPr>
      </p:pic>
      <p:pic>
        <p:nvPicPr>
          <p:cNvPr id="14" name="Picture 1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0ACBA41-E0AE-BE4E-9891-4FC3DBF31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04" y="6161800"/>
            <a:ext cx="481094" cy="458975"/>
          </a:xfrm>
          <a:prstGeom prst="rect">
            <a:avLst/>
          </a:prstGeom>
        </p:spPr>
      </p:pic>
      <p:pic>
        <p:nvPicPr>
          <p:cNvPr id="15" name="Picture 14" descr="A picture containing clipart&#10;&#10;Description automatically generated">
            <a:extLst>
              <a:ext uri="{FF2B5EF4-FFF2-40B4-BE49-F238E27FC236}">
                <a16:creationId xmlns:a16="http://schemas.microsoft.com/office/drawing/2014/main" id="{CF336748-6D24-1F44-A986-A09D61C1B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04" y="2989370"/>
            <a:ext cx="481094" cy="457277"/>
          </a:xfrm>
          <a:prstGeom prst="rect">
            <a:avLst/>
          </a:prstGeom>
        </p:spPr>
      </p:pic>
      <p:pic>
        <p:nvPicPr>
          <p:cNvPr id="16" name="Picture 15" descr="A picture containing clipart&#10;&#10;Description automatically generated">
            <a:extLst>
              <a:ext uri="{FF2B5EF4-FFF2-40B4-BE49-F238E27FC236}">
                <a16:creationId xmlns:a16="http://schemas.microsoft.com/office/drawing/2014/main" id="{75DE5C9F-531C-DA44-9D79-72FEA5208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04" y="3538960"/>
            <a:ext cx="481094" cy="457277"/>
          </a:xfrm>
          <a:prstGeom prst="rect">
            <a:avLst/>
          </a:prstGeom>
        </p:spPr>
      </p:pic>
      <p:pic>
        <p:nvPicPr>
          <p:cNvPr id="17" name="Picture 16" descr="A picture containing clipart&#10;&#10;Description automatically generated">
            <a:extLst>
              <a:ext uri="{FF2B5EF4-FFF2-40B4-BE49-F238E27FC236}">
                <a16:creationId xmlns:a16="http://schemas.microsoft.com/office/drawing/2014/main" id="{84C97F7C-D445-C248-BACE-EC52E4316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04" y="4588426"/>
            <a:ext cx="481094" cy="457277"/>
          </a:xfrm>
          <a:prstGeom prst="rect">
            <a:avLst/>
          </a:prstGeom>
        </p:spPr>
      </p:pic>
      <p:pic>
        <p:nvPicPr>
          <p:cNvPr id="18" name="Picture 17" descr="A picture containing clipart&#10;&#10;Description automatically generated">
            <a:extLst>
              <a:ext uri="{FF2B5EF4-FFF2-40B4-BE49-F238E27FC236}">
                <a16:creationId xmlns:a16="http://schemas.microsoft.com/office/drawing/2014/main" id="{4216DC37-3053-3845-A0E4-A7309D1D2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04" y="5122701"/>
            <a:ext cx="481094" cy="457277"/>
          </a:xfrm>
          <a:prstGeom prst="rect">
            <a:avLst/>
          </a:prstGeom>
        </p:spPr>
      </p:pic>
      <p:pic>
        <p:nvPicPr>
          <p:cNvPr id="20" name="Picture 19" descr="A picture containing clipart&#10;&#10;Description automatically generated">
            <a:extLst>
              <a:ext uri="{FF2B5EF4-FFF2-40B4-BE49-F238E27FC236}">
                <a16:creationId xmlns:a16="http://schemas.microsoft.com/office/drawing/2014/main" id="{4D56615C-681E-E145-B13B-C30D6111F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191" y="2473476"/>
            <a:ext cx="481094" cy="457277"/>
          </a:xfrm>
          <a:prstGeom prst="rect">
            <a:avLst/>
          </a:prstGeom>
        </p:spPr>
      </p:pic>
      <p:pic>
        <p:nvPicPr>
          <p:cNvPr id="21" name="Picture 20" descr="A picture containing clipart&#10;&#10;Description automatically generated">
            <a:extLst>
              <a:ext uri="{FF2B5EF4-FFF2-40B4-BE49-F238E27FC236}">
                <a16:creationId xmlns:a16="http://schemas.microsoft.com/office/drawing/2014/main" id="{845C8F63-7856-ED41-B513-734C9F6F7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191" y="4052453"/>
            <a:ext cx="481094" cy="457277"/>
          </a:xfrm>
          <a:prstGeom prst="rect">
            <a:avLst/>
          </a:prstGeom>
        </p:spPr>
      </p:pic>
      <p:pic>
        <p:nvPicPr>
          <p:cNvPr id="22" name="Picture 21" descr="A picture containing clipart&#10;&#10;Description automatically generated">
            <a:extLst>
              <a:ext uri="{FF2B5EF4-FFF2-40B4-BE49-F238E27FC236}">
                <a16:creationId xmlns:a16="http://schemas.microsoft.com/office/drawing/2014/main" id="{A8F10A42-6B18-0644-992D-01000830A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191" y="5633089"/>
            <a:ext cx="481094" cy="457277"/>
          </a:xfrm>
          <a:prstGeom prst="rect">
            <a:avLst/>
          </a:prstGeom>
        </p:spPr>
      </p:pic>
      <p:pic>
        <p:nvPicPr>
          <p:cNvPr id="23" name="Picture 22" descr="A picture containing clipart&#10;&#10;Description automatically generated">
            <a:extLst>
              <a:ext uri="{FF2B5EF4-FFF2-40B4-BE49-F238E27FC236}">
                <a16:creationId xmlns:a16="http://schemas.microsoft.com/office/drawing/2014/main" id="{86A2723B-1CA7-834C-80DB-BD9D39F55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191" y="6181589"/>
            <a:ext cx="481094" cy="457277"/>
          </a:xfrm>
          <a:prstGeom prst="rect">
            <a:avLst/>
          </a:prstGeom>
        </p:spPr>
      </p:pic>
      <p:pic>
        <p:nvPicPr>
          <p:cNvPr id="30" name="Picture 2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AE4032C-BE2C-6140-A0FA-AD5C58D95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191" y="2990996"/>
            <a:ext cx="481094" cy="458975"/>
          </a:xfrm>
          <a:prstGeom prst="rect">
            <a:avLst/>
          </a:prstGeom>
        </p:spPr>
      </p:pic>
      <p:pic>
        <p:nvPicPr>
          <p:cNvPr id="31" name="Picture 3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67E2A2F-3963-B14A-A719-46F97121D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191" y="3521724"/>
            <a:ext cx="481094" cy="458975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4D124E5-D11A-F747-91D0-4DD7375C8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191" y="4581484"/>
            <a:ext cx="481094" cy="458975"/>
          </a:xfrm>
          <a:prstGeom prst="rect">
            <a:avLst/>
          </a:prstGeom>
        </p:spPr>
      </p:pic>
      <p:pic>
        <p:nvPicPr>
          <p:cNvPr id="33" name="Picture 3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D784474-1B6F-9141-BF90-96AF0104F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191" y="5119560"/>
            <a:ext cx="481094" cy="4589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1B212B-6973-4842-9473-A005A1E82C1E}"/>
              </a:ext>
            </a:extLst>
          </p:cNvPr>
          <p:cNvSpPr/>
          <p:nvPr/>
        </p:nvSpPr>
        <p:spPr>
          <a:xfrm>
            <a:off x="838200" y="1477963"/>
            <a:ext cx="40966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To study a policy’s impact, must compare </a:t>
            </a:r>
            <a:r>
              <a:rPr lang="en-US" sz="2800" b="1" dirty="0">
                <a:solidFill>
                  <a:schemeClr val="accent1"/>
                </a:solidFill>
              </a:rPr>
              <a:t>outcomes</a:t>
            </a:r>
            <a:r>
              <a:rPr lang="en-US" sz="2800" dirty="0"/>
              <a:t> with and </a:t>
            </a:r>
            <a:r>
              <a:rPr lang="en-US" sz="2800" b="1" dirty="0">
                <a:solidFill>
                  <a:schemeClr val="accent6"/>
                </a:solidFill>
              </a:rPr>
              <a:t>without</a:t>
            </a:r>
            <a:r>
              <a:rPr lang="en-US" sz="2800" dirty="0"/>
              <a:t> it!</a:t>
            </a:r>
          </a:p>
          <a:p>
            <a:endParaRPr lang="en-US" sz="2800" dirty="0"/>
          </a:p>
          <a:p>
            <a:r>
              <a:rPr lang="en-US" sz="2800" dirty="0"/>
              <a:t>Beveridge fails to do this.</a:t>
            </a:r>
          </a:p>
        </p:txBody>
      </p:sp>
    </p:spTree>
    <p:extLst>
      <p:ext uri="{BB962C8B-B14F-4D97-AF65-F5344CB8AC3E}">
        <p14:creationId xmlns:p14="http://schemas.microsoft.com/office/powerpoint/2010/main" val="678191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4EDB2921-2B2F-614E-AC91-7944EAC91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806812"/>
              </p:ext>
            </p:extLst>
          </p:nvPr>
        </p:nvGraphicFramePr>
        <p:xfrm>
          <a:off x="5371935" y="1477963"/>
          <a:ext cx="6530108" cy="51905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6219">
                  <a:extLst>
                    <a:ext uri="{9D8B030D-6E8A-4147-A177-3AD203B41FA5}">
                      <a16:colId xmlns:a16="http://schemas.microsoft.com/office/drawing/2014/main" val="2848947315"/>
                    </a:ext>
                  </a:extLst>
                </a:gridCol>
                <a:gridCol w="2098964">
                  <a:extLst>
                    <a:ext uri="{9D8B030D-6E8A-4147-A177-3AD203B41FA5}">
                      <a16:colId xmlns:a16="http://schemas.microsoft.com/office/drawing/2014/main" val="493647060"/>
                    </a:ext>
                  </a:extLst>
                </a:gridCol>
                <a:gridCol w="3054925">
                  <a:extLst>
                    <a:ext uri="{9D8B030D-6E8A-4147-A177-3AD203B41FA5}">
                      <a16:colId xmlns:a16="http://schemas.microsoft.com/office/drawing/2014/main" val="1740170233"/>
                    </a:ext>
                  </a:extLst>
                </a:gridCol>
              </a:tblGrid>
              <a:tr h="906290"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Incorporates </a:t>
                      </a:r>
                      <a:r>
                        <a:rPr lang="en-US" sz="2800" dirty="0">
                          <a:solidFill>
                            <a:schemeClr val="accent1"/>
                          </a:solidFill>
                        </a:rPr>
                        <a:t>Outcomes</a:t>
                      </a:r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Clear what would happen </a:t>
                      </a:r>
                      <a:r>
                        <a:rPr lang="en-US" sz="2800" dirty="0">
                          <a:solidFill>
                            <a:schemeClr val="accent6"/>
                          </a:solidFill>
                        </a:rPr>
                        <a:t>without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 CP</a:t>
                      </a:r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96097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1</a:t>
                      </a:r>
                    </a:p>
                  </a:txBody>
                  <a:tcPr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654970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2</a:t>
                      </a: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28167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3</a:t>
                      </a: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635414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4</a:t>
                      </a:r>
                    </a:p>
                  </a:txBody>
                  <a:tcPr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745539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5</a:t>
                      </a: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427005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6</a:t>
                      </a: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355373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7</a:t>
                      </a:r>
                    </a:p>
                  </a:txBody>
                  <a:tcPr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759209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8</a:t>
                      </a:r>
                    </a:p>
                  </a:txBody>
                  <a:tcPr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217655"/>
                  </a:ext>
                </a:extLst>
              </a:tr>
            </a:tbl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AFB08A04-7A3D-9B47-8222-D5AB92CEC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1325563"/>
          </a:xfrm>
        </p:spPr>
        <p:txBody>
          <a:bodyPr>
            <a:normAutofit/>
          </a:bodyPr>
          <a:lstStyle/>
          <a:p>
            <a:pPr marL="0" indent="0"/>
            <a:r>
              <a:rPr lang="en-US" dirty="0"/>
              <a:t>Recap: My Critique of Beveridge’s Report</a:t>
            </a:r>
          </a:p>
        </p:txBody>
      </p:sp>
      <p:pic>
        <p:nvPicPr>
          <p:cNvPr id="11" name="Picture 1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D6678BF-D57C-8645-A150-5B7293022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04" y="2473475"/>
            <a:ext cx="481094" cy="458975"/>
          </a:xfrm>
          <a:prstGeom prst="rect">
            <a:avLst/>
          </a:prstGeom>
        </p:spPr>
      </p:pic>
      <p:pic>
        <p:nvPicPr>
          <p:cNvPr id="12" name="Picture 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1B50972-D951-5D46-ABD6-8056A60B3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04" y="4073235"/>
            <a:ext cx="481094" cy="458975"/>
          </a:xfrm>
          <a:prstGeom prst="rect">
            <a:avLst/>
          </a:prstGeom>
        </p:spPr>
      </p:pic>
      <p:pic>
        <p:nvPicPr>
          <p:cNvPr id="13" name="Picture 1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3E33025-5960-F74C-94BA-8BC2A8C1F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04" y="5631391"/>
            <a:ext cx="481094" cy="458975"/>
          </a:xfrm>
          <a:prstGeom prst="rect">
            <a:avLst/>
          </a:prstGeom>
        </p:spPr>
      </p:pic>
      <p:pic>
        <p:nvPicPr>
          <p:cNvPr id="14" name="Picture 1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0ACBA41-E0AE-BE4E-9891-4FC3DBF31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04" y="6161800"/>
            <a:ext cx="481094" cy="458975"/>
          </a:xfrm>
          <a:prstGeom prst="rect">
            <a:avLst/>
          </a:prstGeom>
        </p:spPr>
      </p:pic>
      <p:pic>
        <p:nvPicPr>
          <p:cNvPr id="15" name="Picture 14" descr="A picture containing clipart&#10;&#10;Description automatically generated">
            <a:extLst>
              <a:ext uri="{FF2B5EF4-FFF2-40B4-BE49-F238E27FC236}">
                <a16:creationId xmlns:a16="http://schemas.microsoft.com/office/drawing/2014/main" id="{CF336748-6D24-1F44-A986-A09D61C1B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04" y="2989370"/>
            <a:ext cx="481094" cy="457277"/>
          </a:xfrm>
          <a:prstGeom prst="rect">
            <a:avLst/>
          </a:prstGeom>
        </p:spPr>
      </p:pic>
      <p:pic>
        <p:nvPicPr>
          <p:cNvPr id="16" name="Picture 15" descr="A picture containing clipart&#10;&#10;Description automatically generated">
            <a:extLst>
              <a:ext uri="{FF2B5EF4-FFF2-40B4-BE49-F238E27FC236}">
                <a16:creationId xmlns:a16="http://schemas.microsoft.com/office/drawing/2014/main" id="{75DE5C9F-531C-DA44-9D79-72FEA5208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04" y="3538960"/>
            <a:ext cx="481094" cy="457277"/>
          </a:xfrm>
          <a:prstGeom prst="rect">
            <a:avLst/>
          </a:prstGeom>
        </p:spPr>
      </p:pic>
      <p:pic>
        <p:nvPicPr>
          <p:cNvPr id="17" name="Picture 16" descr="A picture containing clipart&#10;&#10;Description automatically generated">
            <a:extLst>
              <a:ext uri="{FF2B5EF4-FFF2-40B4-BE49-F238E27FC236}">
                <a16:creationId xmlns:a16="http://schemas.microsoft.com/office/drawing/2014/main" id="{84C97F7C-D445-C248-BACE-EC52E4316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04" y="4588426"/>
            <a:ext cx="481094" cy="457277"/>
          </a:xfrm>
          <a:prstGeom prst="rect">
            <a:avLst/>
          </a:prstGeom>
        </p:spPr>
      </p:pic>
      <p:pic>
        <p:nvPicPr>
          <p:cNvPr id="18" name="Picture 17" descr="A picture containing clipart&#10;&#10;Description automatically generated">
            <a:extLst>
              <a:ext uri="{FF2B5EF4-FFF2-40B4-BE49-F238E27FC236}">
                <a16:creationId xmlns:a16="http://schemas.microsoft.com/office/drawing/2014/main" id="{4216DC37-3053-3845-A0E4-A7309D1D2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04" y="5122701"/>
            <a:ext cx="481094" cy="457277"/>
          </a:xfrm>
          <a:prstGeom prst="rect">
            <a:avLst/>
          </a:prstGeom>
        </p:spPr>
      </p:pic>
      <p:pic>
        <p:nvPicPr>
          <p:cNvPr id="20" name="Picture 19" descr="A picture containing clipart&#10;&#10;Description automatically generated">
            <a:extLst>
              <a:ext uri="{FF2B5EF4-FFF2-40B4-BE49-F238E27FC236}">
                <a16:creationId xmlns:a16="http://schemas.microsoft.com/office/drawing/2014/main" id="{4D56615C-681E-E145-B13B-C30D6111F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191" y="2473476"/>
            <a:ext cx="481094" cy="457277"/>
          </a:xfrm>
          <a:prstGeom prst="rect">
            <a:avLst/>
          </a:prstGeom>
        </p:spPr>
      </p:pic>
      <p:pic>
        <p:nvPicPr>
          <p:cNvPr id="21" name="Picture 20" descr="A picture containing clipart&#10;&#10;Description automatically generated">
            <a:extLst>
              <a:ext uri="{FF2B5EF4-FFF2-40B4-BE49-F238E27FC236}">
                <a16:creationId xmlns:a16="http://schemas.microsoft.com/office/drawing/2014/main" id="{845C8F63-7856-ED41-B513-734C9F6F7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191" y="4052453"/>
            <a:ext cx="481094" cy="457277"/>
          </a:xfrm>
          <a:prstGeom prst="rect">
            <a:avLst/>
          </a:prstGeom>
        </p:spPr>
      </p:pic>
      <p:pic>
        <p:nvPicPr>
          <p:cNvPr id="22" name="Picture 21" descr="A picture containing clipart&#10;&#10;Description automatically generated">
            <a:extLst>
              <a:ext uri="{FF2B5EF4-FFF2-40B4-BE49-F238E27FC236}">
                <a16:creationId xmlns:a16="http://schemas.microsoft.com/office/drawing/2014/main" id="{A8F10A42-6B18-0644-992D-01000830A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191" y="5633089"/>
            <a:ext cx="481094" cy="457277"/>
          </a:xfrm>
          <a:prstGeom prst="rect">
            <a:avLst/>
          </a:prstGeom>
        </p:spPr>
      </p:pic>
      <p:pic>
        <p:nvPicPr>
          <p:cNvPr id="23" name="Picture 22" descr="A picture containing clipart&#10;&#10;Description automatically generated">
            <a:extLst>
              <a:ext uri="{FF2B5EF4-FFF2-40B4-BE49-F238E27FC236}">
                <a16:creationId xmlns:a16="http://schemas.microsoft.com/office/drawing/2014/main" id="{86A2723B-1CA7-834C-80DB-BD9D39F55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191" y="6181589"/>
            <a:ext cx="481094" cy="457277"/>
          </a:xfrm>
          <a:prstGeom prst="rect">
            <a:avLst/>
          </a:prstGeom>
        </p:spPr>
      </p:pic>
      <p:pic>
        <p:nvPicPr>
          <p:cNvPr id="30" name="Picture 2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AE4032C-BE2C-6140-A0FA-AD5C58D95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191" y="2990996"/>
            <a:ext cx="481094" cy="458975"/>
          </a:xfrm>
          <a:prstGeom prst="rect">
            <a:avLst/>
          </a:prstGeom>
        </p:spPr>
      </p:pic>
      <p:pic>
        <p:nvPicPr>
          <p:cNvPr id="31" name="Picture 3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67E2A2F-3963-B14A-A719-46F97121D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191" y="3521724"/>
            <a:ext cx="481094" cy="458975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4D124E5-D11A-F747-91D0-4DD7375C8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191" y="4581484"/>
            <a:ext cx="481094" cy="458975"/>
          </a:xfrm>
          <a:prstGeom prst="rect">
            <a:avLst/>
          </a:prstGeom>
        </p:spPr>
      </p:pic>
      <p:pic>
        <p:nvPicPr>
          <p:cNvPr id="33" name="Picture 3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D784474-1B6F-9141-BF90-96AF0104F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191" y="5119560"/>
            <a:ext cx="481094" cy="4589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1B212B-6973-4842-9473-A005A1E82C1E}"/>
              </a:ext>
            </a:extLst>
          </p:cNvPr>
          <p:cNvSpPr/>
          <p:nvPr/>
        </p:nvSpPr>
        <p:spPr>
          <a:xfrm>
            <a:off x="722087" y="1542489"/>
            <a:ext cx="40966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To study a policy’s impact, must compare </a:t>
            </a:r>
            <a:r>
              <a:rPr lang="en-US" sz="2800" b="1" dirty="0">
                <a:solidFill>
                  <a:schemeClr val="accent1"/>
                </a:solidFill>
              </a:rPr>
              <a:t>outcomes</a:t>
            </a:r>
            <a:r>
              <a:rPr lang="en-US" sz="2800" dirty="0"/>
              <a:t> with and </a:t>
            </a:r>
            <a:r>
              <a:rPr lang="en-US" sz="2800" b="1" dirty="0">
                <a:solidFill>
                  <a:schemeClr val="accent6"/>
                </a:solidFill>
              </a:rPr>
              <a:t>without</a:t>
            </a:r>
            <a:r>
              <a:rPr lang="en-US" sz="2800" dirty="0"/>
              <a:t> it!</a:t>
            </a:r>
          </a:p>
          <a:p>
            <a:endParaRPr lang="en-US" sz="2800" dirty="0"/>
          </a:p>
          <a:p>
            <a:r>
              <a:rPr lang="en-US" sz="2800" dirty="0"/>
              <a:t>Beveridge fails to do this.</a:t>
            </a:r>
          </a:p>
        </p:txBody>
      </p:sp>
    </p:spTree>
    <p:extLst>
      <p:ext uri="{BB962C8B-B14F-4D97-AF65-F5344CB8AC3E}">
        <p14:creationId xmlns:p14="http://schemas.microsoft.com/office/powerpoint/2010/main" val="3621541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4EDB2921-2B2F-614E-AC91-7944EAC91896}"/>
              </a:ext>
            </a:extLst>
          </p:cNvPr>
          <p:cNvGraphicFramePr>
            <a:graphicFrameLocks noGrp="1"/>
          </p:cNvGraphicFramePr>
          <p:nvPr/>
        </p:nvGraphicFramePr>
        <p:xfrm>
          <a:off x="5371935" y="1477963"/>
          <a:ext cx="6530108" cy="51905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6219">
                  <a:extLst>
                    <a:ext uri="{9D8B030D-6E8A-4147-A177-3AD203B41FA5}">
                      <a16:colId xmlns:a16="http://schemas.microsoft.com/office/drawing/2014/main" val="2848947315"/>
                    </a:ext>
                  </a:extLst>
                </a:gridCol>
                <a:gridCol w="2098964">
                  <a:extLst>
                    <a:ext uri="{9D8B030D-6E8A-4147-A177-3AD203B41FA5}">
                      <a16:colId xmlns:a16="http://schemas.microsoft.com/office/drawing/2014/main" val="493647060"/>
                    </a:ext>
                  </a:extLst>
                </a:gridCol>
                <a:gridCol w="3054925">
                  <a:extLst>
                    <a:ext uri="{9D8B030D-6E8A-4147-A177-3AD203B41FA5}">
                      <a16:colId xmlns:a16="http://schemas.microsoft.com/office/drawing/2014/main" val="1740170233"/>
                    </a:ext>
                  </a:extLst>
                </a:gridCol>
              </a:tblGrid>
              <a:tr h="906290"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Incorporates </a:t>
                      </a:r>
                      <a:r>
                        <a:rPr lang="en-US" sz="2800" dirty="0">
                          <a:solidFill>
                            <a:schemeClr val="accent1"/>
                          </a:solidFill>
                        </a:rPr>
                        <a:t>Outcomes</a:t>
                      </a:r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Clear what would happen </a:t>
                      </a:r>
                      <a:r>
                        <a:rPr lang="en-US" sz="2800" dirty="0">
                          <a:solidFill>
                            <a:schemeClr val="accent6"/>
                          </a:solidFill>
                        </a:rPr>
                        <a:t>without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 CP</a:t>
                      </a:r>
                    </a:p>
                  </a:txBody>
                  <a:tcPr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96097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1</a:t>
                      </a:r>
                    </a:p>
                  </a:txBody>
                  <a:tcPr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654970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2</a:t>
                      </a: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628167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3</a:t>
                      </a: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5635414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4</a:t>
                      </a:r>
                    </a:p>
                  </a:txBody>
                  <a:tcPr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745539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5</a:t>
                      </a: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427005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6</a:t>
                      </a:r>
                    </a:p>
                  </a:txBody>
                  <a:tcPr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355373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7</a:t>
                      </a:r>
                    </a:p>
                  </a:txBody>
                  <a:tcPr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759209"/>
                  </a:ext>
                </a:extLst>
              </a:tr>
              <a:tr h="530708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Table 8</a:t>
                      </a:r>
                    </a:p>
                  </a:txBody>
                  <a:tcPr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217655"/>
                  </a:ext>
                </a:extLst>
              </a:tr>
            </a:tbl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AFB08A04-7A3D-9B47-8222-D5AB92CEC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307"/>
            <a:ext cx="10515600" cy="1325563"/>
          </a:xfrm>
        </p:spPr>
        <p:txBody>
          <a:bodyPr>
            <a:normAutofit/>
          </a:bodyPr>
          <a:lstStyle/>
          <a:p>
            <a:pPr marL="0" indent="0"/>
            <a:r>
              <a:rPr lang="en-US" dirty="0"/>
              <a:t>My Critique of Beveridge’s Report</a:t>
            </a:r>
          </a:p>
        </p:txBody>
      </p:sp>
      <p:pic>
        <p:nvPicPr>
          <p:cNvPr id="11" name="Picture 1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D6678BF-D57C-8645-A150-5B7293022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04" y="2473475"/>
            <a:ext cx="481094" cy="458975"/>
          </a:xfrm>
          <a:prstGeom prst="rect">
            <a:avLst/>
          </a:prstGeom>
        </p:spPr>
      </p:pic>
      <p:pic>
        <p:nvPicPr>
          <p:cNvPr id="12" name="Picture 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1B50972-D951-5D46-ABD6-8056A60B3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04" y="4073235"/>
            <a:ext cx="481094" cy="458975"/>
          </a:xfrm>
          <a:prstGeom prst="rect">
            <a:avLst/>
          </a:prstGeom>
        </p:spPr>
      </p:pic>
      <p:pic>
        <p:nvPicPr>
          <p:cNvPr id="13" name="Picture 1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3E33025-5960-F74C-94BA-8BC2A8C1F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04" y="5631391"/>
            <a:ext cx="481094" cy="458975"/>
          </a:xfrm>
          <a:prstGeom prst="rect">
            <a:avLst/>
          </a:prstGeom>
        </p:spPr>
      </p:pic>
      <p:pic>
        <p:nvPicPr>
          <p:cNvPr id="14" name="Picture 1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0ACBA41-E0AE-BE4E-9891-4FC3DBF31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704" y="6161800"/>
            <a:ext cx="481094" cy="458975"/>
          </a:xfrm>
          <a:prstGeom prst="rect">
            <a:avLst/>
          </a:prstGeom>
        </p:spPr>
      </p:pic>
      <p:pic>
        <p:nvPicPr>
          <p:cNvPr id="15" name="Picture 14" descr="A picture containing clipart&#10;&#10;Description automatically generated">
            <a:extLst>
              <a:ext uri="{FF2B5EF4-FFF2-40B4-BE49-F238E27FC236}">
                <a16:creationId xmlns:a16="http://schemas.microsoft.com/office/drawing/2014/main" id="{CF336748-6D24-1F44-A986-A09D61C1B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04" y="2989370"/>
            <a:ext cx="481094" cy="457277"/>
          </a:xfrm>
          <a:prstGeom prst="rect">
            <a:avLst/>
          </a:prstGeom>
        </p:spPr>
      </p:pic>
      <p:pic>
        <p:nvPicPr>
          <p:cNvPr id="16" name="Picture 15" descr="A picture containing clipart&#10;&#10;Description automatically generated">
            <a:extLst>
              <a:ext uri="{FF2B5EF4-FFF2-40B4-BE49-F238E27FC236}">
                <a16:creationId xmlns:a16="http://schemas.microsoft.com/office/drawing/2014/main" id="{75DE5C9F-531C-DA44-9D79-72FEA5208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04" y="3538960"/>
            <a:ext cx="481094" cy="457277"/>
          </a:xfrm>
          <a:prstGeom prst="rect">
            <a:avLst/>
          </a:prstGeom>
        </p:spPr>
      </p:pic>
      <p:pic>
        <p:nvPicPr>
          <p:cNvPr id="17" name="Picture 16" descr="A picture containing clipart&#10;&#10;Description automatically generated">
            <a:extLst>
              <a:ext uri="{FF2B5EF4-FFF2-40B4-BE49-F238E27FC236}">
                <a16:creationId xmlns:a16="http://schemas.microsoft.com/office/drawing/2014/main" id="{84C97F7C-D445-C248-BACE-EC52E4316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04" y="4588426"/>
            <a:ext cx="481094" cy="457277"/>
          </a:xfrm>
          <a:prstGeom prst="rect">
            <a:avLst/>
          </a:prstGeom>
        </p:spPr>
      </p:pic>
      <p:pic>
        <p:nvPicPr>
          <p:cNvPr id="18" name="Picture 17" descr="A picture containing clipart&#10;&#10;Description automatically generated">
            <a:extLst>
              <a:ext uri="{FF2B5EF4-FFF2-40B4-BE49-F238E27FC236}">
                <a16:creationId xmlns:a16="http://schemas.microsoft.com/office/drawing/2014/main" id="{4216DC37-3053-3845-A0E4-A7309D1D2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704" y="5122701"/>
            <a:ext cx="481094" cy="457277"/>
          </a:xfrm>
          <a:prstGeom prst="rect">
            <a:avLst/>
          </a:prstGeom>
        </p:spPr>
      </p:pic>
      <p:pic>
        <p:nvPicPr>
          <p:cNvPr id="20" name="Picture 19" descr="A picture containing clipart&#10;&#10;Description automatically generated">
            <a:extLst>
              <a:ext uri="{FF2B5EF4-FFF2-40B4-BE49-F238E27FC236}">
                <a16:creationId xmlns:a16="http://schemas.microsoft.com/office/drawing/2014/main" id="{4D56615C-681E-E145-B13B-C30D6111F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191" y="2473476"/>
            <a:ext cx="481094" cy="457277"/>
          </a:xfrm>
          <a:prstGeom prst="rect">
            <a:avLst/>
          </a:prstGeom>
        </p:spPr>
      </p:pic>
      <p:pic>
        <p:nvPicPr>
          <p:cNvPr id="21" name="Picture 20" descr="A picture containing clipart&#10;&#10;Description automatically generated">
            <a:extLst>
              <a:ext uri="{FF2B5EF4-FFF2-40B4-BE49-F238E27FC236}">
                <a16:creationId xmlns:a16="http://schemas.microsoft.com/office/drawing/2014/main" id="{845C8F63-7856-ED41-B513-734C9F6F7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191" y="4052453"/>
            <a:ext cx="481094" cy="457277"/>
          </a:xfrm>
          <a:prstGeom prst="rect">
            <a:avLst/>
          </a:prstGeom>
        </p:spPr>
      </p:pic>
      <p:pic>
        <p:nvPicPr>
          <p:cNvPr id="22" name="Picture 21" descr="A picture containing clipart&#10;&#10;Description automatically generated">
            <a:extLst>
              <a:ext uri="{FF2B5EF4-FFF2-40B4-BE49-F238E27FC236}">
                <a16:creationId xmlns:a16="http://schemas.microsoft.com/office/drawing/2014/main" id="{A8F10A42-6B18-0644-992D-01000830A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191" y="5633089"/>
            <a:ext cx="481094" cy="457277"/>
          </a:xfrm>
          <a:prstGeom prst="rect">
            <a:avLst/>
          </a:prstGeom>
        </p:spPr>
      </p:pic>
      <p:pic>
        <p:nvPicPr>
          <p:cNvPr id="23" name="Picture 22" descr="A picture containing clipart&#10;&#10;Description automatically generated">
            <a:extLst>
              <a:ext uri="{FF2B5EF4-FFF2-40B4-BE49-F238E27FC236}">
                <a16:creationId xmlns:a16="http://schemas.microsoft.com/office/drawing/2014/main" id="{86A2723B-1CA7-834C-80DB-BD9D39F55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8191" y="6181589"/>
            <a:ext cx="481094" cy="457277"/>
          </a:xfrm>
          <a:prstGeom prst="rect">
            <a:avLst/>
          </a:prstGeom>
        </p:spPr>
      </p:pic>
      <p:pic>
        <p:nvPicPr>
          <p:cNvPr id="30" name="Picture 2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AE4032C-BE2C-6140-A0FA-AD5C58D95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191" y="2990996"/>
            <a:ext cx="481094" cy="458975"/>
          </a:xfrm>
          <a:prstGeom prst="rect">
            <a:avLst/>
          </a:prstGeom>
        </p:spPr>
      </p:pic>
      <p:pic>
        <p:nvPicPr>
          <p:cNvPr id="31" name="Picture 3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67E2A2F-3963-B14A-A719-46F97121D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191" y="3521724"/>
            <a:ext cx="481094" cy="458975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84D124E5-D11A-F747-91D0-4DD7375C8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191" y="4581484"/>
            <a:ext cx="481094" cy="458975"/>
          </a:xfrm>
          <a:prstGeom prst="rect">
            <a:avLst/>
          </a:prstGeom>
        </p:spPr>
      </p:pic>
      <p:pic>
        <p:nvPicPr>
          <p:cNvPr id="33" name="Picture 3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D784474-1B6F-9141-BF90-96AF0104F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191" y="5119560"/>
            <a:ext cx="481094" cy="4589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1B212B-6973-4842-9473-A005A1E82C1E}"/>
              </a:ext>
            </a:extLst>
          </p:cNvPr>
          <p:cNvSpPr/>
          <p:nvPr/>
        </p:nvSpPr>
        <p:spPr>
          <a:xfrm>
            <a:off x="722087" y="1542489"/>
            <a:ext cx="40966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To study a policy’s impact, must compare </a:t>
            </a:r>
            <a:r>
              <a:rPr lang="en-US" sz="2800" b="1" dirty="0">
                <a:solidFill>
                  <a:schemeClr val="accent1"/>
                </a:solidFill>
              </a:rPr>
              <a:t>outcomes</a:t>
            </a:r>
            <a:r>
              <a:rPr lang="en-US" sz="2800" dirty="0"/>
              <a:t> with and </a:t>
            </a:r>
            <a:r>
              <a:rPr lang="en-US" sz="2800" b="1" dirty="0">
                <a:solidFill>
                  <a:schemeClr val="accent6"/>
                </a:solidFill>
              </a:rPr>
              <a:t>without</a:t>
            </a:r>
            <a:r>
              <a:rPr lang="en-US" sz="2800" dirty="0"/>
              <a:t> it!</a:t>
            </a:r>
          </a:p>
          <a:p>
            <a:endParaRPr lang="en-US" sz="2800" dirty="0"/>
          </a:p>
          <a:p>
            <a:r>
              <a:rPr lang="en-US" sz="2800" dirty="0"/>
              <a:t>Beveridge fails to do this.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4BEC27-27A5-EC46-9B6A-025C1AFE0165}"/>
              </a:ext>
            </a:extLst>
          </p:cNvPr>
          <p:cNvSpPr/>
          <p:nvPr/>
        </p:nvSpPr>
        <p:spPr>
          <a:xfrm>
            <a:off x="171531" y="4073235"/>
            <a:ext cx="51127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Siskin’s rebuttal: </a:t>
            </a:r>
          </a:p>
          <a:p>
            <a:r>
              <a:rPr lang="en-US" sz="2800" i="1" dirty="0"/>
              <a:t>Dr. Beveridge never measures the degree of segregation resulting from the CP policy, nor the degree of segregation that would result if the CP policy were eliminated. </a:t>
            </a:r>
          </a:p>
        </p:txBody>
      </p:sp>
    </p:spTree>
    <p:extLst>
      <p:ext uri="{BB962C8B-B14F-4D97-AF65-F5344CB8AC3E}">
        <p14:creationId xmlns:p14="http://schemas.microsoft.com/office/powerpoint/2010/main" val="78504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0576-450F-E24F-918F-AD4E170AB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Critique of Siskin’s Report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7C140C-9B5F-C74D-9E35-813C8D0B32C1}"/>
              </a:ext>
            </a:extLst>
          </p:cNvPr>
          <p:cNvSpPr/>
          <p:nvPr/>
        </p:nvSpPr>
        <p:spPr>
          <a:xfrm>
            <a:off x="838200" y="1690688"/>
            <a:ext cx="442517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To study a policy’s impact, must compare </a:t>
            </a:r>
            <a:r>
              <a:rPr lang="en-US" sz="2800" b="1" dirty="0">
                <a:solidFill>
                  <a:schemeClr val="accent1"/>
                </a:solidFill>
              </a:rPr>
              <a:t>outcomes</a:t>
            </a:r>
            <a:r>
              <a:rPr lang="en-US" sz="2800" dirty="0"/>
              <a:t> with and </a:t>
            </a:r>
            <a:r>
              <a:rPr lang="en-US" sz="2800" b="1" dirty="0">
                <a:solidFill>
                  <a:schemeClr val="accent6"/>
                </a:solidFill>
              </a:rPr>
              <a:t>without</a:t>
            </a:r>
            <a:r>
              <a:rPr lang="en-US" sz="2800" dirty="0"/>
              <a:t> it!</a:t>
            </a:r>
          </a:p>
          <a:p>
            <a:endParaRPr lang="en-US" sz="2800" dirty="0"/>
          </a:p>
          <a:p>
            <a:r>
              <a:rPr lang="en-US" sz="2800" dirty="0"/>
              <a:t>Siskin does this, but chooses the wrong outcomes!</a:t>
            </a:r>
          </a:p>
          <a:p>
            <a:endParaRPr lang="en-US" sz="2800" dirty="0"/>
          </a:p>
          <a:p>
            <a:r>
              <a:rPr lang="en-US" sz="2800" dirty="0"/>
              <a:t>(Also some questions about his methods.)</a:t>
            </a:r>
          </a:p>
        </p:txBody>
      </p:sp>
    </p:spTree>
    <p:extLst>
      <p:ext uri="{BB962C8B-B14F-4D97-AF65-F5344CB8AC3E}">
        <p14:creationId xmlns:p14="http://schemas.microsoft.com/office/powerpoint/2010/main" val="2723587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5761D-A728-2746-8D22-0F7E1CEE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Siskin’s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2B3AF-772E-4F42-A457-CD032A5B7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i="1" dirty="0"/>
              <a:t>I have conducted my analysis in three ways...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i="1" dirty="0"/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i="1" dirty="0"/>
              <a:t>First, I demonstrate that African Americans and Hispanics are overrepresented in the City’s affordable housing units as compared to their representation among low income New York City residents.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i="1" dirty="0"/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i="1" dirty="0"/>
              <a:t>The second analysis compares lottery results with the CP policy and without the CP policy. 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i="1" dirty="0"/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i="1" dirty="0"/>
              <a:t>The third analysis examines… the Consideration Stage, [which] is the only stage where the CP policy has an impact.</a:t>
            </a:r>
            <a:endParaRPr lang="en-US" altLang="en-US" sz="4000" i="1" dirty="0"/>
          </a:p>
          <a:p>
            <a:endParaRPr lang="en-US" dirty="0"/>
          </a:p>
        </p:txBody>
      </p:sp>
      <p:pic>
        <p:nvPicPr>
          <p:cNvPr id="1026" name="Picture 2" descr="page10image77517120">
            <a:extLst>
              <a:ext uri="{FF2B5EF4-FFF2-40B4-BE49-F238E27FC236}">
                <a16:creationId xmlns:a16="http://schemas.microsoft.com/office/drawing/2014/main" id="{B5A92B5C-0A39-644C-957F-6985725FA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-266700"/>
            <a:ext cx="4711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page10image77513088">
            <a:extLst>
              <a:ext uri="{FF2B5EF4-FFF2-40B4-BE49-F238E27FC236}">
                <a16:creationId xmlns:a16="http://schemas.microsoft.com/office/drawing/2014/main" id="{5535C47C-B014-2C40-8A8B-A2916210E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0" y="-266700"/>
            <a:ext cx="27178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ge10image77515776">
            <a:extLst>
              <a:ext uri="{FF2B5EF4-FFF2-40B4-BE49-F238E27FC236}">
                <a16:creationId xmlns:a16="http://schemas.microsoft.com/office/drawing/2014/main" id="{192D050E-98AF-404D-B956-63A8E2BC6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-266700"/>
            <a:ext cx="18288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4405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0564A-D03B-2546-994D-DEA2E964B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Siskin’s First Point is Irrelevant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0E679-6FE4-9642-A9C6-73167EB09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4849"/>
            <a:ext cx="10515600" cy="30947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100" i="1" dirty="0"/>
              <a:t>The City’s affordable housing projects overwhelmingly serve people of color, even in majority white areas. </a:t>
            </a:r>
          </a:p>
          <a:p>
            <a:pPr marL="0" indent="0">
              <a:buNone/>
            </a:pPr>
            <a:r>
              <a:rPr lang="en-US" sz="3100" i="1" dirty="0"/>
              <a:t>African Americans and Hispanics are awarded affordable housing through the City’s housing lottery in disproportionate numbers in their favor compared to their representation among New Yorker City residents with incomes [that] would make them eligible for the City’s affordable housing lotteries.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040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0564A-D03B-2546-994D-DEA2E964B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Siskin’s First Point is Irrelevant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0E679-6FE4-9642-A9C6-73167EB09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4849"/>
            <a:ext cx="10515600" cy="309471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100" i="1" dirty="0"/>
              <a:t>The City’s affordable housing projects overwhelmingly serve people of color, even in majority white areas. </a:t>
            </a:r>
          </a:p>
          <a:p>
            <a:pPr marL="0" indent="0">
              <a:buNone/>
            </a:pPr>
            <a:r>
              <a:rPr lang="en-US" sz="3100" i="1" dirty="0"/>
              <a:t>African Americans and Hispanics are awarded affordable housing through the City’s housing lottery in disproportionate numbers in their favor compared to their representation among New Yorker City residents with incomes [that] would make them eligible for the City’s affordable housing lotteries.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902E9B-CAE3-B44E-B4D2-A3DE9112DA6D}"/>
              </a:ext>
            </a:extLst>
          </p:cNvPr>
          <p:cNvSpPr txBox="1">
            <a:spLocks/>
          </p:cNvSpPr>
          <p:nvPr/>
        </p:nvSpPr>
        <p:spPr>
          <a:xfrm>
            <a:off x="838200" y="5185907"/>
            <a:ext cx="10515600" cy="589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2"/>
                </a:solidFill>
              </a:rPr>
              <a:t>This has nothing to do with the effect of Community Preference.</a:t>
            </a:r>
          </a:p>
        </p:txBody>
      </p:sp>
    </p:spTree>
    <p:extLst>
      <p:ext uri="{BB962C8B-B14F-4D97-AF65-F5344CB8AC3E}">
        <p14:creationId xmlns:p14="http://schemas.microsoft.com/office/powerpoint/2010/main" val="1123459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text, receipt, screenshot&#10;&#10;Description automatically generated">
            <a:extLst>
              <a:ext uri="{FF2B5EF4-FFF2-40B4-BE49-F238E27FC236}">
                <a16:creationId xmlns:a16="http://schemas.microsoft.com/office/drawing/2014/main" id="{F3EFB38A-C16D-9D40-A676-79458EB63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9693"/>
            <a:ext cx="8025581" cy="410746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91C525-D757-9343-BC04-FD7A05CB9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Siskin’s Second Point, Part 1: CP has Little Effect on Race of Awardees City-Wide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F4AEE9-983E-7A47-93C6-C9CB358F21AA}"/>
              </a:ext>
            </a:extLst>
          </p:cNvPr>
          <p:cNvSpPr/>
          <p:nvPr/>
        </p:nvSpPr>
        <p:spPr>
          <a:xfrm>
            <a:off x="8863780" y="3071538"/>
            <a:ext cx="321514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/>
              <a:t>“The CP policy applies citywide…. And thus the analysis should have been done citywide.”</a:t>
            </a:r>
          </a:p>
        </p:txBody>
      </p:sp>
    </p:spTree>
    <p:extLst>
      <p:ext uri="{BB962C8B-B14F-4D97-AF65-F5344CB8AC3E}">
        <p14:creationId xmlns:p14="http://schemas.microsoft.com/office/powerpoint/2010/main" val="4103913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text, receipt, screenshot&#10;&#10;Description automatically generated">
            <a:extLst>
              <a:ext uri="{FF2B5EF4-FFF2-40B4-BE49-F238E27FC236}">
                <a16:creationId xmlns:a16="http://schemas.microsoft.com/office/drawing/2014/main" id="{F3EFB38A-C16D-9D40-A676-79458EB63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9693"/>
            <a:ext cx="8025581" cy="410746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91C525-D757-9343-BC04-FD7A05CB9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Siskin’s Second Point, Part 1: CP has Little Effect on Race of Awardees City-Wide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8CB635E-90AD-7A4E-9CCB-D303B6E17B77}"/>
              </a:ext>
            </a:extLst>
          </p:cNvPr>
          <p:cNvSpPr txBox="1">
            <a:spLocks/>
          </p:cNvSpPr>
          <p:nvPr/>
        </p:nvSpPr>
        <p:spPr>
          <a:xfrm>
            <a:off x="1015182" y="498846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2"/>
                </a:solidFill>
              </a:rPr>
              <a:t>Cannot address plaintiff’s claim that CP promotes segregation.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Many illegal policies maintain city-wide racial composition of awardees.</a:t>
            </a:r>
            <a:r>
              <a:rPr lang="en-US" dirty="0">
                <a:sym typeface="Wingdings" pitchFamily="2" charset="2"/>
              </a:rPr>
              <a:t> (Example: specify where each race can live). 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F4AEE9-983E-7A47-93C6-C9CB358F21AA}"/>
              </a:ext>
            </a:extLst>
          </p:cNvPr>
          <p:cNvSpPr/>
          <p:nvPr/>
        </p:nvSpPr>
        <p:spPr>
          <a:xfrm>
            <a:off x="8863780" y="3071538"/>
            <a:ext cx="321514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/>
              <a:t>“The CP policy applies citywide…. And thus the analysis should have been done citywide.”</a:t>
            </a:r>
          </a:p>
        </p:txBody>
      </p:sp>
    </p:spTree>
    <p:extLst>
      <p:ext uri="{BB962C8B-B14F-4D97-AF65-F5344CB8AC3E}">
        <p14:creationId xmlns:p14="http://schemas.microsoft.com/office/powerpoint/2010/main" val="1694896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687A8-B9DE-2141-8FD6-BF1480332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City-Wide Analysis Reasonable?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7FA4D-EB45-3C49-9B2B-38865DA07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7059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Siskin argues ‘yes’, points out that local measures and aggregate measures may tell different stories.</a:t>
            </a:r>
          </a:p>
        </p:txBody>
      </p:sp>
      <p:pic>
        <p:nvPicPr>
          <p:cNvPr id="5" name="Picture 4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9BFAE04A-BE6F-CB42-984A-233D93721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793" y="1825625"/>
            <a:ext cx="7264400" cy="365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C2951D-9122-0A4E-B37A-6B90386CA908}"/>
              </a:ext>
            </a:extLst>
          </p:cNvPr>
          <p:cNvSpPr txBox="1"/>
          <p:nvPr/>
        </p:nvSpPr>
        <p:spPr>
          <a:xfrm>
            <a:off x="6286658" y="1775947"/>
            <a:ext cx="2193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90% pass rate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0E278E-21E8-AF4A-875B-F3A7CD847926}"/>
              </a:ext>
            </a:extLst>
          </p:cNvPr>
          <p:cNvSpPr txBox="1"/>
          <p:nvPr/>
        </p:nvSpPr>
        <p:spPr>
          <a:xfrm>
            <a:off x="6286658" y="3021107"/>
            <a:ext cx="21931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10% pass rate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C52AC4-ECFE-B24D-8DD4-1873CAD45FD4}"/>
              </a:ext>
            </a:extLst>
          </p:cNvPr>
          <p:cNvSpPr txBox="1"/>
          <p:nvPr/>
        </p:nvSpPr>
        <p:spPr>
          <a:xfrm>
            <a:off x="6999497" y="4248991"/>
            <a:ext cx="48962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Whites much more likely to pass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02C182-7044-E548-8388-DF6B226F1450}"/>
              </a:ext>
            </a:extLst>
          </p:cNvPr>
          <p:cNvSpPr txBox="1"/>
          <p:nvPr/>
        </p:nvSpPr>
        <p:spPr>
          <a:xfrm>
            <a:off x="4878948" y="5552876"/>
            <a:ext cx="29987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Simpson’s Paradox!</a:t>
            </a:r>
          </a:p>
        </p:txBody>
      </p:sp>
    </p:spTree>
    <p:extLst>
      <p:ext uri="{BB962C8B-B14F-4D97-AF65-F5344CB8AC3E}">
        <p14:creationId xmlns:p14="http://schemas.microsoft.com/office/powerpoint/2010/main" val="1402553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FA4C-C591-F349-8C88-52135F748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City-Wide Analysis Reasonable?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85F3F-BFD9-D54F-8A44-3CF9EBAF9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72019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Cannot address plaintiff’s claim that CP promotes segregation.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Many illegal policies maintain city-wide racial composition of awardees.</a:t>
            </a:r>
            <a:r>
              <a:rPr lang="en-US" b="1" dirty="0">
                <a:solidFill>
                  <a:schemeClr val="accent2"/>
                </a:solidFill>
                <a:sym typeface="Wingdings" pitchFamily="2" charset="2"/>
              </a:rPr>
              <a:t> (Example: specify where each race can live). </a:t>
            </a:r>
            <a:endParaRPr lang="en-US" b="1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1186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7A17F-D6BE-9542-A4BC-BAC071DBA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measure segregation?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DE3E84-8B6A-AD46-9B1A-0BA3A699B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71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/>
              <a:t>Siskin’s Complaint: </a:t>
            </a:r>
          </a:p>
          <a:p>
            <a:pPr marL="0" indent="0">
              <a:buNone/>
            </a:pPr>
            <a:r>
              <a:rPr lang="en-US" sz="2800" i="1" dirty="0"/>
              <a:t>Dr. Beveridge never measures the degree of segregation resulting from the CP policy, nor the degree of segregation that would result if the CP policy were eliminated. </a:t>
            </a:r>
          </a:p>
        </p:txBody>
      </p:sp>
    </p:spTree>
    <p:extLst>
      <p:ext uri="{BB962C8B-B14F-4D97-AF65-F5344CB8AC3E}">
        <p14:creationId xmlns:p14="http://schemas.microsoft.com/office/powerpoint/2010/main" val="1727555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304DC-D0B2-C046-8CA9-2491B93B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City-Wide</a:t>
            </a:r>
            <a:br>
              <a:rPr lang="en-US" dirty="0"/>
            </a:br>
            <a:r>
              <a:rPr lang="en-US" dirty="0"/>
              <a:t>Effect of CP on Consideration Chance, by Race</a:t>
            </a:r>
          </a:p>
        </p:txBody>
      </p: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E32FED69-6626-DD42-AD4F-112169966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3289"/>
          <a:stretch/>
        </p:blipFill>
        <p:spPr>
          <a:xfrm>
            <a:off x="838200" y="1690688"/>
            <a:ext cx="9293058" cy="290282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2B459D-D0D6-4246-98A6-383C0BBEE174}"/>
              </a:ext>
            </a:extLst>
          </p:cNvPr>
          <p:cNvSpPr/>
          <p:nvPr/>
        </p:nvSpPr>
        <p:spPr>
          <a:xfrm>
            <a:off x="867696" y="5332218"/>
            <a:ext cx="970443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Conclusion: </a:t>
            </a:r>
            <a:r>
              <a:rPr lang="en-US" sz="2800" dirty="0"/>
              <a:t>with CP policy, applicants of different races are considered at similar rates.</a:t>
            </a:r>
          </a:p>
        </p:txBody>
      </p:sp>
    </p:spTree>
    <p:extLst>
      <p:ext uri="{BB962C8B-B14F-4D97-AF65-F5344CB8AC3E}">
        <p14:creationId xmlns:p14="http://schemas.microsoft.com/office/powerpoint/2010/main" val="922476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48F99-D1CE-1446-B6BA-F793D36E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Siskin’s Second Point, Part 2: CP has Little Effect on City-Wide Measures of Segregation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F2325-A49D-B84E-94E3-74C0B70F3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FAC0988-DC56-9841-8337-BF117DEED06E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107006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i="1" dirty="0"/>
              <a:t>“even if one were to select awardees with the goal of increasing (or decreasing) the Dissimilarity Index, the result would have a small impact on the Dissimilarity Index between African Americans and whites. This is primarily due to the fact that the </a:t>
            </a:r>
            <a:r>
              <a:rPr lang="en-US" b="1" i="1" dirty="0"/>
              <a:t>housing lottery units make up only a very small portion of the housing stock in New York City</a:t>
            </a:r>
            <a:r>
              <a:rPr lang="en-US" i="1" dirty="0"/>
              <a:t>.”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</a:rPr>
              <a:t>Looking at city-wide measures of segregation is not helpful.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</a:rPr>
              <a:t>Even extreme discrimination would not move the needle.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454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48F99-D1CE-1446-B6BA-F793D36E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Siskin’s Second Point, Part 2: CP has Little Effect on City-Wide Measures of Segregation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F2325-A49D-B84E-94E3-74C0B70F3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FAC0988-DC56-9841-8337-BF117DEED06E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107006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i="1" dirty="0"/>
              <a:t>“even if one were to select awardees with the goal of increasing (or decreasing) the Dissimilarity Index, the result would have a small impact on the Dissimilarity Index between African Americans and whites. This is primarily due to the fact that the </a:t>
            </a:r>
            <a:r>
              <a:rPr lang="en-US" b="1" i="1" dirty="0"/>
              <a:t>housing lottery units make up only a very small portion of the housing stock in New York City</a:t>
            </a:r>
            <a:r>
              <a:rPr lang="en-US" i="1" dirty="0"/>
              <a:t>.”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2"/>
                </a:solidFill>
              </a:rPr>
              <a:t>Looking at city-wide measures of segregation is not helpful.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accent2"/>
                </a:solidFill>
              </a:rPr>
              <a:t>Even extreme discrimination would not move the needle.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092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0A25-DFDD-AE4D-9ADF-CE277B0A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495"/>
            <a:ext cx="10515600" cy="1325563"/>
          </a:xfrm>
        </p:spPr>
        <p:txBody>
          <a:bodyPr/>
          <a:lstStyle/>
          <a:p>
            <a:r>
              <a:rPr lang="en-US" dirty="0"/>
              <a:t>Siskin’s Third Point: Look at </a:t>
            </a:r>
            <a:r>
              <a:rPr lang="en-US" b="1" i="1" dirty="0"/>
              <a:t>Considered</a:t>
            </a:r>
            <a:r>
              <a:rPr lang="en-US" i="1" dirty="0"/>
              <a:t> </a:t>
            </a:r>
            <a:r>
              <a:rPr lang="en-US" dirty="0"/>
              <a:t>Applicants, not Awarded Applicants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0C1794-3AA5-7444-A25F-3A6250305E57}"/>
              </a:ext>
            </a:extLst>
          </p:cNvPr>
          <p:cNvSpPr/>
          <p:nvPr/>
        </p:nvSpPr>
        <p:spPr>
          <a:xfrm>
            <a:off x="1863434" y="1485270"/>
            <a:ext cx="2133600" cy="550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Applicants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D437D6-2E0B-0F42-AC8B-72D973F74EAA}"/>
              </a:ext>
            </a:extLst>
          </p:cNvPr>
          <p:cNvSpPr/>
          <p:nvPr/>
        </p:nvSpPr>
        <p:spPr>
          <a:xfrm>
            <a:off x="1875891" y="3705377"/>
            <a:ext cx="2133600" cy="550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Considered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FE032A-421C-D043-9DB5-EBDA2ADDD8B5}"/>
              </a:ext>
            </a:extLst>
          </p:cNvPr>
          <p:cNvSpPr/>
          <p:nvPr/>
        </p:nvSpPr>
        <p:spPr>
          <a:xfrm>
            <a:off x="1863433" y="4876393"/>
            <a:ext cx="2073581" cy="55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Offered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B2582B-E711-6D4E-B28C-DEC747D6D912}"/>
              </a:ext>
            </a:extLst>
          </p:cNvPr>
          <p:cNvSpPr/>
          <p:nvPr/>
        </p:nvSpPr>
        <p:spPr>
          <a:xfrm>
            <a:off x="1863433" y="5942156"/>
            <a:ext cx="2085114" cy="550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Awarded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FED948-5464-614B-8E79-199E86CE666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930234" y="2035988"/>
            <a:ext cx="0" cy="577323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6B342D-F42B-604D-AF33-D3EA9178BED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930234" y="2035988"/>
            <a:ext cx="1431349" cy="2824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12AA073-1A88-C842-BD5F-ECA549E5685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2900224" y="4256095"/>
            <a:ext cx="42467" cy="620298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8875D0-D6CE-C346-AB14-B19FCF02304E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2871351" y="5427106"/>
            <a:ext cx="28873" cy="508204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6F52670-1E7A-4247-85C2-F8D67B3594C8}"/>
              </a:ext>
            </a:extLst>
          </p:cNvPr>
          <p:cNvSpPr/>
          <p:nvPr/>
        </p:nvSpPr>
        <p:spPr>
          <a:xfrm>
            <a:off x="1848809" y="2574865"/>
            <a:ext cx="3323053" cy="550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Apparently Eligible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BF2F5AE-649E-504F-858F-592480575986}"/>
              </a:ext>
            </a:extLst>
          </p:cNvPr>
          <p:cNvCxnSpPr>
            <a:cxnSpLocks/>
          </p:cNvCxnSpPr>
          <p:nvPr/>
        </p:nvCxnSpPr>
        <p:spPr>
          <a:xfrm flipH="1">
            <a:off x="2915229" y="3136507"/>
            <a:ext cx="30010" cy="575064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16DD031-FF54-8842-A605-A6C95FA70C4B}"/>
              </a:ext>
            </a:extLst>
          </p:cNvPr>
          <p:cNvSpPr txBox="1"/>
          <p:nvPr/>
        </p:nvSpPr>
        <p:spPr>
          <a:xfrm>
            <a:off x="85078" y="2034065"/>
            <a:ext cx="1244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Stage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9F30E2-0A02-8B4B-BAA2-15761B14C2C6}"/>
              </a:ext>
            </a:extLst>
          </p:cNvPr>
          <p:cNvSpPr txBox="1"/>
          <p:nvPr/>
        </p:nvSpPr>
        <p:spPr>
          <a:xfrm>
            <a:off x="85078" y="3192518"/>
            <a:ext cx="1244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Stage 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8F0DC8-A876-F84C-8BA7-4C86CF5B77F1}"/>
              </a:ext>
            </a:extLst>
          </p:cNvPr>
          <p:cNvSpPr txBox="1"/>
          <p:nvPr/>
        </p:nvSpPr>
        <p:spPr>
          <a:xfrm>
            <a:off x="85078" y="4955650"/>
            <a:ext cx="1244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Stage 3</a:t>
            </a: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4B82A403-13D8-DA49-A065-E4C2C1E78A80}"/>
              </a:ext>
            </a:extLst>
          </p:cNvPr>
          <p:cNvSpPr/>
          <p:nvPr/>
        </p:nvSpPr>
        <p:spPr>
          <a:xfrm>
            <a:off x="1452393" y="4078350"/>
            <a:ext cx="337125" cy="2183769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348E8787-C3CF-1747-AC9F-9C618D07EDAC}"/>
              </a:ext>
            </a:extLst>
          </p:cNvPr>
          <p:cNvSpPr/>
          <p:nvPr/>
        </p:nvSpPr>
        <p:spPr>
          <a:xfrm>
            <a:off x="1468381" y="2824254"/>
            <a:ext cx="330698" cy="1154415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66C8F4-EF6B-E648-8566-A1E5337177D0}"/>
              </a:ext>
            </a:extLst>
          </p:cNvPr>
          <p:cNvCxnSpPr>
            <a:cxnSpLocks/>
          </p:cNvCxnSpPr>
          <p:nvPr/>
        </p:nvCxnSpPr>
        <p:spPr>
          <a:xfrm>
            <a:off x="2930233" y="3147431"/>
            <a:ext cx="1431349" cy="2824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C35069-BF5B-2843-94B5-514C634173B3}"/>
              </a:ext>
            </a:extLst>
          </p:cNvPr>
          <p:cNvCxnSpPr>
            <a:cxnSpLocks/>
          </p:cNvCxnSpPr>
          <p:nvPr/>
        </p:nvCxnSpPr>
        <p:spPr>
          <a:xfrm>
            <a:off x="2930232" y="4291365"/>
            <a:ext cx="1431349" cy="2824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7F1E1A1-3D3F-1945-9468-6545C0C491C5}"/>
              </a:ext>
            </a:extLst>
          </p:cNvPr>
          <p:cNvCxnSpPr>
            <a:cxnSpLocks/>
          </p:cNvCxnSpPr>
          <p:nvPr/>
        </p:nvCxnSpPr>
        <p:spPr>
          <a:xfrm>
            <a:off x="2885501" y="5468166"/>
            <a:ext cx="1431349" cy="2824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eft Brace 36">
            <a:extLst>
              <a:ext uri="{FF2B5EF4-FFF2-40B4-BE49-F238E27FC236}">
                <a16:creationId xmlns:a16="http://schemas.microsoft.com/office/drawing/2014/main" id="{EA22D943-C1F7-E247-B77A-322F9D9D2E5D}"/>
              </a:ext>
            </a:extLst>
          </p:cNvPr>
          <p:cNvSpPr/>
          <p:nvPr/>
        </p:nvSpPr>
        <p:spPr>
          <a:xfrm>
            <a:off x="1464135" y="1690688"/>
            <a:ext cx="337119" cy="1055273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393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0A25-DFDD-AE4D-9ADF-CE277B0A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139"/>
            <a:ext cx="10515600" cy="1325563"/>
          </a:xfrm>
        </p:spPr>
        <p:txBody>
          <a:bodyPr/>
          <a:lstStyle/>
          <a:p>
            <a:r>
              <a:rPr lang="en-US" dirty="0"/>
              <a:t>Siskin’s Third Point: Look at </a:t>
            </a:r>
            <a:r>
              <a:rPr lang="en-US" b="1" i="1" dirty="0"/>
              <a:t>Considered</a:t>
            </a:r>
            <a:r>
              <a:rPr lang="en-US" i="1" dirty="0"/>
              <a:t> </a:t>
            </a:r>
            <a:r>
              <a:rPr lang="en-US" dirty="0"/>
              <a:t>Applicants, not Awarded Applicants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0C1794-3AA5-7444-A25F-3A6250305E57}"/>
              </a:ext>
            </a:extLst>
          </p:cNvPr>
          <p:cNvSpPr/>
          <p:nvPr/>
        </p:nvSpPr>
        <p:spPr>
          <a:xfrm>
            <a:off x="1863434" y="1485270"/>
            <a:ext cx="2133600" cy="550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Applicants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D437D6-2E0B-0F42-AC8B-72D973F74EAA}"/>
              </a:ext>
            </a:extLst>
          </p:cNvPr>
          <p:cNvSpPr/>
          <p:nvPr/>
        </p:nvSpPr>
        <p:spPr>
          <a:xfrm>
            <a:off x="1875891" y="3705377"/>
            <a:ext cx="2133600" cy="550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Considered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FE032A-421C-D043-9DB5-EBDA2ADDD8B5}"/>
              </a:ext>
            </a:extLst>
          </p:cNvPr>
          <p:cNvSpPr/>
          <p:nvPr/>
        </p:nvSpPr>
        <p:spPr>
          <a:xfrm>
            <a:off x="1863433" y="4876393"/>
            <a:ext cx="2073581" cy="55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Offered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B2582B-E711-6D4E-B28C-DEC747D6D912}"/>
              </a:ext>
            </a:extLst>
          </p:cNvPr>
          <p:cNvSpPr/>
          <p:nvPr/>
        </p:nvSpPr>
        <p:spPr>
          <a:xfrm>
            <a:off x="1863433" y="5942156"/>
            <a:ext cx="2085114" cy="550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Awarded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FED948-5464-614B-8E79-199E86CE666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930234" y="2035988"/>
            <a:ext cx="0" cy="577323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6B342D-F42B-604D-AF33-D3EA9178BED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930234" y="2035988"/>
            <a:ext cx="1431349" cy="2824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825033-DB9E-304E-BD56-8172753BB9FB}"/>
              </a:ext>
            </a:extLst>
          </p:cNvPr>
          <p:cNvSpPr txBox="1"/>
          <p:nvPr/>
        </p:nvSpPr>
        <p:spPr>
          <a:xfrm>
            <a:off x="5490562" y="1760629"/>
            <a:ext cx="597089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CP affects who is considered (Stage 2)</a:t>
            </a:r>
          </a:p>
          <a:p>
            <a:endParaRPr lang="en-US" sz="2800" dirty="0"/>
          </a:p>
          <a:p>
            <a:r>
              <a:rPr lang="en-US" sz="2800" dirty="0"/>
              <a:t>Should look at who would be </a:t>
            </a:r>
            <a:r>
              <a:rPr lang="en-US" sz="2800" b="1" dirty="0"/>
              <a:t>considered</a:t>
            </a:r>
            <a:r>
              <a:rPr lang="en-US" sz="2800" dirty="0"/>
              <a:t>, with and without CP.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12AA073-1A88-C842-BD5F-ECA549E5685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2900224" y="4256095"/>
            <a:ext cx="42467" cy="620298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8875D0-D6CE-C346-AB14-B19FCF02304E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2871351" y="5427106"/>
            <a:ext cx="28873" cy="508204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6F52670-1E7A-4247-85C2-F8D67B3594C8}"/>
              </a:ext>
            </a:extLst>
          </p:cNvPr>
          <p:cNvSpPr/>
          <p:nvPr/>
        </p:nvSpPr>
        <p:spPr>
          <a:xfrm>
            <a:off x="1848809" y="2574865"/>
            <a:ext cx="3323053" cy="550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Apparently Eligible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BF2F5AE-649E-504F-858F-592480575986}"/>
              </a:ext>
            </a:extLst>
          </p:cNvPr>
          <p:cNvCxnSpPr>
            <a:cxnSpLocks/>
          </p:cNvCxnSpPr>
          <p:nvPr/>
        </p:nvCxnSpPr>
        <p:spPr>
          <a:xfrm flipH="1">
            <a:off x="2915229" y="3136507"/>
            <a:ext cx="30010" cy="575064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16DD031-FF54-8842-A605-A6C95FA70C4B}"/>
              </a:ext>
            </a:extLst>
          </p:cNvPr>
          <p:cNvSpPr txBox="1"/>
          <p:nvPr/>
        </p:nvSpPr>
        <p:spPr>
          <a:xfrm>
            <a:off x="85078" y="2034065"/>
            <a:ext cx="1244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Stage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9F30E2-0A02-8B4B-BAA2-15761B14C2C6}"/>
              </a:ext>
            </a:extLst>
          </p:cNvPr>
          <p:cNvSpPr txBox="1"/>
          <p:nvPr/>
        </p:nvSpPr>
        <p:spPr>
          <a:xfrm>
            <a:off x="85078" y="3192518"/>
            <a:ext cx="1244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Stage 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8F0DC8-A876-F84C-8BA7-4C86CF5B77F1}"/>
              </a:ext>
            </a:extLst>
          </p:cNvPr>
          <p:cNvSpPr txBox="1"/>
          <p:nvPr/>
        </p:nvSpPr>
        <p:spPr>
          <a:xfrm>
            <a:off x="85078" y="4955650"/>
            <a:ext cx="1244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Stage 3</a:t>
            </a: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4B82A403-13D8-DA49-A065-E4C2C1E78A80}"/>
              </a:ext>
            </a:extLst>
          </p:cNvPr>
          <p:cNvSpPr/>
          <p:nvPr/>
        </p:nvSpPr>
        <p:spPr>
          <a:xfrm>
            <a:off x="1452393" y="4078350"/>
            <a:ext cx="337125" cy="2183769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348E8787-C3CF-1747-AC9F-9C618D07EDAC}"/>
              </a:ext>
            </a:extLst>
          </p:cNvPr>
          <p:cNvSpPr/>
          <p:nvPr/>
        </p:nvSpPr>
        <p:spPr>
          <a:xfrm>
            <a:off x="1468381" y="2824254"/>
            <a:ext cx="330698" cy="1154415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66C8F4-EF6B-E648-8566-A1E5337177D0}"/>
              </a:ext>
            </a:extLst>
          </p:cNvPr>
          <p:cNvCxnSpPr>
            <a:cxnSpLocks/>
          </p:cNvCxnSpPr>
          <p:nvPr/>
        </p:nvCxnSpPr>
        <p:spPr>
          <a:xfrm>
            <a:off x="2930233" y="3147431"/>
            <a:ext cx="1431349" cy="2824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C35069-BF5B-2843-94B5-514C634173B3}"/>
              </a:ext>
            </a:extLst>
          </p:cNvPr>
          <p:cNvCxnSpPr>
            <a:cxnSpLocks/>
          </p:cNvCxnSpPr>
          <p:nvPr/>
        </p:nvCxnSpPr>
        <p:spPr>
          <a:xfrm>
            <a:off x="2974231" y="4306413"/>
            <a:ext cx="1431349" cy="2824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7F1E1A1-3D3F-1945-9468-6545C0C491C5}"/>
              </a:ext>
            </a:extLst>
          </p:cNvPr>
          <p:cNvCxnSpPr>
            <a:cxnSpLocks/>
          </p:cNvCxnSpPr>
          <p:nvPr/>
        </p:nvCxnSpPr>
        <p:spPr>
          <a:xfrm>
            <a:off x="2885501" y="5468166"/>
            <a:ext cx="1431349" cy="2824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eft Brace 36">
            <a:extLst>
              <a:ext uri="{FF2B5EF4-FFF2-40B4-BE49-F238E27FC236}">
                <a16:creationId xmlns:a16="http://schemas.microsoft.com/office/drawing/2014/main" id="{EA22D943-C1F7-E247-B77A-322F9D9D2E5D}"/>
              </a:ext>
            </a:extLst>
          </p:cNvPr>
          <p:cNvSpPr/>
          <p:nvPr/>
        </p:nvSpPr>
        <p:spPr>
          <a:xfrm>
            <a:off x="1464135" y="1690688"/>
            <a:ext cx="337119" cy="1055273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7181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0A25-DFDD-AE4D-9ADF-CE277B0A2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Siskin’s Description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0C1794-3AA5-7444-A25F-3A6250305E57}"/>
              </a:ext>
            </a:extLst>
          </p:cNvPr>
          <p:cNvSpPr/>
          <p:nvPr/>
        </p:nvSpPr>
        <p:spPr>
          <a:xfrm>
            <a:off x="1863434" y="1485270"/>
            <a:ext cx="2133600" cy="5507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Applicants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D437D6-2E0B-0F42-AC8B-72D973F74EAA}"/>
              </a:ext>
            </a:extLst>
          </p:cNvPr>
          <p:cNvSpPr/>
          <p:nvPr/>
        </p:nvSpPr>
        <p:spPr>
          <a:xfrm>
            <a:off x="1875891" y="3705377"/>
            <a:ext cx="2133600" cy="55071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Considered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FE032A-421C-D043-9DB5-EBDA2ADDD8B5}"/>
              </a:ext>
            </a:extLst>
          </p:cNvPr>
          <p:cNvSpPr/>
          <p:nvPr/>
        </p:nvSpPr>
        <p:spPr>
          <a:xfrm>
            <a:off x="1863433" y="4876393"/>
            <a:ext cx="2073581" cy="5507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Offered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B2582B-E711-6D4E-B28C-DEC747D6D912}"/>
              </a:ext>
            </a:extLst>
          </p:cNvPr>
          <p:cNvSpPr/>
          <p:nvPr/>
        </p:nvSpPr>
        <p:spPr>
          <a:xfrm>
            <a:off x="1863433" y="5942156"/>
            <a:ext cx="2085114" cy="550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Awarded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FED948-5464-614B-8E79-199E86CE666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930234" y="2035988"/>
            <a:ext cx="0" cy="577323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6B342D-F42B-604D-AF33-D3EA9178BED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930234" y="2035988"/>
            <a:ext cx="1431349" cy="2824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825033-DB9E-304E-BD56-8172753BB9FB}"/>
              </a:ext>
            </a:extLst>
          </p:cNvPr>
          <p:cNvSpPr txBox="1"/>
          <p:nvPr/>
        </p:nvSpPr>
        <p:spPr>
          <a:xfrm>
            <a:off x="5471075" y="4192784"/>
            <a:ext cx="66163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Concerns: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We don’t observe who was considered.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Some apparently </a:t>
            </a:r>
            <a:r>
              <a:rPr lang="en-US" sz="2800" b="1" i="1" dirty="0"/>
              <a:t>in</a:t>
            </a:r>
            <a:r>
              <a:rPr lang="en-US" sz="2800" dirty="0"/>
              <a:t>eligible households were considered (844 were awarded).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Even more difficult to know who would have been considered.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12AA073-1A88-C842-BD5F-ECA549E5685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2900224" y="4256095"/>
            <a:ext cx="42467" cy="620298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8875D0-D6CE-C346-AB14-B19FCF02304E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2871351" y="5427106"/>
            <a:ext cx="28873" cy="508204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6F52670-1E7A-4247-85C2-F8D67B3594C8}"/>
              </a:ext>
            </a:extLst>
          </p:cNvPr>
          <p:cNvSpPr/>
          <p:nvPr/>
        </p:nvSpPr>
        <p:spPr>
          <a:xfrm>
            <a:off x="1848809" y="2574865"/>
            <a:ext cx="3323053" cy="5507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Apparently Eligible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BF2F5AE-649E-504F-858F-592480575986}"/>
              </a:ext>
            </a:extLst>
          </p:cNvPr>
          <p:cNvCxnSpPr>
            <a:cxnSpLocks/>
          </p:cNvCxnSpPr>
          <p:nvPr/>
        </p:nvCxnSpPr>
        <p:spPr>
          <a:xfrm flipH="1">
            <a:off x="2915229" y="3136507"/>
            <a:ext cx="30010" cy="575064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16DD031-FF54-8842-A605-A6C95FA70C4B}"/>
              </a:ext>
            </a:extLst>
          </p:cNvPr>
          <p:cNvSpPr txBox="1"/>
          <p:nvPr/>
        </p:nvSpPr>
        <p:spPr>
          <a:xfrm>
            <a:off x="85078" y="2034065"/>
            <a:ext cx="1244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Stage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9F30E2-0A02-8B4B-BAA2-15761B14C2C6}"/>
              </a:ext>
            </a:extLst>
          </p:cNvPr>
          <p:cNvSpPr txBox="1"/>
          <p:nvPr/>
        </p:nvSpPr>
        <p:spPr>
          <a:xfrm>
            <a:off x="85078" y="3192518"/>
            <a:ext cx="1244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Stage 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8F0DC8-A876-F84C-8BA7-4C86CF5B77F1}"/>
              </a:ext>
            </a:extLst>
          </p:cNvPr>
          <p:cNvSpPr txBox="1"/>
          <p:nvPr/>
        </p:nvSpPr>
        <p:spPr>
          <a:xfrm>
            <a:off x="85078" y="4955650"/>
            <a:ext cx="1244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Stage 3</a:t>
            </a: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4B82A403-13D8-DA49-A065-E4C2C1E78A80}"/>
              </a:ext>
            </a:extLst>
          </p:cNvPr>
          <p:cNvSpPr/>
          <p:nvPr/>
        </p:nvSpPr>
        <p:spPr>
          <a:xfrm>
            <a:off x="1452393" y="4078350"/>
            <a:ext cx="337125" cy="2183769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348E8787-C3CF-1747-AC9F-9C618D07EDAC}"/>
              </a:ext>
            </a:extLst>
          </p:cNvPr>
          <p:cNvSpPr/>
          <p:nvPr/>
        </p:nvSpPr>
        <p:spPr>
          <a:xfrm>
            <a:off x="1468381" y="2824254"/>
            <a:ext cx="330698" cy="1154415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66C8F4-EF6B-E648-8566-A1E5337177D0}"/>
              </a:ext>
            </a:extLst>
          </p:cNvPr>
          <p:cNvCxnSpPr>
            <a:cxnSpLocks/>
          </p:cNvCxnSpPr>
          <p:nvPr/>
        </p:nvCxnSpPr>
        <p:spPr>
          <a:xfrm>
            <a:off x="2930233" y="3147431"/>
            <a:ext cx="1431349" cy="2824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C35069-BF5B-2843-94B5-514C634173B3}"/>
              </a:ext>
            </a:extLst>
          </p:cNvPr>
          <p:cNvCxnSpPr>
            <a:cxnSpLocks/>
          </p:cNvCxnSpPr>
          <p:nvPr/>
        </p:nvCxnSpPr>
        <p:spPr>
          <a:xfrm>
            <a:off x="2974231" y="4306413"/>
            <a:ext cx="1431349" cy="2824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7F1E1A1-3D3F-1945-9468-6545C0C491C5}"/>
              </a:ext>
            </a:extLst>
          </p:cNvPr>
          <p:cNvCxnSpPr>
            <a:cxnSpLocks/>
          </p:cNvCxnSpPr>
          <p:nvPr/>
        </p:nvCxnSpPr>
        <p:spPr>
          <a:xfrm>
            <a:off x="2885501" y="5468166"/>
            <a:ext cx="1431349" cy="2824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eft Brace 36">
            <a:extLst>
              <a:ext uri="{FF2B5EF4-FFF2-40B4-BE49-F238E27FC236}">
                <a16:creationId xmlns:a16="http://schemas.microsoft.com/office/drawing/2014/main" id="{EA22D943-C1F7-E247-B77A-322F9D9D2E5D}"/>
              </a:ext>
            </a:extLst>
          </p:cNvPr>
          <p:cNvSpPr/>
          <p:nvPr/>
        </p:nvSpPr>
        <p:spPr>
          <a:xfrm>
            <a:off x="1464135" y="1690688"/>
            <a:ext cx="337119" cy="1055273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4924A6-A254-534F-8531-AAEF3D314FFB}"/>
              </a:ext>
            </a:extLst>
          </p:cNvPr>
          <p:cNvSpPr txBox="1"/>
          <p:nvPr/>
        </p:nvSpPr>
        <p:spPr>
          <a:xfrm>
            <a:off x="5490562" y="1760629"/>
            <a:ext cx="597089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CP affects who is considered (Stage 2)</a:t>
            </a:r>
          </a:p>
          <a:p>
            <a:endParaRPr lang="en-US" sz="2800" dirty="0"/>
          </a:p>
          <a:p>
            <a:r>
              <a:rPr lang="en-US" sz="2800" dirty="0"/>
              <a:t>Should look at who would be </a:t>
            </a:r>
            <a:r>
              <a:rPr lang="en-US" sz="2800" b="1" dirty="0"/>
              <a:t>considered</a:t>
            </a:r>
            <a:r>
              <a:rPr lang="en-US" sz="2800" dirty="0"/>
              <a:t>, with and without CP.</a:t>
            </a:r>
          </a:p>
        </p:txBody>
      </p:sp>
    </p:spTree>
    <p:extLst>
      <p:ext uri="{BB962C8B-B14F-4D97-AF65-F5344CB8AC3E}">
        <p14:creationId xmlns:p14="http://schemas.microsoft.com/office/powerpoint/2010/main" val="3005371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0A25-DFDD-AE4D-9ADF-CE277B0A2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Siskin’s Description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0C1794-3AA5-7444-A25F-3A6250305E57}"/>
              </a:ext>
            </a:extLst>
          </p:cNvPr>
          <p:cNvSpPr/>
          <p:nvPr/>
        </p:nvSpPr>
        <p:spPr>
          <a:xfrm>
            <a:off x="1863434" y="1485270"/>
            <a:ext cx="2133600" cy="5507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Applicants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D437D6-2E0B-0F42-AC8B-72D973F74EAA}"/>
              </a:ext>
            </a:extLst>
          </p:cNvPr>
          <p:cNvSpPr/>
          <p:nvPr/>
        </p:nvSpPr>
        <p:spPr>
          <a:xfrm>
            <a:off x="1875891" y="3705377"/>
            <a:ext cx="2133600" cy="55071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Considered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FE032A-421C-D043-9DB5-EBDA2ADDD8B5}"/>
              </a:ext>
            </a:extLst>
          </p:cNvPr>
          <p:cNvSpPr/>
          <p:nvPr/>
        </p:nvSpPr>
        <p:spPr>
          <a:xfrm>
            <a:off x="1863433" y="4876393"/>
            <a:ext cx="2073581" cy="5507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Offered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B2582B-E711-6D4E-B28C-DEC747D6D912}"/>
              </a:ext>
            </a:extLst>
          </p:cNvPr>
          <p:cNvSpPr/>
          <p:nvPr/>
        </p:nvSpPr>
        <p:spPr>
          <a:xfrm>
            <a:off x="1863433" y="5942156"/>
            <a:ext cx="2085114" cy="550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Awarded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FED948-5464-614B-8E79-199E86CE666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930234" y="2035988"/>
            <a:ext cx="0" cy="577323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6B342D-F42B-604D-AF33-D3EA9178BED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930234" y="2035988"/>
            <a:ext cx="1431349" cy="2824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825033-DB9E-304E-BD56-8172753BB9FB}"/>
              </a:ext>
            </a:extLst>
          </p:cNvPr>
          <p:cNvSpPr txBox="1"/>
          <p:nvPr/>
        </p:nvSpPr>
        <p:spPr>
          <a:xfrm>
            <a:off x="5490563" y="1562623"/>
            <a:ext cx="6616356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Claim: </a:t>
            </a:r>
          </a:p>
          <a:p>
            <a:r>
              <a:rPr lang="en-US" sz="2800" dirty="0"/>
              <a:t>Community Preference only affects Stage 2. </a:t>
            </a:r>
          </a:p>
          <a:p>
            <a:endParaRPr lang="en-US" sz="2800" dirty="0"/>
          </a:p>
          <a:p>
            <a:r>
              <a:rPr lang="en-US" sz="2800" b="1" dirty="0"/>
              <a:t>Concerns: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Some apparently </a:t>
            </a:r>
            <a:r>
              <a:rPr lang="en-US" sz="2800" b="1" i="1" dirty="0"/>
              <a:t>in</a:t>
            </a:r>
            <a:r>
              <a:rPr lang="en-US" sz="2800" dirty="0"/>
              <a:t>eligible households were considered (844 were awarded).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We don’t observe who was considered.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Who was considered.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Why considered applicants were not awarded.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Which applicants would pass Stage 3 if considered.</a:t>
            </a:r>
          </a:p>
          <a:p>
            <a:endParaRPr lang="en-US" sz="28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12AA073-1A88-C842-BD5F-ECA549E5685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2900224" y="4256095"/>
            <a:ext cx="42467" cy="620298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8875D0-D6CE-C346-AB14-B19FCF02304E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2871351" y="5427106"/>
            <a:ext cx="28873" cy="508204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6F52670-1E7A-4247-85C2-F8D67B3594C8}"/>
              </a:ext>
            </a:extLst>
          </p:cNvPr>
          <p:cNvSpPr/>
          <p:nvPr/>
        </p:nvSpPr>
        <p:spPr>
          <a:xfrm>
            <a:off x="1848809" y="2574865"/>
            <a:ext cx="3323053" cy="55071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Apparently Eligible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BF2F5AE-649E-504F-858F-592480575986}"/>
              </a:ext>
            </a:extLst>
          </p:cNvPr>
          <p:cNvCxnSpPr>
            <a:cxnSpLocks/>
          </p:cNvCxnSpPr>
          <p:nvPr/>
        </p:nvCxnSpPr>
        <p:spPr>
          <a:xfrm flipH="1">
            <a:off x="2915229" y="3136507"/>
            <a:ext cx="30010" cy="575064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16DD031-FF54-8842-A605-A6C95FA70C4B}"/>
              </a:ext>
            </a:extLst>
          </p:cNvPr>
          <p:cNvSpPr txBox="1"/>
          <p:nvPr/>
        </p:nvSpPr>
        <p:spPr>
          <a:xfrm>
            <a:off x="85078" y="2034065"/>
            <a:ext cx="1244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Stage 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9F30E2-0A02-8B4B-BAA2-15761B14C2C6}"/>
              </a:ext>
            </a:extLst>
          </p:cNvPr>
          <p:cNvSpPr txBox="1"/>
          <p:nvPr/>
        </p:nvSpPr>
        <p:spPr>
          <a:xfrm>
            <a:off x="85078" y="3192518"/>
            <a:ext cx="1244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Stage 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8F0DC8-A876-F84C-8BA7-4C86CF5B77F1}"/>
              </a:ext>
            </a:extLst>
          </p:cNvPr>
          <p:cNvSpPr txBox="1"/>
          <p:nvPr/>
        </p:nvSpPr>
        <p:spPr>
          <a:xfrm>
            <a:off x="85078" y="4955650"/>
            <a:ext cx="1244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Stage 3</a:t>
            </a: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4B82A403-13D8-DA49-A065-E4C2C1E78A80}"/>
              </a:ext>
            </a:extLst>
          </p:cNvPr>
          <p:cNvSpPr/>
          <p:nvPr/>
        </p:nvSpPr>
        <p:spPr>
          <a:xfrm>
            <a:off x="1452393" y="4078350"/>
            <a:ext cx="337125" cy="2183769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Left Brace 30">
            <a:extLst>
              <a:ext uri="{FF2B5EF4-FFF2-40B4-BE49-F238E27FC236}">
                <a16:creationId xmlns:a16="http://schemas.microsoft.com/office/drawing/2014/main" id="{348E8787-C3CF-1747-AC9F-9C618D07EDAC}"/>
              </a:ext>
            </a:extLst>
          </p:cNvPr>
          <p:cNvSpPr/>
          <p:nvPr/>
        </p:nvSpPr>
        <p:spPr>
          <a:xfrm>
            <a:off x="1468381" y="2824254"/>
            <a:ext cx="330698" cy="1154415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66C8F4-EF6B-E648-8566-A1E5337177D0}"/>
              </a:ext>
            </a:extLst>
          </p:cNvPr>
          <p:cNvCxnSpPr>
            <a:cxnSpLocks/>
          </p:cNvCxnSpPr>
          <p:nvPr/>
        </p:nvCxnSpPr>
        <p:spPr>
          <a:xfrm>
            <a:off x="2930233" y="3147431"/>
            <a:ext cx="1431349" cy="2824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C35069-BF5B-2843-94B5-514C634173B3}"/>
              </a:ext>
            </a:extLst>
          </p:cNvPr>
          <p:cNvCxnSpPr>
            <a:cxnSpLocks/>
          </p:cNvCxnSpPr>
          <p:nvPr/>
        </p:nvCxnSpPr>
        <p:spPr>
          <a:xfrm>
            <a:off x="2974231" y="4306413"/>
            <a:ext cx="1431349" cy="2824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7F1E1A1-3D3F-1945-9468-6545C0C491C5}"/>
              </a:ext>
            </a:extLst>
          </p:cNvPr>
          <p:cNvCxnSpPr>
            <a:cxnSpLocks/>
          </p:cNvCxnSpPr>
          <p:nvPr/>
        </p:nvCxnSpPr>
        <p:spPr>
          <a:xfrm>
            <a:off x="2885501" y="5468166"/>
            <a:ext cx="1431349" cy="282448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eft Brace 36">
            <a:extLst>
              <a:ext uri="{FF2B5EF4-FFF2-40B4-BE49-F238E27FC236}">
                <a16:creationId xmlns:a16="http://schemas.microsoft.com/office/drawing/2014/main" id="{EA22D943-C1F7-E247-B77A-322F9D9D2E5D}"/>
              </a:ext>
            </a:extLst>
          </p:cNvPr>
          <p:cNvSpPr/>
          <p:nvPr/>
        </p:nvSpPr>
        <p:spPr>
          <a:xfrm>
            <a:off x="1464135" y="1690688"/>
            <a:ext cx="337119" cy="1055273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005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D77A-43F3-464E-996B-BDC1BE6A8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FE653-A1F1-1547-9300-C6049C81D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DF0A88-98FE-C847-A89F-6FC96BEFF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725" y="0"/>
            <a:ext cx="73285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90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FE9A2-34E4-E048-A817-8E3D1C752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Determine Considered Applicants?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EA3F7-AA42-5F42-841C-A261454B1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observe: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Who is eligible for community preference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Which “apartment types” applicants are eligible for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Who was awarded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Lottery numbers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High-Level Idea: </a:t>
            </a:r>
            <a:r>
              <a:rPr lang="en-US" dirty="0"/>
              <a:t>if an apartment I was eligible for was allocated to someone with a worse lottery number, then I was considered.</a:t>
            </a:r>
          </a:p>
        </p:txBody>
      </p:sp>
    </p:spTree>
    <p:extLst>
      <p:ext uri="{BB962C8B-B14F-4D97-AF65-F5344CB8AC3E}">
        <p14:creationId xmlns:p14="http://schemas.microsoft.com/office/powerpoint/2010/main" val="3958566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9E4A-0E7A-8646-8BCD-DACABBE0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Suspicious Findings</a:t>
            </a:r>
          </a:p>
        </p:txBody>
      </p: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D018BC0C-B38A-D04F-B812-A03B1DDDB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43493"/>
            <a:ext cx="9028471" cy="4490266"/>
          </a:xfrm>
        </p:spPr>
      </p:pic>
      <p:sp>
        <p:nvSpPr>
          <p:cNvPr id="6" name="Donut 5">
            <a:extLst>
              <a:ext uri="{FF2B5EF4-FFF2-40B4-BE49-F238E27FC236}">
                <a16:creationId xmlns:a16="http://schemas.microsoft.com/office/drawing/2014/main" id="{AD09B640-3AC6-314C-812E-7C51DFB60C5A}"/>
              </a:ext>
            </a:extLst>
          </p:cNvPr>
          <p:cNvSpPr/>
          <p:nvPr/>
        </p:nvSpPr>
        <p:spPr>
          <a:xfrm>
            <a:off x="8657301" y="5057998"/>
            <a:ext cx="873457" cy="655092"/>
          </a:xfrm>
          <a:prstGeom prst="donut">
            <a:avLst>
              <a:gd name="adj" fmla="val 1863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7" name="Donut 6">
            <a:extLst>
              <a:ext uri="{FF2B5EF4-FFF2-40B4-BE49-F238E27FC236}">
                <a16:creationId xmlns:a16="http://schemas.microsoft.com/office/drawing/2014/main" id="{104BE594-4C81-1F48-9764-2D594CE620EE}"/>
              </a:ext>
            </a:extLst>
          </p:cNvPr>
          <p:cNvSpPr/>
          <p:nvPr/>
        </p:nvSpPr>
        <p:spPr>
          <a:xfrm>
            <a:off x="8451558" y="4126481"/>
            <a:ext cx="1034956" cy="655092"/>
          </a:xfrm>
          <a:prstGeom prst="donut">
            <a:avLst>
              <a:gd name="adj" fmla="val 1863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C490DA-6BFF-6846-B618-793974567E0D}"/>
              </a:ext>
            </a:extLst>
          </p:cNvPr>
          <p:cNvSpPr txBox="1"/>
          <p:nvPr/>
        </p:nvSpPr>
        <p:spPr>
          <a:xfrm>
            <a:off x="838200" y="5886563"/>
            <a:ext cx="68334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Nevertheless, in simulations, Siskin assumes 100% of considered applicants are awarded!</a:t>
            </a:r>
          </a:p>
        </p:txBody>
      </p:sp>
    </p:spTree>
    <p:extLst>
      <p:ext uri="{BB962C8B-B14F-4D97-AF65-F5344CB8AC3E}">
        <p14:creationId xmlns:p14="http://schemas.microsoft.com/office/powerpoint/2010/main" val="10478566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9E4A-0E7A-8646-8BCD-DACABBE0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Suspicious Findings</a:t>
            </a:r>
          </a:p>
        </p:txBody>
      </p:sp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D018BC0C-B38A-D04F-B812-A03B1DDDB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3367"/>
            <a:ext cx="8605716" cy="4280011"/>
          </a:xfrm>
        </p:spPr>
      </p:pic>
      <p:sp>
        <p:nvSpPr>
          <p:cNvPr id="6" name="Donut 5">
            <a:extLst>
              <a:ext uri="{FF2B5EF4-FFF2-40B4-BE49-F238E27FC236}">
                <a16:creationId xmlns:a16="http://schemas.microsoft.com/office/drawing/2014/main" id="{AD09B640-3AC6-314C-812E-7C51DFB60C5A}"/>
              </a:ext>
            </a:extLst>
          </p:cNvPr>
          <p:cNvSpPr/>
          <p:nvPr/>
        </p:nvSpPr>
        <p:spPr>
          <a:xfrm>
            <a:off x="8229599" y="5275686"/>
            <a:ext cx="873457" cy="655092"/>
          </a:xfrm>
          <a:prstGeom prst="donut">
            <a:avLst>
              <a:gd name="adj" fmla="val 1863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7" name="Donut 6">
            <a:extLst>
              <a:ext uri="{FF2B5EF4-FFF2-40B4-BE49-F238E27FC236}">
                <a16:creationId xmlns:a16="http://schemas.microsoft.com/office/drawing/2014/main" id="{104BE594-4C81-1F48-9764-2D594CE620EE}"/>
              </a:ext>
            </a:extLst>
          </p:cNvPr>
          <p:cNvSpPr/>
          <p:nvPr/>
        </p:nvSpPr>
        <p:spPr>
          <a:xfrm>
            <a:off x="8068100" y="4388697"/>
            <a:ext cx="1034956" cy="655092"/>
          </a:xfrm>
          <a:prstGeom prst="donut">
            <a:avLst>
              <a:gd name="adj" fmla="val 1863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67BA10-A397-DF4B-A4F8-830219BE338D}"/>
              </a:ext>
            </a:extLst>
          </p:cNvPr>
          <p:cNvSpPr txBox="1"/>
          <p:nvPr/>
        </p:nvSpPr>
        <p:spPr>
          <a:xfrm>
            <a:off x="1061884" y="5939600"/>
            <a:ext cx="80411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I don’t believe that 1/3 of applicants are considered, and only 1% of these are eligible and interested. </a:t>
            </a:r>
          </a:p>
        </p:txBody>
      </p:sp>
    </p:spTree>
    <p:extLst>
      <p:ext uri="{BB962C8B-B14F-4D97-AF65-F5344CB8AC3E}">
        <p14:creationId xmlns:p14="http://schemas.microsoft.com/office/powerpoint/2010/main" val="1957878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D7FEA-CC14-5647-B85A-721E18DA6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Up: 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FF130-82F8-D14C-B6CB-2ED250A0A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Solving the mystery: what could explain high ‘considered’ rate?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key missing feature: affordability at different income levels.</a:t>
            </a:r>
          </a:p>
        </p:txBody>
      </p:sp>
    </p:spTree>
    <p:extLst>
      <p:ext uri="{BB962C8B-B14F-4D97-AF65-F5344CB8AC3E}">
        <p14:creationId xmlns:p14="http://schemas.microsoft.com/office/powerpoint/2010/main" val="34063337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D7FEA-CC14-5647-B85A-721E18DA6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Up: Part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FF130-82F8-D14C-B6CB-2ED250A0A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Solving the mystery: what could explain high ‘considered’ rate?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key missing feature: affordability at different income levels.</a:t>
            </a:r>
          </a:p>
        </p:txBody>
      </p:sp>
      <p:pic>
        <p:nvPicPr>
          <p:cNvPr id="13" name="Picture 12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5B3B263A-F067-474D-9BDB-92F7F85CF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22" y="2677608"/>
            <a:ext cx="3275100" cy="3931920"/>
          </a:xfrm>
          <a:prstGeom prst="rect">
            <a:avLst/>
          </a:prstGeom>
        </p:spPr>
      </p:pic>
      <p:graphicFrame>
        <p:nvGraphicFramePr>
          <p:cNvPr id="18" name="Table 18">
            <a:extLst>
              <a:ext uri="{FF2B5EF4-FFF2-40B4-BE49-F238E27FC236}">
                <a16:creationId xmlns:a16="http://schemas.microsoft.com/office/drawing/2014/main" id="{96961F62-8007-3A42-9991-3B8FCE3C5102}"/>
              </a:ext>
            </a:extLst>
          </p:cNvPr>
          <p:cNvGraphicFramePr>
            <a:graphicFrameLocks noGrp="1"/>
          </p:cNvGraphicFramePr>
          <p:nvPr/>
        </p:nvGraphicFramePr>
        <p:xfrm>
          <a:off x="4366343" y="2677608"/>
          <a:ext cx="7492181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379">
                  <a:extLst>
                    <a:ext uri="{9D8B030D-6E8A-4147-A177-3AD203B41FA5}">
                      <a16:colId xmlns:a16="http://schemas.microsoft.com/office/drawing/2014/main" val="4128359119"/>
                    </a:ext>
                  </a:extLst>
                </a:gridCol>
                <a:gridCol w="1462369">
                  <a:extLst>
                    <a:ext uri="{9D8B030D-6E8A-4147-A177-3AD203B41FA5}">
                      <a16:colId xmlns:a16="http://schemas.microsoft.com/office/drawing/2014/main" val="3638154225"/>
                    </a:ext>
                  </a:extLst>
                </a:gridCol>
                <a:gridCol w="1017639">
                  <a:extLst>
                    <a:ext uri="{9D8B030D-6E8A-4147-A177-3AD203B41FA5}">
                      <a16:colId xmlns:a16="http://schemas.microsoft.com/office/drawing/2014/main" val="2164705949"/>
                    </a:ext>
                  </a:extLst>
                </a:gridCol>
                <a:gridCol w="870155">
                  <a:extLst>
                    <a:ext uri="{9D8B030D-6E8A-4147-A177-3AD203B41FA5}">
                      <a16:colId xmlns:a16="http://schemas.microsoft.com/office/drawing/2014/main" val="2413270902"/>
                    </a:ext>
                  </a:extLst>
                </a:gridCol>
                <a:gridCol w="1283110">
                  <a:extLst>
                    <a:ext uri="{9D8B030D-6E8A-4147-A177-3AD203B41FA5}">
                      <a16:colId xmlns:a16="http://schemas.microsoft.com/office/drawing/2014/main" val="7700603"/>
                    </a:ext>
                  </a:extLst>
                </a:gridCol>
                <a:gridCol w="2020529">
                  <a:extLst>
                    <a:ext uri="{9D8B030D-6E8A-4147-A177-3AD203B41FA5}">
                      <a16:colId xmlns:a16="http://schemas.microsoft.com/office/drawing/2014/main" val="4216315700"/>
                    </a:ext>
                  </a:extLst>
                </a:gridCol>
              </a:tblGrid>
              <a:tr h="505756">
                <a:tc>
                  <a:txBody>
                    <a:bodyPr/>
                    <a:lstStyle/>
                    <a:p>
                      <a:r>
                        <a:rPr lang="en-US" dirty="0"/>
                        <a:t>AMI %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Layout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Units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Monthly 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Household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Household Income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5758223"/>
                  </a:ext>
                </a:extLst>
              </a:tr>
              <a:tr h="2890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person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$19,303 - $25,080 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697330"/>
                  </a:ext>
                </a:extLst>
              </a:tr>
              <a:tr h="289004">
                <a:tc>
                  <a:txBody>
                    <a:bodyPr/>
                    <a:lstStyle/>
                    <a:p>
                      <a:r>
                        <a:rPr lang="en-US" dirty="0"/>
                        <a:t>30% 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 Bedroom 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 units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$465 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people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$19,303 - $28,650 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212648"/>
                  </a:ext>
                </a:extLst>
              </a:tr>
              <a:tr h="2890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people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$19,303 - $32,220 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075149"/>
                  </a:ext>
                </a:extLst>
              </a:tr>
              <a:tr h="2890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person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$46,732 - $58,520 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488651"/>
                  </a:ext>
                </a:extLst>
              </a:tr>
              <a:tr h="289004">
                <a:tc>
                  <a:txBody>
                    <a:bodyPr/>
                    <a:lstStyle/>
                    <a:p>
                      <a:r>
                        <a:rPr lang="en-US" dirty="0"/>
                        <a:t>70% 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 Bedroom 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18 units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$1,265 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 people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$46,732 - $66,850 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674231"/>
                  </a:ext>
                </a:extLst>
              </a:tr>
              <a:tr h="2890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 people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$46,732 - $75,180 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241898"/>
                  </a:ext>
                </a:extLst>
              </a:tr>
              <a:tr h="2890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person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$69,395 - $108,680 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588781"/>
                  </a:ext>
                </a:extLst>
              </a:tr>
              <a:tr h="289004">
                <a:tc>
                  <a:txBody>
                    <a:bodyPr/>
                    <a:lstStyle/>
                    <a:p>
                      <a:r>
                        <a:rPr lang="en-US" dirty="0"/>
                        <a:t>130% 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 Bedroom 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23 units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$1,926 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 people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$69,395 - $124,150 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334834"/>
                  </a:ext>
                </a:extLst>
              </a:tr>
              <a:tr h="28900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 people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$69,395 - $139,620 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067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29488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2983-61E2-C947-8619-8E5A060E2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9ED44-28E3-E041-8EBD-4B55D42CC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housingconnect.nyc.gov</a:t>
            </a:r>
            <a:r>
              <a:rPr lang="en-US" dirty="0"/>
              <a:t>/</a:t>
            </a:r>
            <a:r>
              <a:rPr lang="en-US" dirty="0" err="1"/>
              <a:t>PublicWeb</a:t>
            </a:r>
            <a:r>
              <a:rPr lang="en-US" dirty="0"/>
              <a:t>/details/2684</a:t>
            </a:r>
          </a:p>
        </p:txBody>
      </p:sp>
    </p:spTree>
    <p:extLst>
      <p:ext uri="{BB962C8B-B14F-4D97-AF65-F5344CB8AC3E}">
        <p14:creationId xmlns:p14="http://schemas.microsoft.com/office/powerpoint/2010/main" val="36817327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0A25-DFDD-AE4D-9ADF-CE277B0A2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Multi-Stage 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0C1794-3AA5-7444-A25F-3A6250305E57}"/>
              </a:ext>
            </a:extLst>
          </p:cNvPr>
          <p:cNvSpPr/>
          <p:nvPr/>
        </p:nvSpPr>
        <p:spPr>
          <a:xfrm>
            <a:off x="1863434" y="1975060"/>
            <a:ext cx="2133600" cy="550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Applicants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D437D6-2E0B-0F42-AC8B-72D973F74EAA}"/>
              </a:ext>
            </a:extLst>
          </p:cNvPr>
          <p:cNvSpPr/>
          <p:nvPr/>
        </p:nvSpPr>
        <p:spPr>
          <a:xfrm>
            <a:off x="1863434" y="3281366"/>
            <a:ext cx="2133600" cy="550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Considered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FE032A-421C-D043-9DB5-EBDA2ADDD8B5}"/>
              </a:ext>
            </a:extLst>
          </p:cNvPr>
          <p:cNvSpPr/>
          <p:nvPr/>
        </p:nvSpPr>
        <p:spPr>
          <a:xfrm>
            <a:off x="1863433" y="4587677"/>
            <a:ext cx="2073581" cy="5507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Offered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B2582B-E711-6D4E-B28C-DEC747D6D912}"/>
              </a:ext>
            </a:extLst>
          </p:cNvPr>
          <p:cNvSpPr/>
          <p:nvPr/>
        </p:nvSpPr>
        <p:spPr>
          <a:xfrm>
            <a:off x="1863433" y="5942156"/>
            <a:ext cx="2085114" cy="550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Housed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FED948-5464-614B-8E79-199E86CE666D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2930234" y="2525778"/>
            <a:ext cx="0" cy="755588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6B342D-F42B-604D-AF33-D3EA9178BED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930234" y="2525778"/>
            <a:ext cx="1293667" cy="485066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825033-DB9E-304E-BD56-8172753BB9FB}"/>
              </a:ext>
            </a:extLst>
          </p:cNvPr>
          <p:cNvSpPr txBox="1"/>
          <p:nvPr/>
        </p:nvSpPr>
        <p:spPr>
          <a:xfrm>
            <a:off x="4696686" y="2479475"/>
            <a:ext cx="749530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Community Preference affects who is </a:t>
            </a:r>
            <a:r>
              <a:rPr lang="en-US" sz="2800" b="1" dirty="0"/>
              <a:t>considered.</a:t>
            </a:r>
          </a:p>
          <a:p>
            <a:endParaRPr lang="en-US" sz="2800" b="1" dirty="0"/>
          </a:p>
          <a:p>
            <a:endParaRPr lang="en-US" sz="2800" b="1" dirty="0"/>
          </a:p>
          <a:p>
            <a:r>
              <a:rPr lang="en-US" sz="2800" dirty="0"/>
              <a:t>Outsiders could be less likely to be eligible.</a:t>
            </a:r>
            <a:endParaRPr lang="en-US" sz="2800" b="1" dirty="0"/>
          </a:p>
          <a:p>
            <a:endParaRPr lang="en-US" sz="2800" b="1" dirty="0"/>
          </a:p>
          <a:p>
            <a:endParaRPr lang="en-US" sz="2800" b="1" dirty="0"/>
          </a:p>
          <a:p>
            <a:r>
              <a:rPr lang="en-US" sz="2800" dirty="0"/>
              <a:t>Outsiders could be less likely to accept an offer.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28969A-AFAE-1C44-8384-A9120FF466D7}"/>
              </a:ext>
            </a:extLst>
          </p:cNvPr>
          <p:cNvSpPr txBox="1"/>
          <p:nvPr/>
        </p:nvSpPr>
        <p:spPr>
          <a:xfrm>
            <a:off x="313590" y="2613311"/>
            <a:ext cx="1740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Considered?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F7253F-DA67-8443-ADDA-6A7FC998CF73}"/>
              </a:ext>
            </a:extLst>
          </p:cNvPr>
          <p:cNvSpPr txBox="1"/>
          <p:nvPr/>
        </p:nvSpPr>
        <p:spPr>
          <a:xfrm>
            <a:off x="313590" y="4007150"/>
            <a:ext cx="2073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Found Eligible?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FE3959-3FB3-DF49-B9B2-5EDED0D4DDE1}"/>
              </a:ext>
            </a:extLst>
          </p:cNvPr>
          <p:cNvSpPr txBox="1"/>
          <p:nvPr/>
        </p:nvSpPr>
        <p:spPr>
          <a:xfrm>
            <a:off x="313590" y="5304858"/>
            <a:ext cx="2129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Still Interested?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12AA073-1A88-C842-BD5F-ECA549E56852}"/>
              </a:ext>
            </a:extLst>
          </p:cNvPr>
          <p:cNvCxnSpPr>
            <a:cxnSpLocks/>
          </p:cNvCxnSpPr>
          <p:nvPr/>
        </p:nvCxnSpPr>
        <p:spPr>
          <a:xfrm>
            <a:off x="2895595" y="3832084"/>
            <a:ext cx="0" cy="755588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38875D0-D6CE-C346-AB14-B19FCF02304E}"/>
              </a:ext>
            </a:extLst>
          </p:cNvPr>
          <p:cNvCxnSpPr>
            <a:cxnSpLocks/>
          </p:cNvCxnSpPr>
          <p:nvPr/>
        </p:nvCxnSpPr>
        <p:spPr>
          <a:xfrm>
            <a:off x="2871351" y="5179722"/>
            <a:ext cx="0" cy="755588"/>
          </a:xfrm>
          <a:prstGeom prst="straightConnector1">
            <a:avLst/>
          </a:prstGeom>
          <a:ln w="63500">
            <a:solidFill>
              <a:schemeClr val="accent6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2D9C192-2C76-DC44-B786-A9B0F2CA1E65}"/>
              </a:ext>
            </a:extLst>
          </p:cNvPr>
          <p:cNvCxnSpPr>
            <a:cxnSpLocks/>
          </p:cNvCxnSpPr>
          <p:nvPr/>
        </p:nvCxnSpPr>
        <p:spPr>
          <a:xfrm>
            <a:off x="2930234" y="3842599"/>
            <a:ext cx="1293667" cy="485066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4C4722A-F342-DF4F-8385-4691039C796B}"/>
              </a:ext>
            </a:extLst>
          </p:cNvPr>
          <p:cNvCxnSpPr>
            <a:cxnSpLocks/>
          </p:cNvCxnSpPr>
          <p:nvPr/>
        </p:nvCxnSpPr>
        <p:spPr>
          <a:xfrm>
            <a:off x="2907722" y="5179722"/>
            <a:ext cx="1293667" cy="485066"/>
          </a:xfrm>
          <a:prstGeom prst="straightConnector1">
            <a:avLst/>
          </a:prstGeom>
          <a:ln w="63500">
            <a:solidFill>
              <a:srgbClr val="FF000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5681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44E5-DDA3-894F-8830-309B5EA28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40" y="158630"/>
            <a:ext cx="10515600" cy="1325563"/>
          </a:xfrm>
        </p:spPr>
        <p:txBody>
          <a:bodyPr/>
          <a:lstStyle/>
          <a:p>
            <a:r>
              <a:rPr lang="en-US" dirty="0"/>
              <a:t>Analysis of “Apparently Eligible” applicants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70955F-D7A8-F54C-9082-2F19AA4AB1CA}"/>
              </a:ext>
            </a:extLst>
          </p:cNvPr>
          <p:cNvSpPr txBox="1"/>
          <p:nvPr/>
        </p:nvSpPr>
        <p:spPr>
          <a:xfrm>
            <a:off x="180840" y="1484193"/>
            <a:ext cx="1201116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Challenge: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Not all applicants are eligible.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We don’t observe which applicants are eligible.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r>
              <a:rPr lang="en-US" sz="2800" dirty="0"/>
              <a:t>Proposed Solution: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Determine “apparently eligibility” from self-reported income, household data.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Analyze only apparently eligible applicants.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  <a:p>
            <a:r>
              <a:rPr lang="en-US" sz="2800" dirty="0"/>
              <a:t>Concerns: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Many apparently eligible applicants are not eligible.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/>
              <a:t>Some apparently </a:t>
            </a:r>
            <a:r>
              <a:rPr lang="en-US" sz="2800" b="1" i="1" dirty="0"/>
              <a:t>in</a:t>
            </a:r>
            <a:r>
              <a:rPr lang="en-US" sz="2800" dirty="0"/>
              <a:t>eligible applicants are eligible (and housed).			  844 units (out of 10,245) awarded to “apparently ineligible” applicants.</a:t>
            </a:r>
          </a:p>
          <a:p>
            <a:r>
              <a:rPr lang="en-US" sz="2800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27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3161</TotalTime>
  <Words>1797</Words>
  <Application>Microsoft Macintosh PowerPoint</Application>
  <PresentationFormat>Widescreen</PresentationFormat>
  <Paragraphs>304</Paragraphs>
  <Slides>36</Slides>
  <Notes>0</Notes>
  <HiddenSlides>10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Do “Community Preference” Policies Violate the Fair Housing Act?</vt:lpstr>
      <vt:lpstr>New York Affordable Housing Lotteries</vt:lpstr>
      <vt:lpstr>Community Preference Policy</vt:lpstr>
      <vt:lpstr>How to establish  “disparate impact on the basis of race”?</vt:lpstr>
      <vt:lpstr>How to establish  “disparate impact on the basis of race”?</vt:lpstr>
      <vt:lpstr>How to establish  “disparate impact on the basis of race”?</vt:lpstr>
      <vt:lpstr>Recap: My Critique of Beveridge’s Report</vt:lpstr>
      <vt:lpstr>Recap: My Critique of Beveridge’s Report</vt:lpstr>
      <vt:lpstr>Recap: My Critique of Beveridge’s Report</vt:lpstr>
      <vt:lpstr>Recap: My Critique of Beveridge’s Report</vt:lpstr>
      <vt:lpstr>My Critique of Beveridge’s Report</vt:lpstr>
      <vt:lpstr>My Critique of Siskin’s Report</vt:lpstr>
      <vt:lpstr>Siskin’s Analysis</vt:lpstr>
      <vt:lpstr>Siskin’s First Point is Irrelevant</vt:lpstr>
      <vt:lpstr>Siskin’s First Point is Irrelevant</vt:lpstr>
      <vt:lpstr>Siskin’s Second Point, Part 1: CP has Little Effect on Race of Awardees City-Wide</vt:lpstr>
      <vt:lpstr>Siskin’s Second Point, Part 1: CP has Little Effect on Race of Awardees City-Wide</vt:lpstr>
      <vt:lpstr>Is City-Wide Analysis Reasonable?</vt:lpstr>
      <vt:lpstr>Is City-Wide Analysis Reasonable?</vt:lpstr>
      <vt:lpstr>How to measure segregation?</vt:lpstr>
      <vt:lpstr>Analyzing City-Wide Effect of CP on Consideration Chance, by Race</vt:lpstr>
      <vt:lpstr>Siskin’s Second Point, Part 2: CP has Little Effect on City-Wide Measures of Segregation</vt:lpstr>
      <vt:lpstr>Siskin’s Second Point, Part 2: CP has Little Effect on City-Wide Measures of Segregation</vt:lpstr>
      <vt:lpstr>Siskin’s Third Point: Look at Considered Applicants, not Awarded Applicants</vt:lpstr>
      <vt:lpstr>Siskin’s Third Point: Look at Considered Applicants, not Awarded Applicants</vt:lpstr>
      <vt:lpstr>Siskin’s Description</vt:lpstr>
      <vt:lpstr>Siskin’s Description</vt:lpstr>
      <vt:lpstr>PowerPoint Presentation</vt:lpstr>
      <vt:lpstr>How to Determine Considered Applicants?</vt:lpstr>
      <vt:lpstr>Some Suspicious Findings</vt:lpstr>
      <vt:lpstr>Some Suspicious Findings</vt:lpstr>
      <vt:lpstr>Coming Up: Part 3</vt:lpstr>
      <vt:lpstr>Coming Up: Part 3</vt:lpstr>
      <vt:lpstr>PowerPoint Presentation</vt:lpstr>
      <vt:lpstr>Multi-Stage Pipeline</vt:lpstr>
      <vt:lpstr>Analysis of “Apparently Eligible” applicants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Nicholas A Arnosti</dc:creator>
  <cp:lastModifiedBy>Nicholas A Arnosti</cp:lastModifiedBy>
  <cp:revision>83</cp:revision>
  <dcterms:created xsi:type="dcterms:W3CDTF">2022-01-23T08:05:15Z</dcterms:created>
  <dcterms:modified xsi:type="dcterms:W3CDTF">2022-02-13T19:47:24Z</dcterms:modified>
</cp:coreProperties>
</file>