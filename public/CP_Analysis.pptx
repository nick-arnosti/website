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536" r:id="rId2"/>
    <p:sldId id="537" r:id="rId3"/>
    <p:sldId id="523" r:id="rId4"/>
    <p:sldId id="305" r:id="rId5"/>
    <p:sldId id="538" r:id="rId6"/>
    <p:sldId id="571" r:id="rId7"/>
    <p:sldId id="569" r:id="rId8"/>
    <p:sldId id="572" r:id="rId9"/>
    <p:sldId id="529" r:id="rId10"/>
    <p:sldId id="306" r:id="rId11"/>
    <p:sldId id="493" r:id="rId12"/>
    <p:sldId id="539" r:id="rId13"/>
    <p:sldId id="540" r:id="rId14"/>
    <p:sldId id="541" r:id="rId15"/>
    <p:sldId id="542" r:id="rId16"/>
    <p:sldId id="527" r:id="rId17"/>
    <p:sldId id="528" r:id="rId18"/>
    <p:sldId id="543" r:id="rId19"/>
    <p:sldId id="544" r:id="rId20"/>
    <p:sldId id="524" r:id="rId21"/>
    <p:sldId id="530" r:id="rId22"/>
    <p:sldId id="545" r:id="rId23"/>
    <p:sldId id="554" r:id="rId24"/>
    <p:sldId id="531" r:id="rId25"/>
    <p:sldId id="551" r:id="rId26"/>
    <p:sldId id="552" r:id="rId27"/>
    <p:sldId id="553" r:id="rId28"/>
    <p:sldId id="555" r:id="rId29"/>
    <p:sldId id="508" r:id="rId30"/>
    <p:sldId id="556" r:id="rId31"/>
    <p:sldId id="557" r:id="rId32"/>
    <p:sldId id="558" r:id="rId33"/>
    <p:sldId id="573" r:id="rId34"/>
    <p:sldId id="559" r:id="rId35"/>
    <p:sldId id="560" r:id="rId36"/>
    <p:sldId id="532" r:id="rId37"/>
    <p:sldId id="561" r:id="rId38"/>
    <p:sldId id="546" r:id="rId39"/>
    <p:sldId id="533" r:id="rId40"/>
    <p:sldId id="568" r:id="rId41"/>
    <p:sldId id="562" r:id="rId42"/>
    <p:sldId id="563" r:id="rId43"/>
    <p:sldId id="564" r:id="rId44"/>
    <p:sldId id="565" r:id="rId45"/>
    <p:sldId id="547" r:id="rId46"/>
    <p:sldId id="517" r:id="rId47"/>
    <p:sldId id="525" r:id="rId48"/>
    <p:sldId id="342" r:id="rId49"/>
    <p:sldId id="522" r:id="rId50"/>
    <p:sldId id="549" r:id="rId51"/>
    <p:sldId id="550" r:id="rId52"/>
    <p:sldId id="494" r:id="rId53"/>
    <p:sldId id="505" r:id="rId54"/>
    <p:sldId id="507" r:id="rId55"/>
    <p:sldId id="510" r:id="rId56"/>
    <p:sldId id="535" r:id="rId57"/>
    <p:sldId id="534" r:id="rId58"/>
    <p:sldId id="509" r:id="rId59"/>
    <p:sldId id="515" r:id="rId60"/>
    <p:sldId id="518" r:id="rId61"/>
    <p:sldId id="519" r:id="rId62"/>
    <p:sldId id="521" r:id="rId63"/>
    <p:sldId id="520" r:id="rId64"/>
    <p:sldId id="511" r:id="rId65"/>
    <p:sldId id="512" r:id="rId66"/>
    <p:sldId id="513" r:id="rId67"/>
    <p:sldId id="514"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8298"/>
    <p:restoredTop sz="95775"/>
  </p:normalViewPr>
  <p:slideViewPr>
    <p:cSldViewPr snapToGrid="0" snapToObjects="1">
      <p:cViewPr varScale="1">
        <p:scale>
          <a:sx n="71" d="100"/>
          <a:sy n="71" d="100"/>
        </p:scale>
        <p:origin x="176" y="10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D55F-E306-08E7-ED35-769B13D012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4FA05F-7B67-79D1-1EDD-E8A43E6679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6813F5-9223-3CF1-D72B-97BDCFD477A3}"/>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5" name="Footer Placeholder 4">
            <a:extLst>
              <a:ext uri="{FF2B5EF4-FFF2-40B4-BE49-F238E27FC236}">
                <a16:creationId xmlns:a16="http://schemas.microsoft.com/office/drawing/2014/main" id="{BE42E4B9-268E-67ED-97B3-656020357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393FAA-276A-0AD5-C370-02F7F7179925}"/>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1423815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A7D5-41EA-6F4D-9209-0D41BBCF4B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292E44-921E-8FD2-9AD9-E31B439081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47A5ED-E2C3-B117-41B5-E32CB2FF5A2E}"/>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5" name="Footer Placeholder 4">
            <a:extLst>
              <a:ext uri="{FF2B5EF4-FFF2-40B4-BE49-F238E27FC236}">
                <a16:creationId xmlns:a16="http://schemas.microsoft.com/office/drawing/2014/main" id="{536381F5-FDC1-489D-D884-827EADC88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44A3E-44E7-697C-36EC-AF225A3F2E24}"/>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967197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22ED-5B39-6BBF-160E-CEDE24764E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6317B9-EA19-3B70-4157-E3C9CAFC6E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E3C26-1AD9-520C-79D4-807AB296150E}"/>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5" name="Footer Placeholder 4">
            <a:extLst>
              <a:ext uri="{FF2B5EF4-FFF2-40B4-BE49-F238E27FC236}">
                <a16:creationId xmlns:a16="http://schemas.microsoft.com/office/drawing/2014/main" id="{BF708B4D-1CAB-84FF-91F6-AA32EBCF6F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32B136-9B8E-B127-18CE-54A29A43430A}"/>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17379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2F2C7-B92A-6E93-9B68-4AB46636D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29E43D-9BB3-E2F6-544D-332FFB6D6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6A5889-79A0-719B-CA43-4765B355B6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E7446F-C066-304F-EFAD-31C886290C36}"/>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6" name="Footer Placeholder 5">
            <a:extLst>
              <a:ext uri="{FF2B5EF4-FFF2-40B4-BE49-F238E27FC236}">
                <a16:creationId xmlns:a16="http://schemas.microsoft.com/office/drawing/2014/main" id="{D8E0153F-50AE-A322-496F-A411D1069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A2A84B-FF12-FBDC-7BDD-16A4462CC255}"/>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294555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62457-7C64-5D5F-DF1D-2D5BF2971E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E9A048-F1F6-9878-9354-EAD64F1C92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AE10D5-7584-091A-63B1-01A14A0C01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9AD2BA-81EB-203E-6F39-9CD4BE8861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62041B-F606-7546-C618-D0E257468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C9822A-4B1C-876C-3582-3E131B96DFFF}"/>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8" name="Footer Placeholder 7">
            <a:extLst>
              <a:ext uri="{FF2B5EF4-FFF2-40B4-BE49-F238E27FC236}">
                <a16:creationId xmlns:a16="http://schemas.microsoft.com/office/drawing/2014/main" id="{0117CEF5-D1C2-70C7-DAEA-DC39E2EA8B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11494E-71A0-E002-B0FC-38D02E3F4E5C}"/>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819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16BA2-6509-5234-1DD4-2875AEFAE2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2A658-1F70-9339-9DD5-355D20100C6C}"/>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4" name="Footer Placeholder 3">
            <a:extLst>
              <a:ext uri="{FF2B5EF4-FFF2-40B4-BE49-F238E27FC236}">
                <a16:creationId xmlns:a16="http://schemas.microsoft.com/office/drawing/2014/main" id="{CDE1B7D3-9502-5AB3-163B-83E4C54698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1559BD-BB80-87DD-8E09-457ABAA05C7F}"/>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702289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538FDD-817E-7ABD-0A8B-270C8D94971E}"/>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3" name="Footer Placeholder 2">
            <a:extLst>
              <a:ext uri="{FF2B5EF4-FFF2-40B4-BE49-F238E27FC236}">
                <a16:creationId xmlns:a16="http://schemas.microsoft.com/office/drawing/2014/main" id="{C674D938-4196-A349-905B-9A05701F2B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C2FA16-AF21-A404-2C07-E4621DD9E36B}"/>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33415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C048A-9149-F27A-1706-9D113352A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75D9C3-923D-B47D-4F89-E8382A904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B1E6C-0AF1-B57A-D590-1B66F5A4F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65FC71-6503-5A53-DCDA-7ABA2E2870BC}"/>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6" name="Footer Placeholder 5">
            <a:extLst>
              <a:ext uri="{FF2B5EF4-FFF2-40B4-BE49-F238E27FC236}">
                <a16:creationId xmlns:a16="http://schemas.microsoft.com/office/drawing/2014/main" id="{C6006C37-B814-8EDB-5898-1006ABC4D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F71522-1AD3-2B2F-9958-3C8784AACE33}"/>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4216550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27ACE-F7D5-1E46-ACC3-A22CBED07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4E7CC9-5946-2969-EA73-59A057F7E4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743825-AF47-147F-9628-447B88B4D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04CA7-BA33-52C2-2EFE-E57B29ABB689}"/>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6" name="Footer Placeholder 5">
            <a:extLst>
              <a:ext uri="{FF2B5EF4-FFF2-40B4-BE49-F238E27FC236}">
                <a16:creationId xmlns:a16="http://schemas.microsoft.com/office/drawing/2014/main" id="{E99C9424-4B50-84B7-C573-86751A3CCE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DADADF-CFB3-7E44-E87B-98104BB30D35}"/>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2150121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CFE0-EC3F-BDE1-8C46-9D71E15C10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B95968-1175-64DD-0D0B-E3982C9CD7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CDB03-8B0C-42A7-ECDC-02A5A162B7A7}"/>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5" name="Footer Placeholder 4">
            <a:extLst>
              <a:ext uri="{FF2B5EF4-FFF2-40B4-BE49-F238E27FC236}">
                <a16:creationId xmlns:a16="http://schemas.microsoft.com/office/drawing/2014/main" id="{F185564A-2A78-93CF-2E48-D0B8F9C72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A01BF-8E0D-B51E-BD65-53AB57844DFE}"/>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159113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C773CC-C306-2328-A447-30011894BB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3A9997-D216-81D7-15F9-FDFD3196F6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FB7E5-7A0B-3814-EE78-D33E3EC8659A}"/>
              </a:ext>
            </a:extLst>
          </p:cNvPr>
          <p:cNvSpPr>
            <a:spLocks noGrp="1"/>
          </p:cNvSpPr>
          <p:nvPr>
            <p:ph type="dt" sz="half" idx="10"/>
          </p:nvPr>
        </p:nvSpPr>
        <p:spPr/>
        <p:txBody>
          <a:bodyPr/>
          <a:lstStyle/>
          <a:p>
            <a:fld id="{A6A9F2F8-2FA8-924F-89FE-A3BB5A62C700}" type="datetimeFigureOut">
              <a:rPr lang="en-US" smtClean="0"/>
              <a:t>6/10/22</a:t>
            </a:fld>
            <a:endParaRPr lang="en-US"/>
          </a:p>
        </p:txBody>
      </p:sp>
      <p:sp>
        <p:nvSpPr>
          <p:cNvPr id="5" name="Footer Placeholder 4">
            <a:extLst>
              <a:ext uri="{FF2B5EF4-FFF2-40B4-BE49-F238E27FC236}">
                <a16:creationId xmlns:a16="http://schemas.microsoft.com/office/drawing/2014/main" id="{3B229B77-F81D-FB99-9F64-6B9A1D732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C59F3-AA9B-C5FF-1C4A-7FB72A78EF18}"/>
              </a:ext>
            </a:extLst>
          </p:cNvPr>
          <p:cNvSpPr>
            <a:spLocks noGrp="1"/>
          </p:cNvSpPr>
          <p:nvPr>
            <p:ph type="sldNum" sz="quarter" idx="12"/>
          </p:nvPr>
        </p:nvSpPr>
        <p:spPr/>
        <p:txBody>
          <a:bodyPr/>
          <a:lstStyle/>
          <a:p>
            <a:fld id="{663F5C96-2273-6E4B-BE7C-C94F7E61B35C}" type="slidenum">
              <a:rPr lang="en-US" smtClean="0"/>
              <a:t>‹#›</a:t>
            </a:fld>
            <a:endParaRPr lang="en-US"/>
          </a:p>
        </p:txBody>
      </p:sp>
    </p:spTree>
    <p:extLst>
      <p:ext uri="{BB962C8B-B14F-4D97-AF65-F5344CB8AC3E}">
        <p14:creationId xmlns:p14="http://schemas.microsoft.com/office/powerpoint/2010/main" val="3655810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B002B1-A86C-9F87-4926-2F3DD0E8A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A1AF81-B2AC-7FF7-9BDD-18ECBA8846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9546DC-83D0-2E5A-AA7C-FBC4FE32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A9F2F8-2FA8-924F-89FE-A3BB5A62C700}" type="datetimeFigureOut">
              <a:rPr lang="en-US" smtClean="0"/>
              <a:t>6/10/22</a:t>
            </a:fld>
            <a:endParaRPr lang="en-US"/>
          </a:p>
        </p:txBody>
      </p:sp>
      <p:sp>
        <p:nvSpPr>
          <p:cNvPr id="5" name="Footer Placeholder 4">
            <a:extLst>
              <a:ext uri="{FF2B5EF4-FFF2-40B4-BE49-F238E27FC236}">
                <a16:creationId xmlns:a16="http://schemas.microsoft.com/office/drawing/2014/main" id="{B4F9C547-F34B-C205-5BA8-4385AE2E49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2A0D2F-0513-D3C5-1C20-78A99DA205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F5C96-2273-6E4B-BE7C-C94F7E61B35C}" type="slidenum">
              <a:rPr lang="en-US" smtClean="0"/>
              <a:t>‹#›</a:t>
            </a:fld>
            <a:endParaRPr lang="en-US"/>
          </a:p>
        </p:txBody>
      </p:sp>
    </p:spTree>
    <p:extLst>
      <p:ext uri="{BB962C8B-B14F-4D97-AF65-F5344CB8AC3E}">
        <p14:creationId xmlns:p14="http://schemas.microsoft.com/office/powerpoint/2010/main" val="1721123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A247-C052-C944-8AE6-C95450507EC4}"/>
              </a:ext>
            </a:extLst>
          </p:cNvPr>
          <p:cNvSpPr>
            <a:spLocks noGrp="1"/>
          </p:cNvSpPr>
          <p:nvPr>
            <p:ph type="ctrTitle"/>
          </p:nvPr>
        </p:nvSpPr>
        <p:spPr>
          <a:xfrm>
            <a:off x="880280" y="927835"/>
            <a:ext cx="10431439" cy="2387600"/>
          </a:xfrm>
        </p:spPr>
        <p:txBody>
          <a:bodyPr>
            <a:normAutofit fontScale="90000"/>
          </a:bodyPr>
          <a:lstStyle/>
          <a:p>
            <a:r>
              <a:rPr lang="en-US" dirty="0"/>
              <a:t>Do “Community Preference” Policies Violate the Fair Housing Act?</a:t>
            </a:r>
          </a:p>
        </p:txBody>
      </p:sp>
      <p:sp>
        <p:nvSpPr>
          <p:cNvPr id="3" name="Subtitle 2">
            <a:extLst>
              <a:ext uri="{FF2B5EF4-FFF2-40B4-BE49-F238E27FC236}">
                <a16:creationId xmlns:a16="http://schemas.microsoft.com/office/drawing/2014/main" id="{ACD6015C-D268-9C45-BBF3-F451C071B257}"/>
              </a:ext>
            </a:extLst>
          </p:cNvPr>
          <p:cNvSpPr>
            <a:spLocks noGrp="1"/>
          </p:cNvSpPr>
          <p:nvPr>
            <p:ph type="subTitle" idx="1"/>
          </p:nvPr>
        </p:nvSpPr>
        <p:spPr>
          <a:xfrm>
            <a:off x="1291988" y="3987800"/>
            <a:ext cx="9144000" cy="1655762"/>
          </a:xfrm>
        </p:spPr>
        <p:txBody>
          <a:bodyPr>
            <a:normAutofit/>
          </a:bodyPr>
          <a:lstStyle/>
          <a:p>
            <a:r>
              <a:rPr lang="en-US" sz="3600" dirty="0"/>
              <a:t>Part 3: My Conclusions</a:t>
            </a:r>
          </a:p>
          <a:p>
            <a:endParaRPr lang="en-US" sz="2800" dirty="0"/>
          </a:p>
          <a:p>
            <a:r>
              <a:rPr lang="en-US" sz="2800" dirty="0"/>
              <a:t>Nick </a:t>
            </a:r>
            <a:r>
              <a:rPr lang="en-US" sz="2800" dirty="0" err="1"/>
              <a:t>Arnosti</a:t>
            </a:r>
            <a:r>
              <a:rPr lang="en-US" sz="2800" dirty="0"/>
              <a:t> (not a legal scholar)</a:t>
            </a:r>
          </a:p>
        </p:txBody>
      </p:sp>
    </p:spTree>
    <p:extLst>
      <p:ext uri="{BB962C8B-B14F-4D97-AF65-F5344CB8AC3E}">
        <p14:creationId xmlns:p14="http://schemas.microsoft.com/office/powerpoint/2010/main" val="95072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A247-C052-C944-8AE6-C95450507EC4}"/>
              </a:ext>
            </a:extLst>
          </p:cNvPr>
          <p:cNvSpPr>
            <a:spLocks noGrp="1"/>
          </p:cNvSpPr>
          <p:nvPr>
            <p:ph type="ctrTitle"/>
          </p:nvPr>
        </p:nvSpPr>
        <p:spPr>
          <a:xfrm>
            <a:off x="880280" y="927835"/>
            <a:ext cx="10431439" cy="2387600"/>
          </a:xfrm>
        </p:spPr>
        <p:txBody>
          <a:bodyPr>
            <a:normAutofit fontScale="90000"/>
          </a:bodyPr>
          <a:lstStyle/>
          <a:p>
            <a:r>
              <a:rPr lang="en-US" dirty="0"/>
              <a:t>What are the effects of New York’s “Community Preference” Policy? </a:t>
            </a:r>
          </a:p>
        </p:txBody>
      </p:sp>
      <p:sp>
        <p:nvSpPr>
          <p:cNvPr id="3" name="Subtitle 2">
            <a:extLst>
              <a:ext uri="{FF2B5EF4-FFF2-40B4-BE49-F238E27FC236}">
                <a16:creationId xmlns:a16="http://schemas.microsoft.com/office/drawing/2014/main" id="{ACD6015C-D268-9C45-BBF3-F451C071B257}"/>
              </a:ext>
            </a:extLst>
          </p:cNvPr>
          <p:cNvSpPr>
            <a:spLocks noGrp="1"/>
          </p:cNvSpPr>
          <p:nvPr>
            <p:ph type="subTitle" idx="1"/>
          </p:nvPr>
        </p:nvSpPr>
        <p:spPr>
          <a:xfrm>
            <a:off x="1291988" y="3987800"/>
            <a:ext cx="9144000" cy="1655762"/>
          </a:xfrm>
        </p:spPr>
        <p:txBody>
          <a:bodyPr>
            <a:normAutofit/>
          </a:bodyPr>
          <a:lstStyle/>
          <a:p>
            <a:r>
              <a:rPr lang="en-US" sz="3600" dirty="0"/>
              <a:t>Part 3: My Conclusions</a:t>
            </a:r>
          </a:p>
          <a:p>
            <a:endParaRPr lang="en-US" sz="2800" dirty="0"/>
          </a:p>
          <a:p>
            <a:r>
              <a:rPr lang="en-US" sz="2800" dirty="0"/>
              <a:t>Nick </a:t>
            </a:r>
            <a:r>
              <a:rPr lang="en-US" sz="2800" dirty="0" err="1"/>
              <a:t>Arnosti</a:t>
            </a:r>
            <a:r>
              <a:rPr lang="en-US" sz="2800" dirty="0"/>
              <a:t> (not a legal scholar)</a:t>
            </a:r>
          </a:p>
        </p:txBody>
      </p:sp>
    </p:spTree>
    <p:extLst>
      <p:ext uri="{BB962C8B-B14F-4D97-AF65-F5344CB8AC3E}">
        <p14:creationId xmlns:p14="http://schemas.microsoft.com/office/powerpoint/2010/main" val="1383903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0D72-B1C5-A81E-C7AE-360CA1CF0D8C}"/>
              </a:ext>
            </a:extLst>
          </p:cNvPr>
          <p:cNvSpPr>
            <a:spLocks noGrp="1"/>
          </p:cNvSpPr>
          <p:nvPr>
            <p:ph type="title"/>
          </p:nvPr>
        </p:nvSpPr>
        <p:spPr/>
        <p:txBody>
          <a:bodyPr/>
          <a:lstStyle/>
          <a:p>
            <a:r>
              <a:rPr lang="en-US" dirty="0"/>
              <a:t>Talk Overview</a:t>
            </a:r>
          </a:p>
        </p:txBody>
      </p:sp>
      <p:sp>
        <p:nvSpPr>
          <p:cNvPr id="3" name="Content Placeholder 2">
            <a:extLst>
              <a:ext uri="{FF2B5EF4-FFF2-40B4-BE49-F238E27FC236}">
                <a16:creationId xmlns:a16="http://schemas.microsoft.com/office/drawing/2014/main" id="{C7A7A5C2-D18B-0BBD-2F46-ED6F20CBB1A0}"/>
              </a:ext>
            </a:extLst>
          </p:cNvPr>
          <p:cNvSpPr>
            <a:spLocks noGrp="1"/>
          </p:cNvSpPr>
          <p:nvPr>
            <p:ph idx="1"/>
          </p:nvPr>
        </p:nvSpPr>
        <p:spPr>
          <a:xfrm>
            <a:off x="838199" y="1825625"/>
            <a:ext cx="11640671" cy="4351338"/>
          </a:xfrm>
        </p:spPr>
        <p:txBody>
          <a:bodyPr>
            <a:normAutofit/>
          </a:bodyPr>
          <a:lstStyle/>
          <a:p>
            <a:pPr marL="514350" indent="-514350">
              <a:buFont typeface="+mj-lt"/>
              <a:buAutoNum type="arabicPeriod"/>
            </a:pPr>
            <a:r>
              <a:rPr lang="en-US" dirty="0"/>
              <a:t>Details of allocation process</a:t>
            </a:r>
          </a:p>
          <a:p>
            <a:pPr lvl="1"/>
            <a:r>
              <a:rPr lang="en-US" sz="2800" dirty="0"/>
              <a:t>Different unit types.</a:t>
            </a:r>
          </a:p>
          <a:p>
            <a:pPr lvl="1"/>
            <a:r>
              <a:rPr lang="en-US" sz="2800" dirty="0"/>
              <a:t>Developer screening algorithm.</a:t>
            </a:r>
          </a:p>
          <a:p>
            <a:pPr marL="514350" indent="-514350">
              <a:buFont typeface="+mj-lt"/>
              <a:buAutoNum type="arabicPeriod"/>
            </a:pPr>
            <a:endParaRPr lang="en-US" dirty="0"/>
          </a:p>
          <a:p>
            <a:pPr marL="514350" indent="-514350">
              <a:buFont typeface="+mj-lt"/>
              <a:buAutoNum type="arabicPeriod"/>
            </a:pPr>
            <a:r>
              <a:rPr lang="en-US" dirty="0"/>
              <a:t> </a:t>
            </a:r>
            <a:r>
              <a:rPr lang="en-US" dirty="0">
                <a:solidFill>
                  <a:srgbClr val="FF0000"/>
                </a:solidFill>
              </a:rPr>
              <a:t>Consequence:</a:t>
            </a:r>
            <a:r>
              <a:rPr lang="en-US" dirty="0"/>
              <a:t> </a:t>
            </a:r>
          </a:p>
          <a:p>
            <a:pPr marL="457200" lvl="1" indent="0">
              <a:buNone/>
            </a:pPr>
            <a:r>
              <a:rPr lang="en-US" sz="2800" dirty="0"/>
              <a:t>  Community Preference disproportionately affects low-income applicants!</a:t>
            </a:r>
          </a:p>
          <a:p>
            <a:pPr marL="457200" lvl="1" indent="0">
              <a:buNone/>
            </a:pPr>
            <a:endParaRPr lang="en-US" sz="2800" dirty="0"/>
          </a:p>
          <a:p>
            <a:pPr marL="514350" indent="-514350">
              <a:buFont typeface="+mj-lt"/>
              <a:buAutoNum type="arabicPeriod"/>
            </a:pPr>
            <a:r>
              <a:rPr lang="en-US" dirty="0"/>
              <a:t> Revisiting Beveridge’s and Siskin’s reports.</a:t>
            </a:r>
          </a:p>
          <a:p>
            <a:pPr marL="457200" lvl="1" indent="0">
              <a:buNone/>
            </a:pPr>
            <a:endParaRPr lang="en-US" sz="2600" dirty="0"/>
          </a:p>
          <a:p>
            <a:pPr marL="0" indent="0">
              <a:buNone/>
            </a:pPr>
            <a:endParaRPr lang="en-US" b="1" dirty="0">
              <a:solidFill>
                <a:srgbClr val="FF0000"/>
              </a:solidFill>
            </a:endParaRPr>
          </a:p>
        </p:txBody>
      </p:sp>
    </p:spTree>
    <p:extLst>
      <p:ext uri="{BB962C8B-B14F-4D97-AF65-F5344CB8AC3E}">
        <p14:creationId xmlns:p14="http://schemas.microsoft.com/office/powerpoint/2010/main" val="2448542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DAC3079-D8BD-D5A8-1F6B-12826E3E1E6F}"/>
              </a:ext>
            </a:extLst>
          </p:cNvPr>
          <p:cNvPicPr>
            <a:picLocks noGrp="1" noChangeAspect="1"/>
          </p:cNvPicPr>
          <p:nvPr>
            <p:ph idx="1"/>
          </p:nvPr>
        </p:nvPicPr>
        <p:blipFill>
          <a:blip r:embed="rId2"/>
          <a:stretch>
            <a:fillRect/>
          </a:stretch>
        </p:blipFill>
        <p:spPr>
          <a:xfrm>
            <a:off x="3073400" y="537591"/>
            <a:ext cx="8834120" cy="6183884"/>
          </a:xfrm>
        </p:spPr>
      </p:pic>
      <p:sp>
        <p:nvSpPr>
          <p:cNvPr id="4" name="Slide Number Placeholder 3">
            <a:extLst>
              <a:ext uri="{FF2B5EF4-FFF2-40B4-BE49-F238E27FC236}">
                <a16:creationId xmlns:a16="http://schemas.microsoft.com/office/drawing/2014/main" id="{D908F000-4951-19F4-9D5F-281B7628E7A4}"/>
              </a:ext>
            </a:extLst>
          </p:cNvPr>
          <p:cNvSpPr>
            <a:spLocks noGrp="1"/>
          </p:cNvSpPr>
          <p:nvPr>
            <p:ph type="sldNum" sz="quarter" idx="12"/>
          </p:nvPr>
        </p:nvSpPr>
        <p:spPr/>
        <p:txBody>
          <a:bodyPr/>
          <a:lstStyle/>
          <a:p>
            <a:fld id="{9E969584-4773-A84E-8391-EEC4BE76D611}" type="slidenum">
              <a:rPr lang="en-US" smtClean="0"/>
              <a:t>4</a:t>
            </a:fld>
            <a:endParaRPr lang="en-US"/>
          </a:p>
        </p:txBody>
      </p:sp>
      <p:sp>
        <p:nvSpPr>
          <p:cNvPr id="2" name="TextBox 1">
            <a:extLst>
              <a:ext uri="{FF2B5EF4-FFF2-40B4-BE49-F238E27FC236}">
                <a16:creationId xmlns:a16="http://schemas.microsoft.com/office/drawing/2014/main" id="{E04921CB-E7CD-2ED4-368D-B3B87958E02D}"/>
              </a:ext>
            </a:extLst>
          </p:cNvPr>
          <p:cNvSpPr txBox="1"/>
          <p:nvPr/>
        </p:nvSpPr>
        <p:spPr>
          <a:xfrm>
            <a:off x="284480" y="566678"/>
            <a:ext cx="2626360" cy="2862322"/>
          </a:xfrm>
          <a:prstGeom prst="rect">
            <a:avLst/>
          </a:prstGeom>
          <a:noFill/>
        </p:spPr>
        <p:txBody>
          <a:bodyPr wrap="square" rtlCol="0">
            <a:spAutoFit/>
          </a:bodyPr>
          <a:lstStyle/>
          <a:p>
            <a:r>
              <a:rPr lang="en-US" sz="3600" dirty="0"/>
              <a:t>Aren’t all applicants low income?</a:t>
            </a:r>
          </a:p>
          <a:p>
            <a:endParaRPr lang="en-US" sz="3600" dirty="0"/>
          </a:p>
          <a:p>
            <a:r>
              <a:rPr lang="en-US" sz="3600" b="1" dirty="0"/>
              <a:t>No.</a:t>
            </a:r>
          </a:p>
        </p:txBody>
      </p:sp>
    </p:spTree>
    <p:extLst>
      <p:ext uri="{BB962C8B-B14F-4D97-AF65-F5344CB8AC3E}">
        <p14:creationId xmlns:p14="http://schemas.microsoft.com/office/powerpoint/2010/main" val="174467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2"/>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Tree>
    <p:extLst>
      <p:ext uri="{BB962C8B-B14F-4D97-AF65-F5344CB8AC3E}">
        <p14:creationId xmlns:p14="http://schemas.microsoft.com/office/powerpoint/2010/main" val="2396914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rossword puzzle, receipt&#10;&#10;Description automatically generated">
            <a:extLst>
              <a:ext uri="{FF2B5EF4-FFF2-40B4-BE49-F238E27FC236}">
                <a16:creationId xmlns:a16="http://schemas.microsoft.com/office/drawing/2014/main" id="{D9A88709-92E0-5F79-2F41-92B44AE3AC15}"/>
              </a:ext>
            </a:extLst>
          </p:cNvPr>
          <p:cNvPicPr>
            <a:picLocks noGrp="1" noChangeAspect="1"/>
          </p:cNvPicPr>
          <p:nvPr>
            <p:ph idx="1"/>
          </p:nvPr>
        </p:nvPicPr>
        <p:blipFill>
          <a:blip r:embed="rId2"/>
          <a:stretch>
            <a:fillRect/>
          </a:stretch>
        </p:blipFill>
        <p:spPr>
          <a:xfrm>
            <a:off x="5240892" y="502529"/>
            <a:ext cx="6649263" cy="2461091"/>
          </a:xfrm>
        </p:spPr>
      </p:pic>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3"/>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Tree>
    <p:extLst>
      <p:ext uri="{BB962C8B-B14F-4D97-AF65-F5344CB8AC3E}">
        <p14:creationId xmlns:p14="http://schemas.microsoft.com/office/powerpoint/2010/main" val="2109291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rossword puzzle, receipt&#10;&#10;Description automatically generated">
            <a:extLst>
              <a:ext uri="{FF2B5EF4-FFF2-40B4-BE49-F238E27FC236}">
                <a16:creationId xmlns:a16="http://schemas.microsoft.com/office/drawing/2014/main" id="{D9A88709-92E0-5F79-2F41-92B44AE3AC15}"/>
              </a:ext>
            </a:extLst>
          </p:cNvPr>
          <p:cNvPicPr>
            <a:picLocks noGrp="1" noChangeAspect="1"/>
          </p:cNvPicPr>
          <p:nvPr>
            <p:ph idx="1"/>
          </p:nvPr>
        </p:nvPicPr>
        <p:blipFill>
          <a:blip r:embed="rId2"/>
          <a:stretch>
            <a:fillRect/>
          </a:stretch>
        </p:blipFill>
        <p:spPr>
          <a:xfrm>
            <a:off x="5240892" y="502529"/>
            <a:ext cx="6649263" cy="2461091"/>
          </a:xfrm>
        </p:spPr>
      </p:pic>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3"/>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
        <p:nvSpPr>
          <p:cNvPr id="2" name="Oval 1">
            <a:extLst>
              <a:ext uri="{FF2B5EF4-FFF2-40B4-BE49-F238E27FC236}">
                <a16:creationId xmlns:a16="http://schemas.microsoft.com/office/drawing/2014/main" id="{C162D068-F74A-E4FA-F63A-65BF6D834F09}"/>
              </a:ext>
            </a:extLst>
          </p:cNvPr>
          <p:cNvSpPr/>
          <p:nvPr/>
        </p:nvSpPr>
        <p:spPr>
          <a:xfrm>
            <a:off x="8878014" y="2232211"/>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F72E190-D985-0E37-10E7-3027B4ABF8D4}"/>
              </a:ext>
            </a:extLst>
          </p:cNvPr>
          <p:cNvSpPr/>
          <p:nvPr/>
        </p:nvSpPr>
        <p:spPr>
          <a:xfrm>
            <a:off x="8904908" y="1197825"/>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2770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text, crossword puzzle, receipt&#10;&#10;Description automatically generated">
            <a:extLst>
              <a:ext uri="{FF2B5EF4-FFF2-40B4-BE49-F238E27FC236}">
                <a16:creationId xmlns:a16="http://schemas.microsoft.com/office/drawing/2014/main" id="{D9A88709-92E0-5F79-2F41-92B44AE3AC15}"/>
              </a:ext>
            </a:extLst>
          </p:cNvPr>
          <p:cNvPicPr>
            <a:picLocks noGrp="1" noChangeAspect="1"/>
          </p:cNvPicPr>
          <p:nvPr>
            <p:ph idx="1"/>
          </p:nvPr>
        </p:nvPicPr>
        <p:blipFill>
          <a:blip r:embed="rId2"/>
          <a:stretch>
            <a:fillRect/>
          </a:stretch>
        </p:blipFill>
        <p:spPr>
          <a:xfrm>
            <a:off x="5240892" y="502529"/>
            <a:ext cx="6649263" cy="2461091"/>
          </a:xfrm>
        </p:spPr>
      </p:pic>
      <p:pic>
        <p:nvPicPr>
          <p:cNvPr id="10" name="Picture 9" descr="Graphical user interface&#10;&#10;Description automatically generated with medium confidence">
            <a:extLst>
              <a:ext uri="{FF2B5EF4-FFF2-40B4-BE49-F238E27FC236}">
                <a16:creationId xmlns:a16="http://schemas.microsoft.com/office/drawing/2014/main" id="{A6449C91-F1B2-E3C3-2B03-FEE720F715A6}"/>
              </a:ext>
            </a:extLst>
          </p:cNvPr>
          <p:cNvPicPr>
            <a:picLocks noChangeAspect="1"/>
          </p:cNvPicPr>
          <p:nvPr/>
        </p:nvPicPr>
        <p:blipFill>
          <a:blip r:embed="rId3"/>
          <a:stretch>
            <a:fillRect/>
          </a:stretch>
        </p:blipFill>
        <p:spPr>
          <a:xfrm>
            <a:off x="354105" y="365125"/>
            <a:ext cx="4854803" cy="6557963"/>
          </a:xfrm>
          <a:prstGeom prst="rect">
            <a:avLst/>
          </a:prstGeom>
        </p:spPr>
      </p:pic>
      <p:sp>
        <p:nvSpPr>
          <p:cNvPr id="13" name="TextBox 12">
            <a:extLst>
              <a:ext uri="{FF2B5EF4-FFF2-40B4-BE49-F238E27FC236}">
                <a16:creationId xmlns:a16="http://schemas.microsoft.com/office/drawing/2014/main" id="{CB43EAFD-2DB9-3A3C-3A32-98E0C56C7932}"/>
              </a:ext>
            </a:extLst>
          </p:cNvPr>
          <p:cNvSpPr txBox="1"/>
          <p:nvPr/>
        </p:nvSpPr>
        <p:spPr>
          <a:xfrm>
            <a:off x="5240892" y="7679119"/>
            <a:ext cx="4959371" cy="1384995"/>
          </a:xfrm>
          <a:prstGeom prst="rect">
            <a:avLst/>
          </a:prstGeom>
          <a:noFill/>
        </p:spPr>
        <p:txBody>
          <a:bodyPr wrap="none" rtlCol="0">
            <a:spAutoFit/>
          </a:bodyPr>
          <a:lstStyle/>
          <a:p>
            <a:r>
              <a:rPr lang="en-US" sz="2800" dirty="0"/>
              <a:t>Some 2 bedroom apartments for</a:t>
            </a:r>
          </a:p>
          <a:p>
            <a:pPr marL="285750" indent="-285750">
              <a:buFont typeface="Arial" panose="020B0604020202020204" pitchFamily="34" charset="0"/>
              <a:buChar char="•"/>
            </a:pPr>
            <a:r>
              <a:rPr lang="en-US" sz="2800" dirty="0"/>
              <a:t>Family of 4 on $32,000</a:t>
            </a:r>
          </a:p>
          <a:p>
            <a:pPr marL="285750" indent="-285750">
              <a:buFont typeface="Arial" panose="020B0604020202020204" pitchFamily="34" charset="0"/>
              <a:buChar char="•"/>
            </a:pPr>
            <a:r>
              <a:rPr lang="en-US" sz="2800" dirty="0"/>
              <a:t>Family of 4 on $160,000</a:t>
            </a:r>
          </a:p>
        </p:txBody>
      </p:sp>
      <p:sp>
        <p:nvSpPr>
          <p:cNvPr id="15" name="TextBox 14">
            <a:extLst>
              <a:ext uri="{FF2B5EF4-FFF2-40B4-BE49-F238E27FC236}">
                <a16:creationId xmlns:a16="http://schemas.microsoft.com/office/drawing/2014/main" id="{D388B9EC-12F7-9F4D-B7B5-90FCF4C14C30}"/>
              </a:ext>
            </a:extLst>
          </p:cNvPr>
          <p:cNvSpPr txBox="1"/>
          <p:nvPr/>
        </p:nvSpPr>
        <p:spPr>
          <a:xfrm>
            <a:off x="5441847" y="3261698"/>
            <a:ext cx="6247351" cy="1815882"/>
          </a:xfrm>
          <a:prstGeom prst="rect">
            <a:avLst/>
          </a:prstGeom>
          <a:noFill/>
        </p:spPr>
        <p:txBody>
          <a:bodyPr wrap="none" rtlCol="0">
            <a:spAutoFit/>
          </a:bodyPr>
          <a:lstStyle/>
          <a:p>
            <a:r>
              <a:rPr lang="en-US" sz="2800" dirty="0"/>
              <a:t>Units distinguished by </a:t>
            </a:r>
          </a:p>
          <a:p>
            <a:r>
              <a:rPr lang="en-US" sz="2800" b="1" dirty="0">
                <a:solidFill>
                  <a:schemeClr val="accent1"/>
                </a:solidFill>
              </a:rPr>
              <a:t>	# bedrooms</a:t>
            </a:r>
            <a:r>
              <a:rPr lang="en-US" sz="2800" dirty="0"/>
              <a:t>, </a:t>
            </a:r>
            <a:r>
              <a:rPr lang="en-US" sz="2800" b="1" dirty="0">
                <a:solidFill>
                  <a:schemeClr val="accent6"/>
                </a:solidFill>
              </a:rPr>
              <a:t>AMI target</a:t>
            </a:r>
            <a:r>
              <a:rPr lang="en-US" sz="2800" dirty="0"/>
              <a:t>.</a:t>
            </a:r>
          </a:p>
          <a:p>
            <a:r>
              <a:rPr lang="en-US" sz="2800" dirty="0"/>
              <a:t>Only applicants with appropriate </a:t>
            </a:r>
          </a:p>
          <a:p>
            <a:r>
              <a:rPr lang="en-US" sz="2800" b="1" dirty="0">
                <a:solidFill>
                  <a:schemeClr val="accent1"/>
                </a:solidFill>
              </a:rPr>
              <a:t>	household size </a:t>
            </a:r>
            <a:r>
              <a:rPr lang="en-US" sz="2800" dirty="0"/>
              <a:t>and </a:t>
            </a:r>
            <a:r>
              <a:rPr lang="en-US" sz="2800" b="1" dirty="0">
                <a:solidFill>
                  <a:schemeClr val="accent6"/>
                </a:solidFill>
              </a:rPr>
              <a:t>income</a:t>
            </a:r>
            <a:r>
              <a:rPr lang="en-US" sz="2800" dirty="0"/>
              <a:t> qualify</a:t>
            </a:r>
          </a:p>
        </p:txBody>
      </p:sp>
      <p:sp>
        <p:nvSpPr>
          <p:cNvPr id="2" name="Oval 1">
            <a:extLst>
              <a:ext uri="{FF2B5EF4-FFF2-40B4-BE49-F238E27FC236}">
                <a16:creationId xmlns:a16="http://schemas.microsoft.com/office/drawing/2014/main" id="{C162D068-F74A-E4FA-F63A-65BF6D834F09}"/>
              </a:ext>
            </a:extLst>
          </p:cNvPr>
          <p:cNvSpPr/>
          <p:nvPr/>
        </p:nvSpPr>
        <p:spPr>
          <a:xfrm>
            <a:off x="8878014" y="2232211"/>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F72E190-D985-0E37-10E7-3027B4ABF8D4}"/>
              </a:ext>
            </a:extLst>
          </p:cNvPr>
          <p:cNvSpPr/>
          <p:nvPr/>
        </p:nvSpPr>
        <p:spPr>
          <a:xfrm>
            <a:off x="8904908" y="1197825"/>
            <a:ext cx="3017231" cy="457201"/>
          </a:xfrm>
          <a:prstGeom prst="ellipse">
            <a:avLst/>
          </a:pr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E010320-24F1-DD5F-A34C-A107F2A6DC5B}"/>
              </a:ext>
            </a:extLst>
          </p:cNvPr>
          <p:cNvSpPr txBox="1"/>
          <p:nvPr/>
        </p:nvSpPr>
        <p:spPr>
          <a:xfrm>
            <a:off x="5345415" y="5565159"/>
            <a:ext cx="6544740" cy="954107"/>
          </a:xfrm>
          <a:prstGeom prst="rect">
            <a:avLst/>
          </a:prstGeom>
          <a:noFill/>
        </p:spPr>
        <p:txBody>
          <a:bodyPr wrap="none" rtlCol="0">
            <a:spAutoFit/>
          </a:bodyPr>
          <a:lstStyle/>
          <a:p>
            <a:r>
              <a:rPr lang="en-US" sz="2800" dirty="0"/>
              <a:t>Conclusion: </a:t>
            </a:r>
          </a:p>
          <a:p>
            <a:r>
              <a:rPr lang="en-US" sz="2800" b="1" dirty="0">
                <a:solidFill>
                  <a:srgbClr val="FF0000"/>
                </a:solidFill>
              </a:rPr>
              <a:t>NOT</a:t>
            </a:r>
            <a:r>
              <a:rPr lang="en-US" sz="2800" dirty="0"/>
              <a:t> all eligible households are low-income.</a:t>
            </a:r>
          </a:p>
        </p:txBody>
      </p:sp>
    </p:spTree>
    <p:extLst>
      <p:ext uri="{BB962C8B-B14F-4D97-AF65-F5344CB8AC3E}">
        <p14:creationId xmlns:p14="http://schemas.microsoft.com/office/powerpoint/2010/main" val="1452460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DA944-BA76-D665-27D9-3AF76C327F4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219DBC0-6426-9830-3597-00A8868E0D98}"/>
              </a:ext>
            </a:extLst>
          </p:cNvPr>
          <p:cNvPicPr>
            <a:picLocks noGrp="1" noChangeAspect="1"/>
          </p:cNvPicPr>
          <p:nvPr>
            <p:ph idx="1"/>
          </p:nvPr>
        </p:nvPicPr>
        <p:blipFill>
          <a:blip r:embed="rId2"/>
          <a:stretch>
            <a:fillRect/>
          </a:stretch>
        </p:blipFill>
        <p:spPr>
          <a:xfrm>
            <a:off x="838200" y="365125"/>
            <a:ext cx="10515600" cy="3258158"/>
          </a:xfrm>
        </p:spPr>
      </p:pic>
    </p:spTree>
    <p:extLst>
      <p:ext uri="{BB962C8B-B14F-4D97-AF65-F5344CB8AC3E}">
        <p14:creationId xmlns:p14="http://schemas.microsoft.com/office/powerpoint/2010/main" val="3504042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48907-F18C-D863-0CF2-431CF1FE74E8}"/>
              </a:ext>
            </a:extLst>
          </p:cNvPr>
          <p:cNvSpPr>
            <a:spLocks noGrp="1"/>
          </p:cNvSpPr>
          <p:nvPr>
            <p:ph type="title"/>
          </p:nvPr>
        </p:nvSpPr>
        <p:spPr/>
        <p:txBody>
          <a:bodyPr/>
          <a:lstStyle/>
          <a:p>
            <a:endParaRPr lang="en-US"/>
          </a:p>
        </p:txBody>
      </p:sp>
      <p:pic>
        <p:nvPicPr>
          <p:cNvPr id="6" name="Content Placeholder 5" descr="Timeline&#10;&#10;Description automatically generated">
            <a:extLst>
              <a:ext uri="{FF2B5EF4-FFF2-40B4-BE49-F238E27FC236}">
                <a16:creationId xmlns:a16="http://schemas.microsoft.com/office/drawing/2014/main" id="{DCFC0D7F-C93F-2C8B-C7BE-C37D4E812734}"/>
              </a:ext>
            </a:extLst>
          </p:cNvPr>
          <p:cNvPicPr>
            <a:picLocks noGrp="1" noChangeAspect="1"/>
          </p:cNvPicPr>
          <p:nvPr>
            <p:ph idx="1"/>
          </p:nvPr>
        </p:nvPicPr>
        <p:blipFill>
          <a:blip r:embed="rId2"/>
          <a:stretch>
            <a:fillRect/>
          </a:stretch>
        </p:blipFill>
        <p:spPr>
          <a:xfrm>
            <a:off x="472440" y="329255"/>
            <a:ext cx="9281160" cy="6199489"/>
          </a:xfrm>
        </p:spPr>
      </p:pic>
      <p:sp>
        <p:nvSpPr>
          <p:cNvPr id="4" name="Slide Number Placeholder 3">
            <a:extLst>
              <a:ext uri="{FF2B5EF4-FFF2-40B4-BE49-F238E27FC236}">
                <a16:creationId xmlns:a16="http://schemas.microsoft.com/office/drawing/2014/main" id="{EEC513CD-A8D6-5C60-778B-4D1380ED1AF9}"/>
              </a:ext>
            </a:extLst>
          </p:cNvPr>
          <p:cNvSpPr>
            <a:spLocks noGrp="1"/>
          </p:cNvSpPr>
          <p:nvPr>
            <p:ph type="sldNum" sz="quarter" idx="12"/>
          </p:nvPr>
        </p:nvSpPr>
        <p:spPr/>
        <p:txBody>
          <a:bodyPr/>
          <a:lstStyle/>
          <a:p>
            <a:fld id="{9E969584-4773-A84E-8391-EEC4BE76D611}" type="slidenum">
              <a:rPr lang="en-US" smtClean="0"/>
              <a:t>10</a:t>
            </a:fld>
            <a:endParaRPr lang="en-US"/>
          </a:p>
        </p:txBody>
      </p:sp>
    </p:spTree>
    <p:extLst>
      <p:ext uri="{BB962C8B-B14F-4D97-AF65-F5344CB8AC3E}">
        <p14:creationId xmlns:p14="http://schemas.microsoft.com/office/powerpoint/2010/main" val="3234149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2"/>
          <a:stretch>
            <a:fillRect/>
          </a:stretch>
        </p:blipFill>
        <p:spPr>
          <a:xfrm>
            <a:off x="356200" y="94254"/>
            <a:ext cx="4897405" cy="6669492"/>
          </a:xfrm>
          <a:prstGeom prst="rect">
            <a:avLst/>
          </a:prstGeom>
        </p:spPr>
      </p:pic>
    </p:spTree>
    <p:extLst>
      <p:ext uri="{BB962C8B-B14F-4D97-AF65-F5344CB8AC3E}">
        <p14:creationId xmlns:p14="http://schemas.microsoft.com/office/powerpoint/2010/main" val="2052393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C199C70E-5773-66C6-9038-38B563A7E26A}"/>
              </a:ext>
            </a:extLst>
          </p:cNvPr>
          <p:cNvPicPr>
            <a:picLocks noChangeAspect="1"/>
          </p:cNvPicPr>
          <p:nvPr/>
        </p:nvPicPr>
        <p:blipFill>
          <a:blip r:embed="rId2"/>
          <a:stretch>
            <a:fillRect/>
          </a:stretch>
        </p:blipFill>
        <p:spPr>
          <a:xfrm>
            <a:off x="5725294" y="189725"/>
            <a:ext cx="5711341" cy="6737804"/>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spTree>
    <p:extLst>
      <p:ext uri="{BB962C8B-B14F-4D97-AF65-F5344CB8AC3E}">
        <p14:creationId xmlns:p14="http://schemas.microsoft.com/office/powerpoint/2010/main" val="1092776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able&#10;&#10;Description automatically generated">
            <a:extLst>
              <a:ext uri="{FF2B5EF4-FFF2-40B4-BE49-F238E27FC236}">
                <a16:creationId xmlns:a16="http://schemas.microsoft.com/office/drawing/2014/main" id="{1999BB3E-8229-BD55-8A01-CBB8D42E8DDF}"/>
              </a:ext>
            </a:extLst>
          </p:cNvPr>
          <p:cNvPicPr>
            <a:picLocks noChangeAspect="1"/>
          </p:cNvPicPr>
          <p:nvPr/>
        </p:nvPicPr>
        <p:blipFill>
          <a:blip r:embed="rId2"/>
          <a:stretch>
            <a:fillRect/>
          </a:stretch>
        </p:blipFill>
        <p:spPr>
          <a:xfrm>
            <a:off x="5735605" y="189725"/>
            <a:ext cx="5701030" cy="7290488"/>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spTree>
    <p:extLst>
      <p:ext uri="{BB962C8B-B14F-4D97-AF65-F5344CB8AC3E}">
        <p14:creationId xmlns:p14="http://schemas.microsoft.com/office/powerpoint/2010/main" val="2243168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C199C70E-5773-66C6-9038-38B563A7E26A}"/>
              </a:ext>
            </a:extLst>
          </p:cNvPr>
          <p:cNvPicPr>
            <a:picLocks noChangeAspect="1"/>
          </p:cNvPicPr>
          <p:nvPr/>
        </p:nvPicPr>
        <p:blipFill>
          <a:blip r:embed="rId2"/>
          <a:stretch>
            <a:fillRect/>
          </a:stretch>
        </p:blipFill>
        <p:spPr>
          <a:xfrm>
            <a:off x="5725294" y="189725"/>
            <a:ext cx="5711341" cy="6737804"/>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spTree>
    <p:extLst>
      <p:ext uri="{BB962C8B-B14F-4D97-AF65-F5344CB8AC3E}">
        <p14:creationId xmlns:p14="http://schemas.microsoft.com/office/powerpoint/2010/main" val="1576550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C199C70E-5773-66C6-9038-38B563A7E26A}"/>
              </a:ext>
            </a:extLst>
          </p:cNvPr>
          <p:cNvPicPr>
            <a:picLocks noChangeAspect="1"/>
          </p:cNvPicPr>
          <p:nvPr/>
        </p:nvPicPr>
        <p:blipFill>
          <a:blip r:embed="rId2"/>
          <a:stretch>
            <a:fillRect/>
          </a:stretch>
        </p:blipFill>
        <p:spPr>
          <a:xfrm>
            <a:off x="5725294" y="189725"/>
            <a:ext cx="5711341" cy="6737804"/>
          </a:xfrm>
          <a:prstGeom prst="rect">
            <a:avLst/>
          </a:prstGeom>
        </p:spPr>
      </p:pic>
      <p:sp>
        <p:nvSpPr>
          <p:cNvPr id="2" name="Title 1">
            <a:extLst>
              <a:ext uri="{FF2B5EF4-FFF2-40B4-BE49-F238E27FC236}">
                <a16:creationId xmlns:a16="http://schemas.microsoft.com/office/drawing/2014/main" id="{46CA7299-8241-244F-BA02-914E6E4ABE62}"/>
              </a:ext>
            </a:extLst>
          </p:cNvPr>
          <p:cNvSpPr>
            <a:spLocks noGrp="1"/>
          </p:cNvSpPr>
          <p:nvPr>
            <p:ph type="title"/>
          </p:nvPr>
        </p:nvSpPr>
        <p:spPr/>
        <p:txBody>
          <a:bodyPr/>
          <a:lstStyle/>
          <a:p>
            <a:endParaRPr lang="en-US" dirty="0"/>
          </a:p>
        </p:txBody>
      </p:sp>
      <p:pic>
        <p:nvPicPr>
          <p:cNvPr id="7" name="Picture 6" descr="Graphical user interface&#10;&#10;Description automatically generated">
            <a:extLst>
              <a:ext uri="{FF2B5EF4-FFF2-40B4-BE49-F238E27FC236}">
                <a16:creationId xmlns:a16="http://schemas.microsoft.com/office/drawing/2014/main" id="{7C5B91E0-8D35-1BF9-F06E-28D6D8D7DB94}"/>
              </a:ext>
            </a:extLst>
          </p:cNvPr>
          <p:cNvPicPr>
            <a:picLocks noChangeAspect="1"/>
          </p:cNvPicPr>
          <p:nvPr/>
        </p:nvPicPr>
        <p:blipFill>
          <a:blip r:embed="rId3"/>
          <a:stretch>
            <a:fillRect/>
          </a:stretch>
        </p:blipFill>
        <p:spPr>
          <a:xfrm>
            <a:off x="356200" y="94254"/>
            <a:ext cx="4897405" cy="6669492"/>
          </a:xfrm>
          <a:prstGeom prst="rect">
            <a:avLst/>
          </a:prstGeom>
        </p:spPr>
      </p:pic>
      <p:pic>
        <p:nvPicPr>
          <p:cNvPr id="15" name="Picture 14" descr="Graphical user interface, text, application&#10;&#10;Description automatically generated">
            <a:extLst>
              <a:ext uri="{FF2B5EF4-FFF2-40B4-BE49-F238E27FC236}">
                <a16:creationId xmlns:a16="http://schemas.microsoft.com/office/drawing/2014/main" id="{B17CD7DB-66EE-47A5-C8CA-DFD7C5F2D2E5}"/>
              </a:ext>
            </a:extLst>
          </p:cNvPr>
          <p:cNvPicPr>
            <a:picLocks noChangeAspect="1"/>
          </p:cNvPicPr>
          <p:nvPr/>
        </p:nvPicPr>
        <p:blipFill>
          <a:blip r:embed="rId4"/>
          <a:stretch>
            <a:fillRect/>
          </a:stretch>
        </p:blipFill>
        <p:spPr>
          <a:xfrm>
            <a:off x="2389095" y="3834969"/>
            <a:ext cx="3025874" cy="2865775"/>
          </a:xfrm>
          <a:prstGeom prst="rect">
            <a:avLst/>
          </a:prstGeom>
        </p:spPr>
      </p:pic>
      <p:sp>
        <p:nvSpPr>
          <p:cNvPr id="3" name="Rectangle 2">
            <a:extLst>
              <a:ext uri="{FF2B5EF4-FFF2-40B4-BE49-F238E27FC236}">
                <a16:creationId xmlns:a16="http://schemas.microsoft.com/office/drawing/2014/main" id="{A514DE11-FBE3-B430-BBC8-D397728B6AD6}"/>
              </a:ext>
            </a:extLst>
          </p:cNvPr>
          <p:cNvSpPr/>
          <p:nvPr/>
        </p:nvSpPr>
        <p:spPr>
          <a:xfrm>
            <a:off x="2339933" y="3781181"/>
            <a:ext cx="2904420" cy="3023494"/>
          </a:xfrm>
          <a:prstGeom prst="rect">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2574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1766-DBD0-CDEA-97B3-DC592C6D004B}"/>
              </a:ext>
            </a:extLst>
          </p:cNvPr>
          <p:cNvSpPr>
            <a:spLocks noGrp="1"/>
          </p:cNvSpPr>
          <p:nvPr>
            <p:ph type="title"/>
          </p:nvPr>
        </p:nvSpPr>
        <p:spPr/>
        <p:txBody>
          <a:bodyPr/>
          <a:lstStyle/>
          <a:p>
            <a:r>
              <a:rPr lang="en-US" dirty="0"/>
              <a:t>Preferences</a:t>
            </a:r>
          </a:p>
        </p:txBody>
      </p:sp>
      <p:sp>
        <p:nvSpPr>
          <p:cNvPr id="3" name="Content Placeholder 2">
            <a:extLst>
              <a:ext uri="{FF2B5EF4-FFF2-40B4-BE49-F238E27FC236}">
                <a16:creationId xmlns:a16="http://schemas.microsoft.com/office/drawing/2014/main" id="{E90AC77B-FC08-BAA5-A876-98587DF46BA5}"/>
              </a:ext>
            </a:extLst>
          </p:cNvPr>
          <p:cNvSpPr>
            <a:spLocks noGrp="1"/>
          </p:cNvSpPr>
          <p:nvPr>
            <p:ph idx="1"/>
          </p:nvPr>
        </p:nvSpPr>
        <p:spPr/>
        <p:txBody>
          <a:bodyPr>
            <a:normAutofit/>
          </a:bodyPr>
          <a:lstStyle/>
          <a:p>
            <a:pPr marL="0" indent="0">
              <a:buNone/>
            </a:pPr>
            <a:r>
              <a:rPr lang="en-US" dirty="0"/>
              <a:t>Several “preferences:”</a:t>
            </a:r>
          </a:p>
          <a:p>
            <a:r>
              <a:rPr lang="en-US" dirty="0"/>
              <a:t>7% disability (5% mobility, 2% vision/hearing)</a:t>
            </a:r>
          </a:p>
          <a:p>
            <a:r>
              <a:rPr lang="en-US" dirty="0"/>
              <a:t>50% community preference</a:t>
            </a:r>
          </a:p>
          <a:p>
            <a:r>
              <a:rPr lang="en-US" dirty="0"/>
              <a:t>5% municipal employee</a:t>
            </a:r>
          </a:p>
          <a:p>
            <a:endParaRPr lang="en-US" dirty="0"/>
          </a:p>
          <a:p>
            <a:pPr marL="0" indent="0">
              <a:buNone/>
            </a:pPr>
            <a:r>
              <a:rPr lang="en-US" dirty="0"/>
              <a:t>According to </a:t>
            </a:r>
            <a:r>
              <a:rPr lang="en-US" dirty="0" err="1"/>
              <a:t>Siskind</a:t>
            </a:r>
            <a:r>
              <a:rPr lang="en-US" dirty="0"/>
              <a:t>: </a:t>
            </a:r>
          </a:p>
          <a:p>
            <a:pPr marL="457200" lvl="1" indent="0">
              <a:buNone/>
            </a:pPr>
            <a:r>
              <a:rPr lang="en-US" sz="2800" i="1" dirty="0"/>
              <a:t>Applications can have more than one preference, and </a:t>
            </a:r>
            <a:r>
              <a:rPr lang="en-US" sz="2800" b="1" i="1" dirty="0"/>
              <a:t>granting someone with multiple preferences a unit counts against each preference’s goal</a:t>
            </a:r>
            <a:r>
              <a:rPr lang="en-US" sz="2800" i="1" dirty="0"/>
              <a:t>.</a:t>
            </a:r>
          </a:p>
        </p:txBody>
      </p:sp>
    </p:spTree>
    <p:extLst>
      <p:ext uri="{BB962C8B-B14F-4D97-AF65-F5344CB8AC3E}">
        <p14:creationId xmlns:p14="http://schemas.microsoft.com/office/powerpoint/2010/main" val="4291132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CC81-7D41-D8B5-8932-CEB6ED65FA56}"/>
              </a:ext>
            </a:extLst>
          </p:cNvPr>
          <p:cNvSpPr>
            <a:spLocks noGrp="1"/>
          </p:cNvSpPr>
          <p:nvPr>
            <p:ph type="title"/>
          </p:nvPr>
        </p:nvSpPr>
        <p:spPr/>
        <p:txBody>
          <a:bodyPr/>
          <a:lstStyle/>
          <a:p>
            <a:r>
              <a:rPr lang="en-US" dirty="0"/>
              <a:t>How do they handle this all?</a:t>
            </a:r>
          </a:p>
        </p:txBody>
      </p:sp>
      <p:sp>
        <p:nvSpPr>
          <p:cNvPr id="7" name="Content Placeholder 6">
            <a:extLst>
              <a:ext uri="{FF2B5EF4-FFF2-40B4-BE49-F238E27FC236}">
                <a16:creationId xmlns:a16="http://schemas.microsoft.com/office/drawing/2014/main" id="{F8AB138E-DC06-2A8F-43AF-43F2D417ECD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01825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CC81-7D41-D8B5-8932-CEB6ED65FA56}"/>
              </a:ext>
            </a:extLst>
          </p:cNvPr>
          <p:cNvSpPr>
            <a:spLocks noGrp="1"/>
          </p:cNvSpPr>
          <p:nvPr>
            <p:ph type="title"/>
          </p:nvPr>
        </p:nvSpPr>
        <p:spPr/>
        <p:txBody>
          <a:bodyPr/>
          <a:lstStyle/>
          <a:p>
            <a:r>
              <a:rPr lang="en-US" dirty="0"/>
              <a:t>How do they handle this all?</a:t>
            </a:r>
          </a:p>
        </p:txBody>
      </p:sp>
      <p:sp>
        <p:nvSpPr>
          <p:cNvPr id="3" name="Content Placeholder 2">
            <a:extLst>
              <a:ext uri="{FF2B5EF4-FFF2-40B4-BE49-F238E27FC236}">
                <a16:creationId xmlns:a16="http://schemas.microsoft.com/office/drawing/2014/main" id="{0BC267DC-CED7-658B-9B39-5BD68351437F}"/>
              </a:ext>
            </a:extLst>
          </p:cNvPr>
          <p:cNvSpPr>
            <a:spLocks noGrp="1"/>
          </p:cNvSpPr>
          <p:nvPr>
            <p:ph idx="1"/>
          </p:nvPr>
        </p:nvSpPr>
        <p:spPr>
          <a:xfrm>
            <a:off x="838200" y="1640959"/>
            <a:ext cx="10941424" cy="4351338"/>
          </a:xfrm>
        </p:spPr>
        <p:txBody>
          <a:bodyPr>
            <a:normAutofit/>
          </a:bodyPr>
          <a:lstStyle/>
          <a:p>
            <a:pPr marL="514350" indent="-514350">
              <a:buFont typeface="+mj-lt"/>
              <a:buAutoNum type="arabicPeriod"/>
            </a:pPr>
            <a:r>
              <a:rPr lang="en-US" dirty="0"/>
              <a:t> Order applicants by log number.</a:t>
            </a:r>
          </a:p>
          <a:p>
            <a:pPr marL="514350" indent="-514350">
              <a:buFont typeface="+mj-lt"/>
              <a:buAutoNum type="arabicPeriod"/>
            </a:pPr>
            <a:r>
              <a:rPr lang="en-US" dirty="0"/>
              <a:t> Satisfy preferences:</a:t>
            </a:r>
          </a:p>
          <a:p>
            <a:pPr marL="971550" lvl="1" indent="-514350">
              <a:buFont typeface="+mj-lt"/>
              <a:buAutoNum type="romanUcPeriod"/>
            </a:pPr>
            <a:r>
              <a:rPr lang="en-US" sz="2800" dirty="0"/>
              <a:t>Applicants eligible for </a:t>
            </a:r>
            <a:r>
              <a:rPr lang="en-US" sz="2800" b="1" dirty="0">
                <a:solidFill>
                  <a:schemeClr val="accent1"/>
                </a:solidFill>
              </a:rPr>
              <a:t>disability preference </a:t>
            </a:r>
            <a:r>
              <a:rPr lang="en-US" sz="2800" dirty="0"/>
              <a:t>considered in log order until 7% of units have been allocated.</a:t>
            </a:r>
          </a:p>
          <a:p>
            <a:pPr marL="971550" lvl="1" indent="-514350">
              <a:buFont typeface="+mj-lt"/>
              <a:buAutoNum type="romanUcPeriod"/>
            </a:pPr>
            <a:r>
              <a:rPr lang="en-US" sz="2800" dirty="0"/>
              <a:t>Applicants eligible for </a:t>
            </a:r>
            <a:r>
              <a:rPr lang="en-US" sz="2800" b="1" dirty="0">
                <a:solidFill>
                  <a:schemeClr val="accent1"/>
                </a:solidFill>
              </a:rPr>
              <a:t>community preference </a:t>
            </a:r>
            <a:r>
              <a:rPr lang="en-US" sz="2800" dirty="0"/>
              <a:t>considered in log order until 50% of units filled with people from community district.</a:t>
            </a:r>
          </a:p>
          <a:p>
            <a:pPr marL="971550" lvl="1" indent="-514350">
              <a:buFont typeface="+mj-lt"/>
              <a:buAutoNum type="romanUcPeriod"/>
            </a:pPr>
            <a:r>
              <a:rPr lang="en-US" sz="2800" dirty="0"/>
              <a:t>Applicants eligible for </a:t>
            </a:r>
            <a:r>
              <a:rPr lang="en-US" sz="2800" b="1" dirty="0">
                <a:solidFill>
                  <a:schemeClr val="accent1"/>
                </a:solidFill>
              </a:rPr>
              <a:t>municipal employee preference </a:t>
            </a:r>
            <a:r>
              <a:rPr lang="en-US" sz="2800" dirty="0"/>
              <a:t>considered in log order until 5% of units filled with municipal employees.</a:t>
            </a:r>
          </a:p>
          <a:p>
            <a:pPr marL="514350" indent="-514350">
              <a:buFont typeface="+mj-lt"/>
              <a:buAutoNum type="arabicPeriod"/>
            </a:pPr>
            <a:r>
              <a:rPr lang="en-US" dirty="0"/>
              <a:t> </a:t>
            </a:r>
            <a:r>
              <a:rPr lang="en-US" b="1" dirty="0">
                <a:solidFill>
                  <a:schemeClr val="accent1"/>
                </a:solidFill>
              </a:rPr>
              <a:t>Remaining applicants </a:t>
            </a:r>
            <a:r>
              <a:rPr lang="en-US" dirty="0"/>
              <a:t>considered in log order until all units filled.</a:t>
            </a:r>
          </a:p>
          <a:p>
            <a:pPr marL="514350" indent="-51435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3106962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CC81-7D41-D8B5-8932-CEB6ED65FA56}"/>
              </a:ext>
            </a:extLst>
          </p:cNvPr>
          <p:cNvSpPr>
            <a:spLocks noGrp="1"/>
          </p:cNvSpPr>
          <p:nvPr>
            <p:ph type="title"/>
          </p:nvPr>
        </p:nvSpPr>
        <p:spPr/>
        <p:txBody>
          <a:bodyPr/>
          <a:lstStyle/>
          <a:p>
            <a:r>
              <a:rPr lang="en-US" dirty="0"/>
              <a:t>How do they handle this all?</a:t>
            </a:r>
          </a:p>
        </p:txBody>
      </p:sp>
      <p:sp>
        <p:nvSpPr>
          <p:cNvPr id="3" name="Content Placeholder 2">
            <a:extLst>
              <a:ext uri="{FF2B5EF4-FFF2-40B4-BE49-F238E27FC236}">
                <a16:creationId xmlns:a16="http://schemas.microsoft.com/office/drawing/2014/main" id="{0BC267DC-CED7-658B-9B39-5BD68351437F}"/>
              </a:ext>
            </a:extLst>
          </p:cNvPr>
          <p:cNvSpPr>
            <a:spLocks noGrp="1"/>
          </p:cNvSpPr>
          <p:nvPr>
            <p:ph idx="1"/>
          </p:nvPr>
        </p:nvSpPr>
        <p:spPr>
          <a:xfrm>
            <a:off x="838200" y="1640959"/>
            <a:ext cx="10941424" cy="4351338"/>
          </a:xfrm>
        </p:spPr>
        <p:txBody>
          <a:bodyPr>
            <a:normAutofit/>
          </a:bodyPr>
          <a:lstStyle/>
          <a:p>
            <a:pPr marL="514350" indent="-514350">
              <a:buFont typeface="+mj-lt"/>
              <a:buAutoNum type="arabicPeriod"/>
            </a:pPr>
            <a:r>
              <a:rPr lang="en-US" dirty="0"/>
              <a:t> Order applicants by log number.</a:t>
            </a:r>
          </a:p>
          <a:p>
            <a:pPr marL="514350" indent="-514350">
              <a:buFont typeface="+mj-lt"/>
              <a:buAutoNum type="arabicPeriod"/>
            </a:pPr>
            <a:r>
              <a:rPr lang="en-US" dirty="0"/>
              <a:t> Satisfy preferences:</a:t>
            </a:r>
          </a:p>
          <a:p>
            <a:pPr marL="971550" lvl="1" indent="-514350">
              <a:buFont typeface="+mj-lt"/>
              <a:buAutoNum type="romanUcPeriod"/>
            </a:pPr>
            <a:r>
              <a:rPr lang="en-US" sz="2800" dirty="0"/>
              <a:t>Applicants eligible for </a:t>
            </a:r>
            <a:r>
              <a:rPr lang="en-US" sz="2800" b="1" dirty="0">
                <a:solidFill>
                  <a:schemeClr val="accent1"/>
                </a:solidFill>
              </a:rPr>
              <a:t>disability preference </a:t>
            </a:r>
            <a:r>
              <a:rPr lang="en-US" sz="2800" dirty="0"/>
              <a:t>considered in log order until 7% of units have been allocated.</a:t>
            </a:r>
          </a:p>
          <a:p>
            <a:pPr marL="971550" lvl="1" indent="-514350">
              <a:buFont typeface="+mj-lt"/>
              <a:buAutoNum type="romanUcPeriod"/>
            </a:pPr>
            <a:r>
              <a:rPr lang="en-US" sz="2800" dirty="0"/>
              <a:t>Applicants eligible for </a:t>
            </a:r>
            <a:r>
              <a:rPr lang="en-US" sz="2800" b="1" dirty="0">
                <a:solidFill>
                  <a:schemeClr val="accent1"/>
                </a:solidFill>
              </a:rPr>
              <a:t>community preference </a:t>
            </a:r>
            <a:r>
              <a:rPr lang="en-US" sz="2800" dirty="0"/>
              <a:t>considered in log order until 50% of units filled with people from community district.</a:t>
            </a:r>
          </a:p>
          <a:p>
            <a:pPr marL="971550" lvl="1" indent="-514350">
              <a:buFont typeface="+mj-lt"/>
              <a:buAutoNum type="romanUcPeriod"/>
            </a:pPr>
            <a:r>
              <a:rPr lang="en-US" sz="2800" dirty="0"/>
              <a:t>Applicants eligible for </a:t>
            </a:r>
            <a:r>
              <a:rPr lang="en-US" sz="2800" b="1" dirty="0">
                <a:solidFill>
                  <a:schemeClr val="accent1"/>
                </a:solidFill>
              </a:rPr>
              <a:t>municipal employee preference </a:t>
            </a:r>
            <a:r>
              <a:rPr lang="en-US" sz="2800" dirty="0"/>
              <a:t>considered in log order until 5% of units filled with municipal employees.</a:t>
            </a:r>
          </a:p>
          <a:p>
            <a:pPr marL="514350" indent="-514350">
              <a:buFont typeface="+mj-lt"/>
              <a:buAutoNum type="arabicPeriod"/>
            </a:pPr>
            <a:r>
              <a:rPr lang="en-US" dirty="0"/>
              <a:t> </a:t>
            </a:r>
            <a:r>
              <a:rPr lang="en-US" b="1" dirty="0">
                <a:solidFill>
                  <a:schemeClr val="accent1"/>
                </a:solidFill>
              </a:rPr>
              <a:t>Remaining applicants </a:t>
            </a:r>
            <a:r>
              <a:rPr lang="en-US" dirty="0"/>
              <a:t>considered in log order until all units filled.</a:t>
            </a:r>
          </a:p>
          <a:p>
            <a:pPr marL="514350" indent="-514350">
              <a:buFont typeface="+mj-lt"/>
              <a:buAutoNum type="arabicPeriod"/>
            </a:pPr>
            <a:endParaRPr lang="en-US" dirty="0"/>
          </a:p>
          <a:p>
            <a:pPr marL="0" indent="0">
              <a:buNone/>
            </a:pPr>
            <a:endParaRPr lang="en-US" dirty="0"/>
          </a:p>
        </p:txBody>
      </p:sp>
      <p:sp>
        <p:nvSpPr>
          <p:cNvPr id="4" name="TextBox 3">
            <a:extLst>
              <a:ext uri="{FF2B5EF4-FFF2-40B4-BE49-F238E27FC236}">
                <a16:creationId xmlns:a16="http://schemas.microsoft.com/office/drawing/2014/main" id="{206C6402-DD96-64CB-1EC7-8DCB69CBB0A1}"/>
              </a:ext>
            </a:extLst>
          </p:cNvPr>
          <p:cNvSpPr txBox="1"/>
          <p:nvPr/>
        </p:nvSpPr>
        <p:spPr>
          <a:xfrm>
            <a:off x="838200" y="5714930"/>
            <a:ext cx="11779624" cy="1143070"/>
          </a:xfrm>
          <a:prstGeom prst="rect">
            <a:avLst/>
          </a:prstGeom>
          <a:noFill/>
        </p:spPr>
        <p:txBody>
          <a:bodyPr wrap="square" rtlCol="0">
            <a:spAutoFit/>
          </a:bodyPr>
          <a:lstStyle/>
          <a:p>
            <a:pPr>
              <a:lnSpc>
                <a:spcPct val="150000"/>
              </a:lnSpc>
            </a:pPr>
            <a:r>
              <a:rPr lang="en-US" sz="2400" dirty="0">
                <a:solidFill>
                  <a:srgbClr val="FF0000"/>
                </a:solidFill>
              </a:rPr>
              <a:t>Granting someone with multiple preferences a unit counts against each preference’s goal. </a:t>
            </a:r>
          </a:p>
          <a:p>
            <a:pPr>
              <a:lnSpc>
                <a:spcPct val="150000"/>
              </a:lnSpc>
            </a:pPr>
            <a:r>
              <a:rPr lang="en-US" sz="2400" dirty="0">
                <a:solidFill>
                  <a:srgbClr val="FF0000"/>
                </a:solidFill>
              </a:rPr>
              <a:t>If household is eligible for multiple available unit types, it chooses which to claim. </a:t>
            </a:r>
          </a:p>
        </p:txBody>
      </p:sp>
    </p:spTree>
    <p:extLst>
      <p:ext uri="{BB962C8B-B14F-4D97-AF65-F5344CB8AC3E}">
        <p14:creationId xmlns:p14="http://schemas.microsoft.com/office/powerpoint/2010/main" val="2371656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021C-38EA-D518-536F-24AC2899D0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7AFBA6-9D7D-2A49-0FA2-08E99BCC6F60}"/>
              </a:ext>
            </a:extLst>
          </p:cNvPr>
          <p:cNvSpPr>
            <a:spLocks noGrp="1"/>
          </p:cNvSpPr>
          <p:nvPr>
            <p:ph idx="1"/>
          </p:nvPr>
        </p:nvSpPr>
        <p:spPr/>
        <p:txBody>
          <a:bodyPr/>
          <a:lstStyle/>
          <a:p>
            <a:pPr marL="0" indent="0">
              <a:buNone/>
            </a:pPr>
            <a:r>
              <a:rPr lang="en-US" dirty="0"/>
              <a:t>Beveridge (paragraph 60): </a:t>
            </a:r>
          </a:p>
          <a:p>
            <a:pPr marL="457200" lvl="1" indent="0">
              <a:buNone/>
            </a:pPr>
            <a:r>
              <a:rPr lang="en-US" i="1" dirty="0"/>
              <a:t>unless and until a number of units equal to the percentage assigned to community preference is filled (the default being 50 percent), applicant HHs who are outsiders are generally skipped in line, while insiders are processed. </a:t>
            </a:r>
          </a:p>
          <a:p>
            <a:pPr marL="0" indent="0">
              <a:buNone/>
            </a:pPr>
            <a:endParaRPr lang="en-US" dirty="0"/>
          </a:p>
          <a:p>
            <a:pPr marL="0" indent="0">
              <a:buNone/>
            </a:pPr>
            <a:endParaRPr lang="en-US" dirty="0"/>
          </a:p>
        </p:txBody>
      </p:sp>
      <p:sp>
        <p:nvSpPr>
          <p:cNvPr id="4" name="Rectangle 3">
            <a:extLst>
              <a:ext uri="{FF2B5EF4-FFF2-40B4-BE49-F238E27FC236}">
                <a16:creationId xmlns:a16="http://schemas.microsoft.com/office/drawing/2014/main" id="{B2A01345-5E66-6272-E084-81E12E16136F}"/>
              </a:ext>
            </a:extLst>
          </p:cNvPr>
          <p:cNvSpPr/>
          <p:nvPr/>
        </p:nvSpPr>
        <p:spPr>
          <a:xfrm>
            <a:off x="838200" y="3775083"/>
            <a:ext cx="10738449" cy="1200329"/>
          </a:xfrm>
          <a:prstGeom prst="rect">
            <a:avLst/>
          </a:prstGeom>
        </p:spPr>
        <p:txBody>
          <a:bodyPr wrap="square">
            <a:spAutoFit/>
          </a:bodyPr>
          <a:lstStyle/>
          <a:p>
            <a:r>
              <a:rPr lang="en-US" dirty="0"/>
              <a:t>Siskin: </a:t>
            </a:r>
          </a:p>
          <a:p>
            <a:r>
              <a:rPr lang="en-US" i="1" dirty="0"/>
              <a:t>if a mobility unit placement also qualified for the CP, they would be counted as satisfying one unit in both preferences. The result of this nested preference was that the number of available units in both preferences would be decreased, and the units available in the no preference or open stage would be increased. </a:t>
            </a:r>
          </a:p>
        </p:txBody>
      </p:sp>
    </p:spTree>
    <p:extLst>
      <p:ext uri="{BB962C8B-B14F-4D97-AF65-F5344CB8AC3E}">
        <p14:creationId xmlns:p14="http://schemas.microsoft.com/office/powerpoint/2010/main" val="70211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B89C-DFD7-61F0-A179-9D7F097FC16E}"/>
              </a:ext>
            </a:extLst>
          </p:cNvPr>
          <p:cNvSpPr>
            <a:spLocks noGrp="1"/>
          </p:cNvSpPr>
          <p:nvPr>
            <p:ph type="title"/>
          </p:nvPr>
        </p:nvSpPr>
        <p:spPr>
          <a:xfrm>
            <a:off x="838200" y="365125"/>
            <a:ext cx="11068878" cy="1325563"/>
          </a:xfrm>
        </p:spPr>
        <p:txBody>
          <a:bodyPr/>
          <a:lstStyle/>
          <a:p>
            <a:r>
              <a:rPr lang="en-US" dirty="0"/>
              <a:t>What are consequences of using this algorithm?</a:t>
            </a:r>
          </a:p>
        </p:txBody>
      </p:sp>
      <p:sp>
        <p:nvSpPr>
          <p:cNvPr id="6" name="Content Placeholder 5">
            <a:extLst>
              <a:ext uri="{FF2B5EF4-FFF2-40B4-BE49-F238E27FC236}">
                <a16:creationId xmlns:a16="http://schemas.microsoft.com/office/drawing/2014/main" id="{F58538CF-57EE-E3BF-C3D8-D7676A4CC9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78584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B89C-DFD7-61F0-A179-9D7F097FC16E}"/>
              </a:ext>
            </a:extLst>
          </p:cNvPr>
          <p:cNvSpPr>
            <a:spLocks noGrp="1"/>
          </p:cNvSpPr>
          <p:nvPr>
            <p:ph type="title"/>
          </p:nvPr>
        </p:nvSpPr>
        <p:spPr>
          <a:xfrm>
            <a:off x="838200" y="365125"/>
            <a:ext cx="11068878" cy="1325563"/>
          </a:xfrm>
        </p:spPr>
        <p:txBody>
          <a:bodyPr/>
          <a:lstStyle/>
          <a:p>
            <a:r>
              <a:rPr lang="en-US" dirty="0"/>
              <a:t>What are consequences of using this algorithm?</a:t>
            </a:r>
          </a:p>
        </p:txBody>
      </p:sp>
      <p:sp>
        <p:nvSpPr>
          <p:cNvPr id="3" name="Content Placeholder 2">
            <a:extLst>
              <a:ext uri="{FF2B5EF4-FFF2-40B4-BE49-F238E27FC236}">
                <a16:creationId xmlns:a16="http://schemas.microsoft.com/office/drawing/2014/main" id="{75C11ACF-E7A9-3CDC-29D9-49AA10D0C0BC}"/>
              </a:ext>
            </a:extLst>
          </p:cNvPr>
          <p:cNvSpPr>
            <a:spLocks noGrp="1"/>
          </p:cNvSpPr>
          <p:nvPr>
            <p:ph idx="1"/>
          </p:nvPr>
        </p:nvSpPr>
        <p:spPr>
          <a:xfrm>
            <a:off x="4307542" y="2882247"/>
            <a:ext cx="3195918" cy="1603375"/>
          </a:xfrm>
        </p:spPr>
        <p:txBody>
          <a:bodyPr>
            <a:normAutofit fontScale="85000" lnSpcReduction="10000"/>
          </a:bodyPr>
          <a:lstStyle/>
          <a:p>
            <a:pPr marL="0" indent="0">
              <a:buNone/>
            </a:pPr>
            <a:r>
              <a:rPr lang="en-US" sz="120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2582797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834385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Tree>
    <p:extLst>
      <p:ext uri="{BB962C8B-B14F-4D97-AF65-F5344CB8AC3E}">
        <p14:creationId xmlns:p14="http://schemas.microsoft.com/office/powerpoint/2010/main" val="150501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Tree>
    <p:extLst>
      <p:ext uri="{BB962C8B-B14F-4D97-AF65-F5344CB8AC3E}">
        <p14:creationId xmlns:p14="http://schemas.microsoft.com/office/powerpoint/2010/main" val="2218774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
        <p:nvSpPr>
          <p:cNvPr id="6" name="Rectangle 5">
            <a:extLst>
              <a:ext uri="{FF2B5EF4-FFF2-40B4-BE49-F238E27FC236}">
                <a16:creationId xmlns:a16="http://schemas.microsoft.com/office/drawing/2014/main" id="{7E2A7CBB-1A7F-F163-1972-9C9E85ADF5BB}"/>
              </a:ext>
            </a:extLst>
          </p:cNvPr>
          <p:cNvSpPr/>
          <p:nvPr/>
        </p:nvSpPr>
        <p:spPr>
          <a:xfrm>
            <a:off x="9157318" y="4157821"/>
            <a:ext cx="6096000" cy="2610843"/>
          </a:xfrm>
          <a:prstGeom prst="rect">
            <a:avLst/>
          </a:prstGeom>
        </p:spPr>
        <p:txBody>
          <a:bodyPr>
            <a:spAutoFit/>
          </a:bodyPr>
          <a:lstStyle/>
          <a:p>
            <a:r>
              <a:rPr lang="en-US" sz="2800" b="1" dirty="0"/>
              <a:t>100 units </a:t>
            </a:r>
          </a:p>
          <a:p>
            <a:endParaRPr lang="en-US" sz="2800" dirty="0"/>
          </a:p>
          <a:p>
            <a:endParaRPr lang="en-US" sz="2800" dirty="0"/>
          </a:p>
          <a:p>
            <a:pPr>
              <a:lnSpc>
                <a:spcPct val="150000"/>
              </a:lnSpc>
            </a:pPr>
            <a:r>
              <a:rPr lang="en-US" sz="2800" dirty="0">
                <a:solidFill>
                  <a:schemeClr val="accent2"/>
                </a:solidFill>
              </a:rPr>
              <a:t>50 low income</a:t>
            </a:r>
          </a:p>
          <a:p>
            <a:pPr>
              <a:lnSpc>
                <a:spcPct val="150000"/>
              </a:lnSpc>
            </a:pPr>
            <a:r>
              <a:rPr lang="en-US" sz="2800" dirty="0">
                <a:solidFill>
                  <a:schemeClr val="accent2"/>
                </a:solidFill>
              </a:rPr>
              <a:t>50 middle income</a:t>
            </a:r>
          </a:p>
        </p:txBody>
      </p:sp>
      <p:sp>
        <p:nvSpPr>
          <p:cNvPr id="7" name="Frame 6">
            <a:extLst>
              <a:ext uri="{FF2B5EF4-FFF2-40B4-BE49-F238E27FC236}">
                <a16:creationId xmlns:a16="http://schemas.microsoft.com/office/drawing/2014/main" id="{40B46C7A-5204-26FB-EC3D-C4FA6C309581}"/>
              </a:ext>
            </a:extLst>
          </p:cNvPr>
          <p:cNvSpPr/>
          <p:nvPr/>
        </p:nvSpPr>
        <p:spPr>
          <a:xfrm>
            <a:off x="5919170" y="5506115"/>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1066712B-F5D3-720A-1580-11C8EBF879AC}"/>
              </a:ext>
            </a:extLst>
          </p:cNvPr>
          <p:cNvSpPr/>
          <p:nvPr/>
        </p:nvSpPr>
        <p:spPr>
          <a:xfrm>
            <a:off x="5918842" y="6122022"/>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95798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
        <p:nvSpPr>
          <p:cNvPr id="6" name="Rectangle 5">
            <a:extLst>
              <a:ext uri="{FF2B5EF4-FFF2-40B4-BE49-F238E27FC236}">
                <a16:creationId xmlns:a16="http://schemas.microsoft.com/office/drawing/2014/main" id="{7E2A7CBB-1A7F-F163-1972-9C9E85ADF5BB}"/>
              </a:ext>
            </a:extLst>
          </p:cNvPr>
          <p:cNvSpPr/>
          <p:nvPr/>
        </p:nvSpPr>
        <p:spPr>
          <a:xfrm>
            <a:off x="9157318" y="4157821"/>
            <a:ext cx="6096000" cy="2610843"/>
          </a:xfrm>
          <a:prstGeom prst="rect">
            <a:avLst/>
          </a:prstGeom>
        </p:spPr>
        <p:txBody>
          <a:bodyPr>
            <a:spAutoFit/>
          </a:bodyPr>
          <a:lstStyle/>
          <a:p>
            <a:r>
              <a:rPr lang="en-US" sz="2800" b="1" dirty="0"/>
              <a:t>100 units </a:t>
            </a:r>
          </a:p>
          <a:p>
            <a:endParaRPr lang="en-US" sz="2800" dirty="0"/>
          </a:p>
          <a:p>
            <a:endParaRPr lang="en-US" sz="2800" dirty="0"/>
          </a:p>
          <a:p>
            <a:pPr>
              <a:lnSpc>
                <a:spcPct val="150000"/>
              </a:lnSpc>
            </a:pPr>
            <a:r>
              <a:rPr lang="en-US" sz="2800" dirty="0">
                <a:solidFill>
                  <a:schemeClr val="accent2"/>
                </a:solidFill>
              </a:rPr>
              <a:t>50 low income</a:t>
            </a:r>
          </a:p>
          <a:p>
            <a:pPr>
              <a:lnSpc>
                <a:spcPct val="150000"/>
              </a:lnSpc>
            </a:pPr>
            <a:r>
              <a:rPr lang="en-US" sz="2800" dirty="0">
                <a:solidFill>
                  <a:schemeClr val="accent2"/>
                </a:solidFill>
              </a:rPr>
              <a:t>50 middle income</a:t>
            </a:r>
          </a:p>
        </p:txBody>
      </p:sp>
      <p:sp>
        <p:nvSpPr>
          <p:cNvPr id="7" name="Frame 6">
            <a:extLst>
              <a:ext uri="{FF2B5EF4-FFF2-40B4-BE49-F238E27FC236}">
                <a16:creationId xmlns:a16="http://schemas.microsoft.com/office/drawing/2014/main" id="{40B46C7A-5204-26FB-EC3D-C4FA6C309581}"/>
              </a:ext>
            </a:extLst>
          </p:cNvPr>
          <p:cNvSpPr/>
          <p:nvPr/>
        </p:nvSpPr>
        <p:spPr>
          <a:xfrm>
            <a:off x="5919170" y="5506115"/>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1066712B-F5D3-720A-1580-11C8EBF879AC}"/>
              </a:ext>
            </a:extLst>
          </p:cNvPr>
          <p:cNvSpPr/>
          <p:nvPr/>
        </p:nvSpPr>
        <p:spPr>
          <a:xfrm>
            <a:off x="5918842" y="6122022"/>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7FCBE5BB-E3D3-4EEB-E05A-4E35AA6D55DF}"/>
              </a:ext>
            </a:extLst>
          </p:cNvPr>
          <p:cNvSpPr/>
          <p:nvPr/>
        </p:nvSpPr>
        <p:spPr>
          <a:xfrm>
            <a:off x="6985344" y="4916919"/>
            <a:ext cx="1050878" cy="1947672"/>
          </a:xfrm>
          <a:prstGeom prst="frame">
            <a:avLst>
              <a:gd name="adj1" fmla="val 860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8A6224A-94BB-EBB5-AAD4-65EF5F028441}"/>
                  </a:ext>
                </a:extLst>
              </p:cNvPr>
              <p:cNvSpPr/>
              <p:nvPr/>
            </p:nvSpPr>
            <p:spPr>
              <a:xfrm>
                <a:off x="6575149" y="3947753"/>
                <a:ext cx="1839221" cy="954107"/>
              </a:xfrm>
              <a:prstGeom prst="rect">
                <a:avLst/>
              </a:prstGeom>
            </p:spPr>
            <p:txBody>
              <a:bodyPr wrap="none">
                <a:spAutoFit/>
              </a:bodyPr>
              <a:lstStyle/>
              <a:p>
                <a14:m>
                  <m:oMath xmlns:m="http://schemas.openxmlformats.org/officeDocument/2006/math">
                    <m:r>
                      <a:rPr lang="en-US" sz="2800" b="0" i="1" smtClean="0">
                        <a:solidFill>
                          <a:schemeClr val="accent6"/>
                        </a:solidFill>
                        <a:latin typeface="Cambria Math" panose="02040503050406030204" pitchFamily="18" charset="0"/>
                      </a:rPr>
                      <m:t>≥ </m:t>
                    </m:r>
                  </m:oMath>
                </a14:m>
                <a:r>
                  <a:rPr lang="en-US" sz="2800" dirty="0">
                    <a:solidFill>
                      <a:schemeClr val="accent6"/>
                    </a:solidFill>
                  </a:rPr>
                  <a:t>50 from</a:t>
                </a:r>
              </a:p>
              <a:p>
                <a:r>
                  <a:rPr lang="en-US" sz="2800" dirty="0">
                    <a:solidFill>
                      <a:schemeClr val="accent6"/>
                    </a:solidFill>
                  </a:rPr>
                  <a:t>community</a:t>
                </a:r>
              </a:p>
            </p:txBody>
          </p:sp>
        </mc:Choice>
        <mc:Fallback xmlns="">
          <p:sp>
            <p:nvSpPr>
              <p:cNvPr id="11" name="Rectangle 10">
                <a:extLst>
                  <a:ext uri="{FF2B5EF4-FFF2-40B4-BE49-F238E27FC236}">
                    <a16:creationId xmlns:a16="http://schemas.microsoft.com/office/drawing/2014/main" id="{08A6224A-94BB-EBB5-AAD4-65EF5F028441}"/>
                  </a:ext>
                </a:extLst>
              </p:cNvPr>
              <p:cNvSpPr>
                <a:spLocks noRot="1" noChangeAspect="1" noMove="1" noResize="1" noEditPoints="1" noAdjustHandles="1" noChangeArrowheads="1" noChangeShapeType="1" noTextEdit="1"/>
              </p:cNvSpPr>
              <p:nvPr/>
            </p:nvSpPr>
            <p:spPr>
              <a:xfrm>
                <a:off x="6575149" y="3947753"/>
                <a:ext cx="1839221" cy="954107"/>
              </a:xfrm>
              <a:prstGeom prst="rect">
                <a:avLst/>
              </a:prstGeom>
              <a:blipFill>
                <a:blip r:embed="rId2"/>
                <a:stretch>
                  <a:fillRect l="-6849" t="-8000" r="-6164" b="-17333"/>
                </a:stretch>
              </a:blipFill>
            </p:spPr>
            <p:txBody>
              <a:bodyPr/>
              <a:lstStyle/>
              <a:p>
                <a:r>
                  <a:rPr lang="en-US">
                    <a:noFill/>
                  </a:rPr>
                  <a:t> </a:t>
                </a:r>
              </a:p>
            </p:txBody>
          </p:sp>
        </mc:Fallback>
      </mc:AlternateContent>
    </p:spTree>
    <p:extLst>
      <p:ext uri="{BB962C8B-B14F-4D97-AF65-F5344CB8AC3E}">
        <p14:creationId xmlns:p14="http://schemas.microsoft.com/office/powerpoint/2010/main" val="1201419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8DC7-475B-A19B-E609-FEF2337F0334}"/>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872BC851-B2DB-190C-C819-284DF34DAC70}"/>
              </a:ext>
            </a:extLst>
          </p:cNvPr>
          <p:cNvSpPr>
            <a:spLocks noGrp="1"/>
          </p:cNvSpPr>
          <p:nvPr>
            <p:ph idx="1"/>
          </p:nvPr>
        </p:nvSpPr>
        <p:spPr>
          <a:xfrm>
            <a:off x="838200" y="1437817"/>
            <a:ext cx="10515600" cy="4351338"/>
          </a:xfrm>
        </p:spPr>
        <p:txBody>
          <a:bodyPr>
            <a:normAutofit/>
          </a:bodyPr>
          <a:lstStyle/>
          <a:p>
            <a:pPr marL="0" indent="0">
              <a:buNone/>
            </a:pPr>
            <a:r>
              <a:rPr lang="en-US" dirty="0"/>
              <a:t>Assume: </a:t>
            </a:r>
          </a:p>
          <a:p>
            <a:r>
              <a:rPr lang="en-US" dirty="0"/>
              <a:t>All units have same number of bedrooms.</a:t>
            </a:r>
          </a:p>
          <a:p>
            <a:r>
              <a:rPr lang="en-US" dirty="0"/>
              <a:t>Two non-overlapping target income ranges.</a:t>
            </a:r>
          </a:p>
          <a:p>
            <a:r>
              <a:rPr lang="en-US" dirty="0"/>
              <a:t>No disability or municipal employee preferences</a:t>
            </a:r>
          </a:p>
          <a:p>
            <a:r>
              <a:rPr lang="en-US" dirty="0"/>
              <a:t>All applicants are eligible and will accept.</a:t>
            </a:r>
          </a:p>
          <a:p>
            <a:endParaRPr lang="en-US" dirty="0"/>
          </a:p>
          <a:p>
            <a:endParaRPr lang="en-US" dirty="0"/>
          </a:p>
          <a:p>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9E491C85-379B-7236-F534-C6A0AF6DB9BD}"/>
              </a:ext>
            </a:extLst>
          </p:cNvPr>
          <p:cNvGraphicFramePr>
            <a:graphicFrameLocks/>
          </p:cNvGraphicFramePr>
          <p:nvPr/>
        </p:nvGraphicFramePr>
        <p:xfrm>
          <a:off x="5973763" y="4975916"/>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sp>
        <p:nvSpPr>
          <p:cNvPr id="5" name="TextBox 4">
            <a:extLst>
              <a:ext uri="{FF2B5EF4-FFF2-40B4-BE49-F238E27FC236}">
                <a16:creationId xmlns:a16="http://schemas.microsoft.com/office/drawing/2014/main" id="{B2469B17-E1E3-00F7-7876-1F2E4021A287}"/>
              </a:ext>
            </a:extLst>
          </p:cNvPr>
          <p:cNvSpPr txBox="1"/>
          <p:nvPr/>
        </p:nvSpPr>
        <p:spPr>
          <a:xfrm>
            <a:off x="838201" y="4283419"/>
            <a:ext cx="5135560" cy="2246769"/>
          </a:xfrm>
          <a:prstGeom prst="rect">
            <a:avLst/>
          </a:prstGeom>
          <a:noFill/>
        </p:spPr>
        <p:txBody>
          <a:bodyPr wrap="square" rtlCol="0">
            <a:spAutoFit/>
          </a:bodyPr>
          <a:lstStyle/>
          <a:p>
            <a:r>
              <a:rPr lang="en-US" sz="2800" dirty="0"/>
              <a:t>1000 applicants:</a:t>
            </a:r>
          </a:p>
          <a:p>
            <a:pPr marL="285750" indent="-285750">
              <a:buFont typeface="Arial" panose="020B0604020202020204" pitchFamily="34" charset="0"/>
              <a:buChar char="•"/>
            </a:pPr>
            <a:r>
              <a:rPr lang="en-US" sz="2800" dirty="0"/>
              <a:t>20% from community district</a:t>
            </a:r>
          </a:p>
          <a:p>
            <a:pPr marL="285750" indent="-285750">
              <a:buFont typeface="Arial" panose="020B0604020202020204" pitchFamily="34" charset="0"/>
              <a:buChar char="•"/>
            </a:pPr>
            <a:r>
              <a:rPr lang="en-US" sz="2800" dirty="0"/>
              <a:t>90% low income</a:t>
            </a:r>
          </a:p>
          <a:p>
            <a:pPr marL="285750" indent="-285750">
              <a:buFont typeface="Arial" panose="020B0604020202020204" pitchFamily="34" charset="0"/>
              <a:buChar char="•"/>
            </a:pPr>
            <a:r>
              <a:rPr lang="en-US" sz="2800" dirty="0"/>
              <a:t>Income and community preference are independent.</a:t>
            </a:r>
          </a:p>
        </p:txBody>
      </p:sp>
      <p:sp>
        <p:nvSpPr>
          <p:cNvPr id="6" name="Rectangle 5">
            <a:extLst>
              <a:ext uri="{FF2B5EF4-FFF2-40B4-BE49-F238E27FC236}">
                <a16:creationId xmlns:a16="http://schemas.microsoft.com/office/drawing/2014/main" id="{7E2A7CBB-1A7F-F163-1972-9C9E85ADF5BB}"/>
              </a:ext>
            </a:extLst>
          </p:cNvPr>
          <p:cNvSpPr/>
          <p:nvPr/>
        </p:nvSpPr>
        <p:spPr>
          <a:xfrm>
            <a:off x="9157318" y="4157821"/>
            <a:ext cx="6096000" cy="2610843"/>
          </a:xfrm>
          <a:prstGeom prst="rect">
            <a:avLst/>
          </a:prstGeom>
        </p:spPr>
        <p:txBody>
          <a:bodyPr>
            <a:spAutoFit/>
          </a:bodyPr>
          <a:lstStyle/>
          <a:p>
            <a:r>
              <a:rPr lang="en-US" sz="2800" b="1" dirty="0"/>
              <a:t>100 units </a:t>
            </a:r>
          </a:p>
          <a:p>
            <a:endParaRPr lang="en-US" sz="2800" dirty="0"/>
          </a:p>
          <a:p>
            <a:endParaRPr lang="en-US" sz="2800" dirty="0"/>
          </a:p>
          <a:p>
            <a:pPr>
              <a:lnSpc>
                <a:spcPct val="150000"/>
              </a:lnSpc>
            </a:pPr>
            <a:r>
              <a:rPr lang="en-US" sz="2800" dirty="0">
                <a:solidFill>
                  <a:schemeClr val="accent2"/>
                </a:solidFill>
              </a:rPr>
              <a:t>50 low income</a:t>
            </a:r>
          </a:p>
          <a:p>
            <a:pPr>
              <a:lnSpc>
                <a:spcPct val="150000"/>
              </a:lnSpc>
            </a:pPr>
            <a:r>
              <a:rPr lang="en-US" sz="2800" dirty="0">
                <a:solidFill>
                  <a:schemeClr val="accent2"/>
                </a:solidFill>
              </a:rPr>
              <a:t>50 middle income</a:t>
            </a:r>
          </a:p>
        </p:txBody>
      </p:sp>
      <p:sp>
        <p:nvSpPr>
          <p:cNvPr id="7" name="Frame 6">
            <a:extLst>
              <a:ext uri="{FF2B5EF4-FFF2-40B4-BE49-F238E27FC236}">
                <a16:creationId xmlns:a16="http://schemas.microsoft.com/office/drawing/2014/main" id="{40B46C7A-5204-26FB-EC3D-C4FA6C309581}"/>
              </a:ext>
            </a:extLst>
          </p:cNvPr>
          <p:cNvSpPr/>
          <p:nvPr/>
        </p:nvSpPr>
        <p:spPr>
          <a:xfrm>
            <a:off x="5919170" y="5506115"/>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1066712B-F5D3-720A-1580-11C8EBF879AC}"/>
              </a:ext>
            </a:extLst>
          </p:cNvPr>
          <p:cNvSpPr/>
          <p:nvPr/>
        </p:nvSpPr>
        <p:spPr>
          <a:xfrm>
            <a:off x="5918842" y="6122022"/>
            <a:ext cx="3183883" cy="677476"/>
          </a:xfrm>
          <a:prstGeom prst="fram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7FCBE5BB-E3D3-4EEB-E05A-4E35AA6D55DF}"/>
              </a:ext>
            </a:extLst>
          </p:cNvPr>
          <p:cNvSpPr/>
          <p:nvPr/>
        </p:nvSpPr>
        <p:spPr>
          <a:xfrm>
            <a:off x="6985344" y="4916919"/>
            <a:ext cx="1050878" cy="1947672"/>
          </a:xfrm>
          <a:prstGeom prst="frame">
            <a:avLst>
              <a:gd name="adj1" fmla="val 860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8A6224A-94BB-EBB5-AAD4-65EF5F028441}"/>
                  </a:ext>
                </a:extLst>
              </p:cNvPr>
              <p:cNvSpPr/>
              <p:nvPr/>
            </p:nvSpPr>
            <p:spPr>
              <a:xfrm>
                <a:off x="6575149" y="3947753"/>
                <a:ext cx="1839221" cy="954107"/>
              </a:xfrm>
              <a:prstGeom prst="rect">
                <a:avLst/>
              </a:prstGeom>
            </p:spPr>
            <p:txBody>
              <a:bodyPr wrap="none">
                <a:spAutoFit/>
              </a:bodyPr>
              <a:lstStyle/>
              <a:p>
                <a14:m>
                  <m:oMath xmlns:m="http://schemas.openxmlformats.org/officeDocument/2006/math">
                    <m:r>
                      <a:rPr lang="en-US" sz="2800" b="0" i="1" smtClean="0">
                        <a:solidFill>
                          <a:schemeClr val="accent6"/>
                        </a:solidFill>
                        <a:latin typeface="Cambria Math" panose="02040503050406030204" pitchFamily="18" charset="0"/>
                      </a:rPr>
                      <m:t>≥ </m:t>
                    </m:r>
                  </m:oMath>
                </a14:m>
                <a:r>
                  <a:rPr lang="en-US" sz="2800" dirty="0">
                    <a:solidFill>
                      <a:schemeClr val="accent6"/>
                    </a:solidFill>
                  </a:rPr>
                  <a:t>50 from</a:t>
                </a:r>
              </a:p>
              <a:p>
                <a:r>
                  <a:rPr lang="en-US" sz="2800" dirty="0">
                    <a:solidFill>
                      <a:schemeClr val="accent6"/>
                    </a:solidFill>
                  </a:rPr>
                  <a:t>community</a:t>
                </a:r>
              </a:p>
            </p:txBody>
          </p:sp>
        </mc:Choice>
        <mc:Fallback xmlns="">
          <p:sp>
            <p:nvSpPr>
              <p:cNvPr id="11" name="Rectangle 10">
                <a:extLst>
                  <a:ext uri="{FF2B5EF4-FFF2-40B4-BE49-F238E27FC236}">
                    <a16:creationId xmlns:a16="http://schemas.microsoft.com/office/drawing/2014/main" id="{08A6224A-94BB-EBB5-AAD4-65EF5F028441}"/>
                  </a:ext>
                </a:extLst>
              </p:cNvPr>
              <p:cNvSpPr>
                <a:spLocks noRot="1" noChangeAspect="1" noMove="1" noResize="1" noEditPoints="1" noAdjustHandles="1" noChangeArrowheads="1" noChangeShapeType="1" noTextEdit="1"/>
              </p:cNvSpPr>
              <p:nvPr/>
            </p:nvSpPr>
            <p:spPr>
              <a:xfrm>
                <a:off x="6575149" y="3947753"/>
                <a:ext cx="1839221" cy="954107"/>
              </a:xfrm>
              <a:prstGeom prst="rect">
                <a:avLst/>
              </a:prstGeom>
              <a:blipFill>
                <a:blip r:embed="rId2"/>
                <a:stretch>
                  <a:fillRect l="-6849" t="-8000" r="-6164" b="-17333"/>
                </a:stretch>
              </a:blipFill>
            </p:spPr>
            <p:txBody>
              <a:bodyPr/>
              <a:lstStyle/>
              <a:p>
                <a:r>
                  <a:rPr lang="en-US">
                    <a:noFill/>
                  </a:rPr>
                  <a:t> </a:t>
                </a:r>
              </a:p>
            </p:txBody>
          </p:sp>
        </mc:Fallback>
      </mc:AlternateContent>
    </p:spTree>
    <p:extLst>
      <p:ext uri="{BB962C8B-B14F-4D97-AF65-F5344CB8AC3E}">
        <p14:creationId xmlns:p14="http://schemas.microsoft.com/office/powerpoint/2010/main" val="151048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extLst>
              <p:ext uri="{D42A27DB-BD31-4B8C-83A1-F6EECF244321}">
                <p14:modId xmlns:p14="http://schemas.microsoft.com/office/powerpoint/2010/main" val="3687869443"/>
              </p:ext>
            </p:extLst>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extLst>
              <p:ext uri="{D42A27DB-BD31-4B8C-83A1-F6EECF244321}">
                <p14:modId xmlns:p14="http://schemas.microsoft.com/office/powerpoint/2010/main" val="3625796145"/>
              </p:ext>
            </p:extLst>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2950275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1753351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325011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15599"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Tree>
    <p:extLst>
      <p:ext uri="{BB962C8B-B14F-4D97-AF65-F5344CB8AC3E}">
        <p14:creationId xmlns:p14="http://schemas.microsoft.com/office/powerpoint/2010/main" val="1826049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extLst>
              <p:ext uri="{D42A27DB-BD31-4B8C-83A1-F6EECF244321}">
                <p14:modId xmlns:p14="http://schemas.microsoft.com/office/powerpoint/2010/main" val="3935931687"/>
              </p:ext>
            </p:extLst>
          </p:nvPr>
        </p:nvGraphicFramePr>
        <p:xfrm>
          <a:off x="3465370" y="2682240"/>
          <a:ext cx="3639670" cy="1493520"/>
        </p:xfrm>
        <a:graphic>
          <a:graphicData uri="http://schemas.openxmlformats.org/drawingml/2006/table">
            <a:tbl>
              <a:tblPr firstRow="1" firstCol="1" bandRow="1">
                <a:tableStyleId>{93296810-A885-4BE3-A3E7-6D5BEEA58F35}</a:tableStyleId>
              </a:tblPr>
              <a:tblGrid>
                <a:gridCol w="1703294">
                  <a:extLst>
                    <a:ext uri="{9D8B030D-6E8A-4147-A177-3AD203B41FA5}">
                      <a16:colId xmlns:a16="http://schemas.microsoft.com/office/drawing/2014/main" val="3567896598"/>
                    </a:ext>
                  </a:extLst>
                </a:gridCol>
                <a:gridCol w="968188">
                  <a:extLst>
                    <a:ext uri="{9D8B030D-6E8A-4147-A177-3AD203B41FA5}">
                      <a16:colId xmlns:a16="http://schemas.microsoft.com/office/drawing/2014/main" val="3551812399"/>
                    </a:ext>
                  </a:extLst>
                </a:gridCol>
                <a:gridCol w="968188">
                  <a:extLst>
                    <a:ext uri="{9D8B030D-6E8A-4147-A177-3AD203B41FA5}">
                      <a16:colId xmlns:a16="http://schemas.microsoft.com/office/drawing/2014/main" val="1383191937"/>
                    </a:ext>
                  </a:extLst>
                </a:gridCol>
              </a:tblGrid>
              <a:tr h="322215">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366769">
                <a:tc>
                  <a:txBody>
                    <a:bodyPr/>
                    <a:lstStyle/>
                    <a:p>
                      <a:pPr>
                        <a:lnSpc>
                          <a:spcPct val="150000"/>
                        </a:lnSpc>
                        <a:spcBef>
                          <a:spcPts val="0"/>
                        </a:spcBef>
                      </a:pPr>
                      <a:r>
                        <a:rPr lang="en-US" dirty="0"/>
                        <a:t>Low Income</a:t>
                      </a:r>
                    </a:p>
                  </a:txBody>
                  <a:tcPr/>
                </a:tc>
                <a:tc>
                  <a:txBody>
                    <a:bodyPr/>
                    <a:lstStyle/>
                    <a:p>
                      <a:pPr algn="ctr"/>
                      <a:r>
                        <a:rPr lang="en-US" sz="3000" dirty="0"/>
                        <a:t>18</a:t>
                      </a:r>
                    </a:p>
                  </a:txBody>
                  <a:tcPr/>
                </a:tc>
                <a:tc>
                  <a:txBody>
                    <a:bodyPr/>
                    <a:lstStyle/>
                    <a:p>
                      <a:pPr algn="ctr"/>
                      <a:r>
                        <a:rPr lang="en-US" sz="3000" dirty="0"/>
                        <a:t>72</a:t>
                      </a:r>
                    </a:p>
                  </a:txBody>
                  <a:tcPr/>
                </a:tc>
                <a:extLst>
                  <a:ext uri="{0D108BD9-81ED-4DB2-BD59-A6C34878D82A}">
                    <a16:rowId xmlns:a16="http://schemas.microsoft.com/office/drawing/2014/main" val="4178726742"/>
                  </a:ext>
                </a:extLst>
              </a:tr>
              <a:tr h="366769">
                <a:tc>
                  <a:txBody>
                    <a:bodyPr/>
                    <a:lstStyle/>
                    <a:p>
                      <a:pPr>
                        <a:lnSpc>
                          <a:spcPct val="150000"/>
                        </a:lnSpc>
                        <a:spcBef>
                          <a:spcPts val="0"/>
                        </a:spcBef>
                      </a:pPr>
                      <a:r>
                        <a:rPr lang="en-US" dirty="0"/>
                        <a:t>Middle Income</a:t>
                      </a:r>
                    </a:p>
                  </a:txBody>
                  <a:tcPr/>
                </a:tc>
                <a:tc>
                  <a:txBody>
                    <a:bodyPr/>
                    <a:lstStyle/>
                    <a:p>
                      <a:pPr algn="ctr"/>
                      <a:r>
                        <a:rPr lang="en-US" sz="3000" dirty="0"/>
                        <a:t>2</a:t>
                      </a:r>
                    </a:p>
                  </a:txBody>
                  <a:tcPr/>
                </a:tc>
                <a:tc>
                  <a:txBody>
                    <a:bodyPr/>
                    <a:lstStyle/>
                    <a:p>
                      <a:pPr algn="ctr"/>
                      <a:r>
                        <a:rPr lang="en-US" sz="3000" dirty="0"/>
                        <a:t>8</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391327" y="3385063"/>
            <a:ext cx="3161946" cy="492443"/>
          </a:xfrm>
          <a:prstGeom prst="rect">
            <a:avLst/>
          </a:prstGeom>
          <a:noFill/>
        </p:spPr>
        <p:txBody>
          <a:bodyPr wrap="square" rtlCol="0">
            <a:spAutoFit/>
          </a:bodyPr>
          <a:lstStyle/>
          <a:p>
            <a:r>
              <a:rPr lang="en-US" sz="26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391327" y="4705034"/>
            <a:ext cx="3074043" cy="1230593"/>
          </a:xfrm>
          <a:prstGeom prst="rect">
            <a:avLst/>
          </a:prstGeom>
          <a:noFill/>
        </p:spPr>
        <p:txBody>
          <a:bodyPr wrap="square" rtlCol="0">
            <a:spAutoFit/>
          </a:bodyPr>
          <a:lstStyle/>
          <a:p>
            <a:pPr>
              <a:lnSpc>
                <a:spcPct val="150000"/>
              </a:lnSpc>
            </a:pPr>
            <a:r>
              <a:rPr lang="en-US" sz="2600" dirty="0"/>
              <a:t>50% Low Income</a:t>
            </a:r>
          </a:p>
          <a:p>
            <a:pPr>
              <a:lnSpc>
                <a:spcPct val="150000"/>
              </a:lnSpc>
            </a:pPr>
            <a:r>
              <a:rPr lang="en-US" sz="26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3370729" y="2117831"/>
            <a:ext cx="3828953" cy="492443"/>
          </a:xfrm>
          <a:prstGeom prst="rect">
            <a:avLst/>
          </a:prstGeom>
          <a:noFill/>
        </p:spPr>
        <p:txBody>
          <a:bodyPr wrap="square" rtlCol="0">
            <a:spAutoFit/>
          </a:bodyPr>
          <a:lstStyle/>
          <a:p>
            <a:r>
              <a:rPr lang="en-US" sz="26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7199682" y="2137302"/>
            <a:ext cx="4318939" cy="492443"/>
          </a:xfrm>
          <a:prstGeom prst="rect">
            <a:avLst/>
          </a:prstGeom>
          <a:noFill/>
        </p:spPr>
        <p:txBody>
          <a:bodyPr wrap="square" rtlCol="0">
            <a:spAutoFit/>
          </a:bodyPr>
          <a:lstStyle/>
          <a:p>
            <a:r>
              <a:rPr lang="en-US" sz="2600" dirty="0"/>
              <a:t>50% Community Preference</a:t>
            </a:r>
          </a:p>
        </p:txBody>
      </p:sp>
      <p:graphicFrame>
        <p:nvGraphicFramePr>
          <p:cNvPr id="14" name="Table 13">
            <a:extLst>
              <a:ext uri="{FF2B5EF4-FFF2-40B4-BE49-F238E27FC236}">
                <a16:creationId xmlns:a16="http://schemas.microsoft.com/office/drawing/2014/main" id="{2AA7C122-EF13-6A91-7706-6B7E826F5B6D}"/>
              </a:ext>
            </a:extLst>
          </p:cNvPr>
          <p:cNvGraphicFramePr>
            <a:graphicFrameLocks/>
          </p:cNvGraphicFramePr>
          <p:nvPr>
            <p:extLst>
              <p:ext uri="{D42A27DB-BD31-4B8C-83A1-F6EECF244321}">
                <p14:modId xmlns:p14="http://schemas.microsoft.com/office/powerpoint/2010/main" val="1018380386"/>
              </p:ext>
            </p:extLst>
          </p:nvPr>
        </p:nvGraphicFramePr>
        <p:xfrm>
          <a:off x="8873667" y="7749869"/>
          <a:ext cx="2145724" cy="1981200"/>
        </p:xfrm>
        <a:graphic>
          <a:graphicData uri="http://schemas.openxmlformats.org/drawingml/2006/table">
            <a:tbl>
              <a:tblPr firstRow="1" firstCol="1" bandRow="1">
                <a:tableStyleId>{93296810-A885-4BE3-A3E7-6D5BEEA58F35}</a:tableStyleId>
              </a:tblPr>
              <a:tblGrid>
                <a:gridCol w="962382">
                  <a:extLst>
                    <a:ext uri="{9D8B030D-6E8A-4147-A177-3AD203B41FA5}">
                      <a16:colId xmlns:a16="http://schemas.microsoft.com/office/drawing/2014/main" val="3567896598"/>
                    </a:ext>
                  </a:extLst>
                </a:gridCol>
                <a:gridCol w="583030">
                  <a:extLst>
                    <a:ext uri="{9D8B030D-6E8A-4147-A177-3AD203B41FA5}">
                      <a16:colId xmlns:a16="http://schemas.microsoft.com/office/drawing/2014/main" val="3551812399"/>
                    </a:ext>
                  </a:extLst>
                </a:gridCol>
                <a:gridCol w="600312">
                  <a:extLst>
                    <a:ext uri="{9D8B030D-6E8A-4147-A177-3AD203B41FA5}">
                      <a16:colId xmlns:a16="http://schemas.microsoft.com/office/drawing/2014/main" val="1383191937"/>
                    </a:ext>
                  </a:extLst>
                </a:gridCol>
              </a:tblGrid>
              <a:tr h="422258">
                <a:tc>
                  <a:txBody>
                    <a:bodyPr/>
                    <a:lstStyle/>
                    <a:p>
                      <a:endParaRPr lang="en-US" dirty="0"/>
                    </a:p>
                  </a:txBody>
                  <a:tcPr/>
                </a:tc>
                <a:tc>
                  <a:txBody>
                    <a:bodyPr/>
                    <a:lstStyle/>
                    <a:p>
                      <a:pPr algn="ctr"/>
                      <a:endParaRPr lang="en-US" sz="2000" dirty="0"/>
                    </a:p>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440080">
                <a:tc>
                  <a:txBody>
                    <a:bodyPr/>
                    <a:lstStyle/>
                    <a:p>
                      <a:r>
                        <a:rPr lang="en-US" dirty="0"/>
                        <a:t>Low Income</a:t>
                      </a:r>
                    </a:p>
                  </a:txBody>
                  <a:tcPr/>
                </a:tc>
                <a:tc>
                  <a:txBody>
                    <a:bodyPr/>
                    <a:lstStyle/>
                    <a:p>
                      <a:pPr algn="ctr"/>
                      <a:r>
                        <a:rPr lang="en-US" sz="3000" dirty="0"/>
                        <a:t>45</a:t>
                      </a:r>
                    </a:p>
                  </a:txBody>
                  <a:tcPr/>
                </a:tc>
                <a:tc>
                  <a:txBody>
                    <a:bodyPr/>
                    <a:lstStyle/>
                    <a:p>
                      <a:pPr algn="ctr"/>
                      <a:r>
                        <a:rPr lang="en-US" sz="3000" dirty="0"/>
                        <a:t>45</a:t>
                      </a:r>
                    </a:p>
                  </a:txBody>
                  <a:tcPr/>
                </a:tc>
                <a:extLst>
                  <a:ext uri="{0D108BD9-81ED-4DB2-BD59-A6C34878D82A}">
                    <a16:rowId xmlns:a16="http://schemas.microsoft.com/office/drawing/2014/main" val="4178726742"/>
                  </a:ext>
                </a:extLst>
              </a:tr>
              <a:tr h="440080">
                <a:tc>
                  <a:txBody>
                    <a:bodyPr/>
                    <a:lstStyle/>
                    <a:p>
                      <a:r>
                        <a:rPr lang="en-US" dirty="0"/>
                        <a:t>Middle Income</a:t>
                      </a:r>
                    </a:p>
                  </a:txBody>
                  <a:tcPr/>
                </a:tc>
                <a:tc>
                  <a:txBody>
                    <a:bodyPr/>
                    <a:lstStyle/>
                    <a:p>
                      <a:pPr algn="ctr"/>
                      <a:r>
                        <a:rPr lang="en-US" sz="3000" dirty="0"/>
                        <a:t>5</a:t>
                      </a:r>
                    </a:p>
                  </a:txBody>
                  <a:tcPr/>
                </a:tc>
                <a:tc>
                  <a:txBody>
                    <a:bodyPr/>
                    <a:lstStyle/>
                    <a:p>
                      <a:pPr algn="ctr"/>
                      <a:r>
                        <a:rPr lang="en-US" sz="3000" dirty="0"/>
                        <a:t>5</a:t>
                      </a:r>
                    </a:p>
                  </a:txBody>
                  <a:tcPr/>
                </a:tc>
                <a:extLst>
                  <a:ext uri="{0D108BD9-81ED-4DB2-BD59-A6C34878D82A}">
                    <a16:rowId xmlns:a16="http://schemas.microsoft.com/office/drawing/2014/main" val="3925597502"/>
                  </a:ext>
                </a:extLst>
              </a:tr>
            </a:tbl>
          </a:graphicData>
        </a:graphic>
      </p:graphicFrame>
      <p:graphicFrame>
        <p:nvGraphicFramePr>
          <p:cNvPr id="19" name="Table 18">
            <a:extLst>
              <a:ext uri="{FF2B5EF4-FFF2-40B4-BE49-F238E27FC236}">
                <a16:creationId xmlns:a16="http://schemas.microsoft.com/office/drawing/2014/main" id="{73AFA4A2-1A92-051B-D917-2B4266D46843}"/>
              </a:ext>
            </a:extLst>
          </p:cNvPr>
          <p:cNvGraphicFramePr>
            <a:graphicFrameLocks/>
          </p:cNvGraphicFramePr>
          <p:nvPr>
            <p:extLst>
              <p:ext uri="{D42A27DB-BD31-4B8C-83A1-F6EECF244321}">
                <p14:modId xmlns:p14="http://schemas.microsoft.com/office/powerpoint/2010/main" val="2265998377"/>
              </p:ext>
            </p:extLst>
          </p:nvPr>
        </p:nvGraphicFramePr>
        <p:xfrm>
          <a:off x="7379721" y="2680707"/>
          <a:ext cx="3639670" cy="1493520"/>
        </p:xfrm>
        <a:graphic>
          <a:graphicData uri="http://schemas.openxmlformats.org/drawingml/2006/table">
            <a:tbl>
              <a:tblPr firstRow="1" firstCol="1" bandRow="1">
                <a:tableStyleId>{93296810-A885-4BE3-A3E7-6D5BEEA58F35}</a:tableStyleId>
              </a:tblPr>
              <a:tblGrid>
                <a:gridCol w="1703294">
                  <a:extLst>
                    <a:ext uri="{9D8B030D-6E8A-4147-A177-3AD203B41FA5}">
                      <a16:colId xmlns:a16="http://schemas.microsoft.com/office/drawing/2014/main" val="3567896598"/>
                    </a:ext>
                  </a:extLst>
                </a:gridCol>
                <a:gridCol w="968188">
                  <a:extLst>
                    <a:ext uri="{9D8B030D-6E8A-4147-A177-3AD203B41FA5}">
                      <a16:colId xmlns:a16="http://schemas.microsoft.com/office/drawing/2014/main" val="3551812399"/>
                    </a:ext>
                  </a:extLst>
                </a:gridCol>
                <a:gridCol w="968188">
                  <a:extLst>
                    <a:ext uri="{9D8B030D-6E8A-4147-A177-3AD203B41FA5}">
                      <a16:colId xmlns:a16="http://schemas.microsoft.com/office/drawing/2014/main" val="1383191937"/>
                    </a:ext>
                  </a:extLst>
                </a:gridCol>
              </a:tblGrid>
              <a:tr h="322215">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366769">
                <a:tc>
                  <a:txBody>
                    <a:bodyPr/>
                    <a:lstStyle/>
                    <a:p>
                      <a:pPr>
                        <a:lnSpc>
                          <a:spcPct val="150000"/>
                        </a:lnSpc>
                        <a:spcBef>
                          <a:spcPts val="0"/>
                        </a:spcBef>
                      </a:pPr>
                      <a:r>
                        <a:rPr lang="en-US" dirty="0"/>
                        <a:t>Low Income</a:t>
                      </a:r>
                    </a:p>
                  </a:txBody>
                  <a:tcPr/>
                </a:tc>
                <a:tc>
                  <a:txBody>
                    <a:bodyPr/>
                    <a:lstStyle/>
                    <a:p>
                      <a:pPr algn="ctr"/>
                      <a:r>
                        <a:rPr lang="en-US" sz="3000" dirty="0"/>
                        <a:t>45</a:t>
                      </a:r>
                    </a:p>
                  </a:txBody>
                  <a:tcPr/>
                </a:tc>
                <a:tc>
                  <a:txBody>
                    <a:bodyPr/>
                    <a:lstStyle/>
                    <a:p>
                      <a:pPr algn="ctr"/>
                      <a:r>
                        <a:rPr lang="en-US" sz="3000" dirty="0"/>
                        <a:t>45</a:t>
                      </a:r>
                    </a:p>
                  </a:txBody>
                  <a:tcPr/>
                </a:tc>
                <a:extLst>
                  <a:ext uri="{0D108BD9-81ED-4DB2-BD59-A6C34878D82A}">
                    <a16:rowId xmlns:a16="http://schemas.microsoft.com/office/drawing/2014/main" val="4178726742"/>
                  </a:ext>
                </a:extLst>
              </a:tr>
              <a:tr h="366769">
                <a:tc>
                  <a:txBody>
                    <a:bodyPr/>
                    <a:lstStyle/>
                    <a:p>
                      <a:pPr>
                        <a:lnSpc>
                          <a:spcPct val="150000"/>
                        </a:lnSpc>
                        <a:spcBef>
                          <a:spcPts val="0"/>
                        </a:spcBef>
                      </a:pPr>
                      <a:r>
                        <a:rPr lang="en-US" dirty="0"/>
                        <a:t>Middle Income</a:t>
                      </a:r>
                    </a:p>
                  </a:txBody>
                  <a:tcPr/>
                </a:tc>
                <a:tc>
                  <a:txBody>
                    <a:bodyPr/>
                    <a:lstStyle/>
                    <a:p>
                      <a:pPr algn="ctr"/>
                      <a:r>
                        <a:rPr lang="en-US" sz="3000" dirty="0"/>
                        <a:t>5</a:t>
                      </a:r>
                    </a:p>
                  </a:txBody>
                  <a:tcPr/>
                </a:tc>
                <a:tc>
                  <a:txBody>
                    <a:bodyPr/>
                    <a:lstStyle/>
                    <a:p>
                      <a:pPr algn="ctr"/>
                      <a:r>
                        <a:rPr lang="en-US" sz="3000" dirty="0"/>
                        <a:t>5</a:t>
                      </a:r>
                    </a:p>
                  </a:txBody>
                  <a:tcPr/>
                </a:tc>
                <a:extLst>
                  <a:ext uri="{0D108BD9-81ED-4DB2-BD59-A6C34878D82A}">
                    <a16:rowId xmlns:a16="http://schemas.microsoft.com/office/drawing/2014/main" val="3925597502"/>
                  </a:ext>
                </a:extLst>
              </a:tr>
            </a:tbl>
          </a:graphicData>
        </a:graphic>
      </p:graphicFrame>
      <p:graphicFrame>
        <p:nvGraphicFramePr>
          <p:cNvPr id="21" name="Table 20">
            <a:extLst>
              <a:ext uri="{FF2B5EF4-FFF2-40B4-BE49-F238E27FC236}">
                <a16:creationId xmlns:a16="http://schemas.microsoft.com/office/drawing/2014/main" id="{04CA3F32-DB1F-ACF1-4DE7-7FA757AB716D}"/>
              </a:ext>
            </a:extLst>
          </p:cNvPr>
          <p:cNvGraphicFramePr>
            <a:graphicFrameLocks/>
          </p:cNvGraphicFramePr>
          <p:nvPr>
            <p:extLst>
              <p:ext uri="{D42A27DB-BD31-4B8C-83A1-F6EECF244321}">
                <p14:modId xmlns:p14="http://schemas.microsoft.com/office/powerpoint/2010/main" val="406897190"/>
              </p:ext>
            </p:extLst>
          </p:nvPr>
        </p:nvGraphicFramePr>
        <p:xfrm>
          <a:off x="7379721" y="4375720"/>
          <a:ext cx="3639670" cy="1493520"/>
        </p:xfrm>
        <a:graphic>
          <a:graphicData uri="http://schemas.openxmlformats.org/drawingml/2006/table">
            <a:tbl>
              <a:tblPr firstRow="1" firstCol="1" bandRow="1">
                <a:tableStyleId>{93296810-A885-4BE3-A3E7-6D5BEEA58F35}</a:tableStyleId>
              </a:tblPr>
              <a:tblGrid>
                <a:gridCol w="1703294">
                  <a:extLst>
                    <a:ext uri="{9D8B030D-6E8A-4147-A177-3AD203B41FA5}">
                      <a16:colId xmlns:a16="http://schemas.microsoft.com/office/drawing/2014/main" val="3567896598"/>
                    </a:ext>
                  </a:extLst>
                </a:gridCol>
                <a:gridCol w="968188">
                  <a:extLst>
                    <a:ext uri="{9D8B030D-6E8A-4147-A177-3AD203B41FA5}">
                      <a16:colId xmlns:a16="http://schemas.microsoft.com/office/drawing/2014/main" val="3551812399"/>
                    </a:ext>
                  </a:extLst>
                </a:gridCol>
                <a:gridCol w="968188">
                  <a:extLst>
                    <a:ext uri="{9D8B030D-6E8A-4147-A177-3AD203B41FA5}">
                      <a16:colId xmlns:a16="http://schemas.microsoft.com/office/drawing/2014/main" val="1383191937"/>
                    </a:ext>
                  </a:extLst>
                </a:gridCol>
              </a:tblGrid>
              <a:tr h="322215">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366769">
                <a:tc>
                  <a:txBody>
                    <a:bodyPr/>
                    <a:lstStyle/>
                    <a:p>
                      <a:pPr>
                        <a:lnSpc>
                          <a:spcPct val="150000"/>
                        </a:lnSpc>
                        <a:spcBef>
                          <a:spcPts val="0"/>
                        </a:spcBef>
                      </a:pPr>
                      <a:r>
                        <a:rPr lang="en-US" dirty="0"/>
                        <a:t>Low Income</a:t>
                      </a:r>
                    </a:p>
                  </a:txBody>
                  <a:tcPr/>
                </a:tc>
                <a:tc>
                  <a:txBody>
                    <a:bodyPr/>
                    <a:lstStyle/>
                    <a:p>
                      <a:pPr algn="ctr"/>
                      <a:r>
                        <a:rPr lang="en-US" sz="3000" dirty="0"/>
                        <a:t>45</a:t>
                      </a:r>
                    </a:p>
                  </a:txBody>
                  <a:tcPr/>
                </a:tc>
                <a:tc>
                  <a:txBody>
                    <a:bodyPr/>
                    <a:lstStyle/>
                    <a:p>
                      <a:pPr algn="ctr"/>
                      <a:r>
                        <a:rPr lang="en-US" sz="3000" dirty="0"/>
                        <a:t>5</a:t>
                      </a:r>
                    </a:p>
                  </a:txBody>
                  <a:tcPr/>
                </a:tc>
                <a:extLst>
                  <a:ext uri="{0D108BD9-81ED-4DB2-BD59-A6C34878D82A}">
                    <a16:rowId xmlns:a16="http://schemas.microsoft.com/office/drawing/2014/main" val="4178726742"/>
                  </a:ext>
                </a:extLst>
              </a:tr>
              <a:tr h="366769">
                <a:tc>
                  <a:txBody>
                    <a:bodyPr/>
                    <a:lstStyle/>
                    <a:p>
                      <a:pPr>
                        <a:lnSpc>
                          <a:spcPct val="150000"/>
                        </a:lnSpc>
                        <a:spcBef>
                          <a:spcPts val="0"/>
                        </a:spcBef>
                      </a:pPr>
                      <a:r>
                        <a:rPr lang="en-US" dirty="0"/>
                        <a:t>Middle Income</a:t>
                      </a:r>
                    </a:p>
                  </a:txBody>
                  <a:tcPr/>
                </a:tc>
                <a:tc>
                  <a:txBody>
                    <a:bodyPr/>
                    <a:lstStyle/>
                    <a:p>
                      <a:pPr algn="ctr"/>
                      <a:r>
                        <a:rPr lang="en-US" sz="3000" dirty="0"/>
                        <a:t>10</a:t>
                      </a:r>
                    </a:p>
                  </a:txBody>
                  <a:tcPr/>
                </a:tc>
                <a:tc>
                  <a:txBody>
                    <a:bodyPr/>
                    <a:lstStyle/>
                    <a:p>
                      <a:pPr algn="ctr"/>
                      <a:r>
                        <a:rPr lang="en-US" sz="3000" dirty="0"/>
                        <a:t>40</a:t>
                      </a:r>
                    </a:p>
                  </a:txBody>
                  <a:tcPr/>
                </a:tc>
                <a:extLst>
                  <a:ext uri="{0D108BD9-81ED-4DB2-BD59-A6C34878D82A}">
                    <a16:rowId xmlns:a16="http://schemas.microsoft.com/office/drawing/2014/main" val="3925597502"/>
                  </a:ext>
                </a:extLst>
              </a:tr>
            </a:tbl>
          </a:graphicData>
        </a:graphic>
      </p:graphicFrame>
      <p:graphicFrame>
        <p:nvGraphicFramePr>
          <p:cNvPr id="22" name="Table 21">
            <a:extLst>
              <a:ext uri="{FF2B5EF4-FFF2-40B4-BE49-F238E27FC236}">
                <a16:creationId xmlns:a16="http://schemas.microsoft.com/office/drawing/2014/main" id="{FF8B4AC8-D44E-0595-CF3A-0EC16120540A}"/>
              </a:ext>
            </a:extLst>
          </p:cNvPr>
          <p:cNvGraphicFramePr>
            <a:graphicFrameLocks/>
          </p:cNvGraphicFramePr>
          <p:nvPr>
            <p:extLst>
              <p:ext uri="{D42A27DB-BD31-4B8C-83A1-F6EECF244321}">
                <p14:modId xmlns:p14="http://schemas.microsoft.com/office/powerpoint/2010/main" val="2448861729"/>
              </p:ext>
            </p:extLst>
          </p:nvPr>
        </p:nvGraphicFramePr>
        <p:xfrm>
          <a:off x="3465370" y="4388364"/>
          <a:ext cx="3639670" cy="1493520"/>
        </p:xfrm>
        <a:graphic>
          <a:graphicData uri="http://schemas.openxmlformats.org/drawingml/2006/table">
            <a:tbl>
              <a:tblPr firstRow="1" firstCol="1" bandRow="1">
                <a:tableStyleId>{93296810-A885-4BE3-A3E7-6D5BEEA58F35}</a:tableStyleId>
              </a:tblPr>
              <a:tblGrid>
                <a:gridCol w="1703294">
                  <a:extLst>
                    <a:ext uri="{9D8B030D-6E8A-4147-A177-3AD203B41FA5}">
                      <a16:colId xmlns:a16="http://schemas.microsoft.com/office/drawing/2014/main" val="3567896598"/>
                    </a:ext>
                  </a:extLst>
                </a:gridCol>
                <a:gridCol w="968188">
                  <a:extLst>
                    <a:ext uri="{9D8B030D-6E8A-4147-A177-3AD203B41FA5}">
                      <a16:colId xmlns:a16="http://schemas.microsoft.com/office/drawing/2014/main" val="3551812399"/>
                    </a:ext>
                  </a:extLst>
                </a:gridCol>
                <a:gridCol w="968188">
                  <a:extLst>
                    <a:ext uri="{9D8B030D-6E8A-4147-A177-3AD203B41FA5}">
                      <a16:colId xmlns:a16="http://schemas.microsoft.com/office/drawing/2014/main" val="1383191937"/>
                    </a:ext>
                  </a:extLst>
                </a:gridCol>
              </a:tblGrid>
              <a:tr h="322215">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366769">
                <a:tc>
                  <a:txBody>
                    <a:bodyPr/>
                    <a:lstStyle/>
                    <a:p>
                      <a:pPr>
                        <a:lnSpc>
                          <a:spcPct val="150000"/>
                        </a:lnSpc>
                        <a:spcBef>
                          <a:spcPts val="0"/>
                        </a:spcBef>
                      </a:pPr>
                      <a:r>
                        <a:rPr lang="en-US" dirty="0"/>
                        <a:t>Low Income</a:t>
                      </a:r>
                    </a:p>
                  </a:txBody>
                  <a:tcPr/>
                </a:tc>
                <a:tc>
                  <a:txBody>
                    <a:bodyPr/>
                    <a:lstStyle/>
                    <a:p>
                      <a:pPr algn="ctr"/>
                      <a:r>
                        <a:rPr lang="en-US" sz="3000" dirty="0"/>
                        <a:t>10</a:t>
                      </a:r>
                    </a:p>
                  </a:txBody>
                  <a:tcPr/>
                </a:tc>
                <a:tc>
                  <a:txBody>
                    <a:bodyPr/>
                    <a:lstStyle/>
                    <a:p>
                      <a:pPr algn="ctr"/>
                      <a:r>
                        <a:rPr lang="en-US" sz="3000" dirty="0"/>
                        <a:t>40</a:t>
                      </a:r>
                    </a:p>
                  </a:txBody>
                  <a:tcPr/>
                </a:tc>
                <a:extLst>
                  <a:ext uri="{0D108BD9-81ED-4DB2-BD59-A6C34878D82A}">
                    <a16:rowId xmlns:a16="http://schemas.microsoft.com/office/drawing/2014/main" val="4178726742"/>
                  </a:ext>
                </a:extLst>
              </a:tr>
              <a:tr h="366769">
                <a:tc>
                  <a:txBody>
                    <a:bodyPr/>
                    <a:lstStyle/>
                    <a:p>
                      <a:pPr>
                        <a:lnSpc>
                          <a:spcPct val="150000"/>
                        </a:lnSpc>
                        <a:spcBef>
                          <a:spcPts val="0"/>
                        </a:spcBef>
                      </a:pPr>
                      <a:r>
                        <a:rPr lang="en-US" dirty="0"/>
                        <a:t>Middle Income</a:t>
                      </a:r>
                    </a:p>
                  </a:txBody>
                  <a:tcPr/>
                </a:tc>
                <a:tc>
                  <a:txBody>
                    <a:bodyPr/>
                    <a:lstStyle/>
                    <a:p>
                      <a:pPr algn="ctr"/>
                      <a:r>
                        <a:rPr lang="en-US" sz="3000" dirty="0"/>
                        <a:t>10</a:t>
                      </a:r>
                    </a:p>
                  </a:txBody>
                  <a:tcPr/>
                </a:tc>
                <a:tc>
                  <a:txBody>
                    <a:bodyPr/>
                    <a:lstStyle/>
                    <a:p>
                      <a:pPr algn="ctr"/>
                      <a:r>
                        <a:rPr lang="en-US" sz="3000" dirty="0"/>
                        <a:t>40</a:t>
                      </a:r>
                    </a:p>
                  </a:txBody>
                  <a:tcPr/>
                </a:tc>
                <a:extLst>
                  <a:ext uri="{0D108BD9-81ED-4DB2-BD59-A6C34878D82A}">
                    <a16:rowId xmlns:a16="http://schemas.microsoft.com/office/drawing/2014/main" val="3925597502"/>
                  </a:ext>
                </a:extLst>
              </a:tr>
            </a:tbl>
          </a:graphicData>
        </a:graphic>
      </p:graphicFrame>
    </p:spTree>
    <p:extLst>
      <p:ext uri="{BB962C8B-B14F-4D97-AF65-F5344CB8AC3E}">
        <p14:creationId xmlns:p14="http://schemas.microsoft.com/office/powerpoint/2010/main" val="1632010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15599"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
        <p:nvSpPr>
          <p:cNvPr id="16" name="Donut 15">
            <a:extLst>
              <a:ext uri="{FF2B5EF4-FFF2-40B4-BE49-F238E27FC236}">
                <a16:creationId xmlns:a16="http://schemas.microsoft.com/office/drawing/2014/main" id="{CAE340D9-13A7-BE0A-A089-02D3FCECA661}"/>
              </a:ext>
            </a:extLst>
          </p:cNvPr>
          <p:cNvSpPr/>
          <p:nvPr/>
        </p:nvSpPr>
        <p:spPr>
          <a:xfrm>
            <a:off x="10141317" y="5335909"/>
            <a:ext cx="868682" cy="691981"/>
          </a:xfrm>
          <a:prstGeom prst="donut">
            <a:avLst>
              <a:gd name="adj" fmla="val 1212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0496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2BF2-9BF1-A5A9-97E9-EC0CB357A7F6}"/>
              </a:ext>
            </a:extLst>
          </p:cNvPr>
          <p:cNvSpPr>
            <a:spLocks noGrp="1"/>
          </p:cNvSpPr>
          <p:nvPr>
            <p:ph type="title"/>
          </p:nvPr>
        </p:nvSpPr>
        <p:spPr>
          <a:xfrm>
            <a:off x="6087906" y="227568"/>
            <a:ext cx="5029969" cy="1325563"/>
          </a:xfrm>
        </p:spPr>
        <p:txBody>
          <a:bodyPr/>
          <a:lstStyle/>
          <a:p>
            <a:r>
              <a:rPr lang="en-US" b="1" dirty="0"/>
              <a:t>Outcomes from different policies</a:t>
            </a:r>
          </a:p>
        </p:txBody>
      </p:sp>
      <p:graphicFrame>
        <p:nvGraphicFramePr>
          <p:cNvPr id="4" name="Table 4">
            <a:extLst>
              <a:ext uri="{FF2B5EF4-FFF2-40B4-BE49-F238E27FC236}">
                <a16:creationId xmlns:a16="http://schemas.microsoft.com/office/drawing/2014/main" id="{A45145C6-E56B-CF52-D255-9690A1A0D120}"/>
              </a:ext>
            </a:extLst>
          </p:cNvPr>
          <p:cNvGraphicFramePr>
            <a:graphicFrameLocks noGrp="1"/>
          </p:cNvGraphicFramePr>
          <p:nvPr>
            <p:ph idx="1"/>
          </p:nvPr>
        </p:nvGraphicFramePr>
        <p:xfrm>
          <a:off x="870866" y="930269"/>
          <a:ext cx="3074043" cy="1814619"/>
        </p:xfrm>
        <a:graphic>
          <a:graphicData uri="http://schemas.openxmlformats.org/drawingml/2006/table">
            <a:tbl>
              <a:tblPr firstRow="1" firstCol="1" bandRow="1">
                <a:tableStyleId>{5C22544A-7EE6-4342-B048-85BDC9FD1C3A}</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180</a:t>
                      </a:r>
                    </a:p>
                  </a:txBody>
                  <a:tcPr/>
                </a:tc>
                <a:tc>
                  <a:txBody>
                    <a:bodyPr/>
                    <a:lstStyle/>
                    <a:p>
                      <a:pPr algn="ctr"/>
                      <a:r>
                        <a:rPr lang="en-US" sz="3600" dirty="0"/>
                        <a:t>720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80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7957FC3-0966-BAB3-6A5D-E0F403AAE520}"/>
              </a:ext>
            </a:extLst>
          </p:cNvPr>
          <p:cNvGraphicFramePr>
            <a:graphicFrameLocks/>
          </p:cNvGraphicFramePr>
          <p:nvPr/>
        </p:nvGraphicFramePr>
        <p:xfrm>
          <a:off x="4703311"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6" name="Table 5">
            <a:extLst>
              <a:ext uri="{FF2B5EF4-FFF2-40B4-BE49-F238E27FC236}">
                <a16:creationId xmlns:a16="http://schemas.microsoft.com/office/drawing/2014/main" id="{26DC8BDC-8DA2-DA56-3598-165289E14375}"/>
              </a:ext>
            </a:extLst>
          </p:cNvPr>
          <p:cNvGraphicFramePr>
            <a:graphicFrameLocks/>
          </p:cNvGraphicFramePr>
          <p:nvPr/>
        </p:nvGraphicFramePr>
        <p:xfrm>
          <a:off x="4703311"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18</a:t>
                      </a:r>
                    </a:p>
                  </a:txBody>
                  <a:tcPr/>
                </a:tc>
                <a:tc>
                  <a:txBody>
                    <a:bodyPr/>
                    <a:lstStyle/>
                    <a:p>
                      <a:pPr algn="ctr"/>
                      <a:r>
                        <a:rPr lang="en-US" sz="3600" dirty="0"/>
                        <a:t>72</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a:t>
                      </a:r>
                    </a:p>
                  </a:txBody>
                  <a:tcPr/>
                </a:tc>
                <a:tc>
                  <a:txBody>
                    <a:bodyPr/>
                    <a:lstStyle/>
                    <a:p>
                      <a:pPr algn="ctr"/>
                      <a:r>
                        <a:rPr lang="en-US" sz="3600" dirty="0"/>
                        <a:t>8</a:t>
                      </a:r>
                    </a:p>
                  </a:txBody>
                  <a:tcPr/>
                </a:tc>
                <a:extLst>
                  <a:ext uri="{0D108BD9-81ED-4DB2-BD59-A6C34878D82A}">
                    <a16:rowId xmlns:a16="http://schemas.microsoft.com/office/drawing/2014/main" val="3925597502"/>
                  </a:ext>
                </a:extLst>
              </a:tr>
            </a:tbl>
          </a:graphicData>
        </a:graphic>
      </p:graphicFrame>
      <p:graphicFrame>
        <p:nvGraphicFramePr>
          <p:cNvPr id="7" name="Table 6">
            <a:extLst>
              <a:ext uri="{FF2B5EF4-FFF2-40B4-BE49-F238E27FC236}">
                <a16:creationId xmlns:a16="http://schemas.microsoft.com/office/drawing/2014/main" id="{95BAC64B-934B-F1C3-2594-A7105E896184}"/>
              </a:ext>
            </a:extLst>
          </p:cNvPr>
          <p:cNvGraphicFramePr>
            <a:graphicFrameLocks/>
          </p:cNvGraphicFramePr>
          <p:nvPr/>
        </p:nvGraphicFramePr>
        <p:xfrm>
          <a:off x="8015600" y="285004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45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5</a:t>
                      </a:r>
                    </a:p>
                  </a:txBody>
                  <a:tcPr/>
                </a:tc>
                <a:extLst>
                  <a:ext uri="{0D108BD9-81ED-4DB2-BD59-A6C34878D82A}">
                    <a16:rowId xmlns:a16="http://schemas.microsoft.com/office/drawing/2014/main" val="3925597502"/>
                  </a:ext>
                </a:extLst>
              </a:tr>
            </a:tbl>
          </a:graphicData>
        </a:graphic>
      </p:graphicFrame>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15599" y="4815813"/>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9" name="TextBox 8">
            <a:extLst>
              <a:ext uri="{FF2B5EF4-FFF2-40B4-BE49-F238E27FC236}">
                <a16:creationId xmlns:a16="http://schemas.microsoft.com/office/drawing/2014/main" id="{1E35CB99-24F0-8FFA-A330-BDECA80E5A20}"/>
              </a:ext>
            </a:extLst>
          </p:cNvPr>
          <p:cNvSpPr txBox="1"/>
          <p:nvPr/>
        </p:nvSpPr>
        <p:spPr>
          <a:xfrm>
            <a:off x="1391020" y="3429000"/>
            <a:ext cx="1770926" cy="954107"/>
          </a:xfrm>
          <a:prstGeom prst="rect">
            <a:avLst/>
          </a:prstGeom>
          <a:noFill/>
        </p:spPr>
        <p:txBody>
          <a:bodyPr wrap="square" rtlCol="0">
            <a:spAutoFit/>
          </a:bodyPr>
          <a:lstStyle/>
          <a:p>
            <a:r>
              <a:rPr lang="en-US" sz="2800" dirty="0"/>
              <a:t>No Income Targeting</a:t>
            </a:r>
          </a:p>
        </p:txBody>
      </p:sp>
      <p:sp>
        <p:nvSpPr>
          <p:cNvPr id="10" name="TextBox 9">
            <a:extLst>
              <a:ext uri="{FF2B5EF4-FFF2-40B4-BE49-F238E27FC236}">
                <a16:creationId xmlns:a16="http://schemas.microsoft.com/office/drawing/2014/main" id="{E79510EE-3D0D-D01F-7973-CBE61E0251B8}"/>
              </a:ext>
            </a:extLst>
          </p:cNvPr>
          <p:cNvSpPr txBox="1"/>
          <p:nvPr/>
        </p:nvSpPr>
        <p:spPr>
          <a:xfrm>
            <a:off x="1391020" y="5538768"/>
            <a:ext cx="3074043" cy="954107"/>
          </a:xfrm>
          <a:prstGeom prst="rect">
            <a:avLst/>
          </a:prstGeom>
          <a:noFill/>
        </p:spPr>
        <p:txBody>
          <a:bodyPr wrap="square" rtlCol="0">
            <a:spAutoFit/>
          </a:bodyPr>
          <a:lstStyle/>
          <a:p>
            <a:r>
              <a:rPr lang="en-US" sz="2800" dirty="0"/>
              <a:t>50% Low Income</a:t>
            </a:r>
          </a:p>
          <a:p>
            <a:r>
              <a:rPr lang="en-US" sz="2800" dirty="0"/>
              <a:t>50% Middle Income</a:t>
            </a:r>
          </a:p>
        </p:txBody>
      </p:sp>
      <p:sp>
        <p:nvSpPr>
          <p:cNvPr id="11" name="TextBox 10">
            <a:extLst>
              <a:ext uri="{FF2B5EF4-FFF2-40B4-BE49-F238E27FC236}">
                <a16:creationId xmlns:a16="http://schemas.microsoft.com/office/drawing/2014/main" id="{B9CFA3E6-A1B4-9099-C9C9-428A3D9E2A8C}"/>
              </a:ext>
            </a:extLst>
          </p:cNvPr>
          <p:cNvSpPr txBox="1"/>
          <p:nvPr/>
        </p:nvSpPr>
        <p:spPr>
          <a:xfrm>
            <a:off x="4962294" y="1774986"/>
            <a:ext cx="2556076" cy="954107"/>
          </a:xfrm>
          <a:prstGeom prst="rect">
            <a:avLst/>
          </a:prstGeom>
          <a:noFill/>
        </p:spPr>
        <p:txBody>
          <a:bodyPr wrap="square" rtlCol="0">
            <a:spAutoFit/>
          </a:bodyPr>
          <a:lstStyle/>
          <a:p>
            <a:r>
              <a:rPr lang="en-US" sz="2800" dirty="0"/>
              <a:t>No Community Preference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8332455" y="1790781"/>
            <a:ext cx="2900905" cy="954107"/>
          </a:xfrm>
          <a:prstGeom prst="rect">
            <a:avLst/>
          </a:prstGeom>
          <a:noFill/>
        </p:spPr>
        <p:txBody>
          <a:bodyPr wrap="square" rtlCol="0">
            <a:spAutoFit/>
          </a:bodyPr>
          <a:lstStyle/>
          <a:p>
            <a:r>
              <a:rPr lang="en-US" sz="2800" dirty="0"/>
              <a:t>50% Community Preference</a:t>
            </a:r>
          </a:p>
        </p:txBody>
      </p:sp>
      <p:sp>
        <p:nvSpPr>
          <p:cNvPr id="15" name="TextBox 14">
            <a:extLst>
              <a:ext uri="{FF2B5EF4-FFF2-40B4-BE49-F238E27FC236}">
                <a16:creationId xmlns:a16="http://schemas.microsoft.com/office/drawing/2014/main" id="{B6240C30-01A0-1DB8-7F89-EB1E7EE494CE}"/>
              </a:ext>
            </a:extLst>
          </p:cNvPr>
          <p:cNvSpPr txBox="1"/>
          <p:nvPr/>
        </p:nvSpPr>
        <p:spPr>
          <a:xfrm>
            <a:off x="870866" y="381575"/>
            <a:ext cx="2718245" cy="800219"/>
          </a:xfrm>
          <a:prstGeom prst="rect">
            <a:avLst/>
          </a:prstGeom>
          <a:noFill/>
        </p:spPr>
        <p:txBody>
          <a:bodyPr wrap="none" rtlCol="0">
            <a:spAutoFit/>
          </a:bodyPr>
          <a:lstStyle/>
          <a:p>
            <a:r>
              <a:rPr lang="en-US" sz="2800" b="1" dirty="0"/>
              <a:t>Applicant Counts</a:t>
            </a:r>
          </a:p>
          <a:p>
            <a:endParaRPr lang="en-US" dirty="0"/>
          </a:p>
        </p:txBody>
      </p:sp>
      <p:sp>
        <p:nvSpPr>
          <p:cNvPr id="16" name="Donut 15">
            <a:extLst>
              <a:ext uri="{FF2B5EF4-FFF2-40B4-BE49-F238E27FC236}">
                <a16:creationId xmlns:a16="http://schemas.microsoft.com/office/drawing/2014/main" id="{CAE340D9-13A7-BE0A-A089-02D3FCECA661}"/>
              </a:ext>
            </a:extLst>
          </p:cNvPr>
          <p:cNvSpPr/>
          <p:nvPr/>
        </p:nvSpPr>
        <p:spPr>
          <a:xfrm>
            <a:off x="10141317" y="5335909"/>
            <a:ext cx="868682" cy="691981"/>
          </a:xfrm>
          <a:prstGeom prst="donut">
            <a:avLst>
              <a:gd name="adj" fmla="val 1212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09718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E87E-BC4B-F9D7-3B42-417D655286D7}"/>
              </a:ext>
            </a:extLst>
          </p:cNvPr>
          <p:cNvSpPr>
            <a:spLocks noGrp="1"/>
          </p:cNvSpPr>
          <p:nvPr>
            <p:ph type="title"/>
          </p:nvPr>
        </p:nvSpPr>
        <p:spPr/>
        <p:txBody>
          <a:bodyPr/>
          <a:lstStyle/>
          <a:p>
            <a:r>
              <a:rPr lang="en-US" dirty="0"/>
              <a:t>The effect of community preference</a:t>
            </a:r>
          </a:p>
        </p:txBody>
      </p:sp>
      <p:graphicFrame>
        <p:nvGraphicFramePr>
          <p:cNvPr id="4" name="Table 3">
            <a:extLst>
              <a:ext uri="{FF2B5EF4-FFF2-40B4-BE49-F238E27FC236}">
                <a16:creationId xmlns:a16="http://schemas.microsoft.com/office/drawing/2014/main" id="{E2C9F959-8FB0-86AE-12FD-75EAF80285A9}"/>
              </a:ext>
            </a:extLst>
          </p:cNvPr>
          <p:cNvGraphicFramePr>
            <a:graphicFrameLocks/>
          </p:cNvGraphicFramePr>
          <p:nvPr>
            <p:extLst>
              <p:ext uri="{D42A27DB-BD31-4B8C-83A1-F6EECF244321}">
                <p14:modId xmlns:p14="http://schemas.microsoft.com/office/powerpoint/2010/main" val="2693785469"/>
              </p:ext>
            </p:extLst>
          </p:nvPr>
        </p:nvGraphicFramePr>
        <p:xfrm>
          <a:off x="4197894" y="311412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AF98952-54E8-81E1-7839-0A37B498B38E}"/>
              </a:ext>
            </a:extLst>
          </p:cNvPr>
          <p:cNvGraphicFramePr>
            <a:graphicFrameLocks/>
          </p:cNvGraphicFramePr>
          <p:nvPr>
            <p:extLst>
              <p:ext uri="{D42A27DB-BD31-4B8C-83A1-F6EECF244321}">
                <p14:modId xmlns:p14="http://schemas.microsoft.com/office/powerpoint/2010/main" val="654587530"/>
              </p:ext>
            </p:extLst>
          </p:nvPr>
        </p:nvGraphicFramePr>
        <p:xfrm>
          <a:off x="838200" y="31141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6" name="TextBox 5">
            <a:extLst>
              <a:ext uri="{FF2B5EF4-FFF2-40B4-BE49-F238E27FC236}">
                <a16:creationId xmlns:a16="http://schemas.microsoft.com/office/drawing/2014/main" id="{BD722D58-8F34-6DE0-F4E7-4D67319C18F1}"/>
              </a:ext>
            </a:extLst>
          </p:cNvPr>
          <p:cNvSpPr txBox="1"/>
          <p:nvPr/>
        </p:nvSpPr>
        <p:spPr>
          <a:xfrm>
            <a:off x="1097183" y="2083287"/>
            <a:ext cx="2556076" cy="954107"/>
          </a:xfrm>
          <a:prstGeom prst="rect">
            <a:avLst/>
          </a:prstGeom>
          <a:noFill/>
        </p:spPr>
        <p:txBody>
          <a:bodyPr wrap="square" rtlCol="0">
            <a:spAutoFit/>
          </a:bodyPr>
          <a:lstStyle/>
          <a:p>
            <a:r>
              <a:rPr lang="en-US" sz="2800" dirty="0"/>
              <a:t>No Community Preference</a:t>
            </a:r>
          </a:p>
        </p:txBody>
      </p:sp>
      <p:sp>
        <p:nvSpPr>
          <p:cNvPr id="7" name="TextBox 6">
            <a:extLst>
              <a:ext uri="{FF2B5EF4-FFF2-40B4-BE49-F238E27FC236}">
                <a16:creationId xmlns:a16="http://schemas.microsoft.com/office/drawing/2014/main" id="{610A6BCC-9067-2D73-9610-32D954AEFB2F}"/>
              </a:ext>
            </a:extLst>
          </p:cNvPr>
          <p:cNvSpPr txBox="1"/>
          <p:nvPr/>
        </p:nvSpPr>
        <p:spPr>
          <a:xfrm>
            <a:off x="4284464" y="2099082"/>
            <a:ext cx="2900905" cy="954107"/>
          </a:xfrm>
          <a:prstGeom prst="rect">
            <a:avLst/>
          </a:prstGeom>
          <a:noFill/>
        </p:spPr>
        <p:txBody>
          <a:bodyPr wrap="square" rtlCol="0">
            <a:spAutoFit/>
          </a:bodyPr>
          <a:lstStyle/>
          <a:p>
            <a:r>
              <a:rPr lang="en-US" sz="2800" dirty="0"/>
              <a:t>50% Community Preference</a:t>
            </a:r>
          </a:p>
        </p:txBody>
      </p:sp>
    </p:spTree>
    <p:extLst>
      <p:ext uri="{BB962C8B-B14F-4D97-AF65-F5344CB8AC3E}">
        <p14:creationId xmlns:p14="http://schemas.microsoft.com/office/powerpoint/2010/main" val="1211068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E87E-BC4B-F9D7-3B42-417D655286D7}"/>
              </a:ext>
            </a:extLst>
          </p:cNvPr>
          <p:cNvSpPr>
            <a:spLocks noGrp="1"/>
          </p:cNvSpPr>
          <p:nvPr>
            <p:ph type="title"/>
          </p:nvPr>
        </p:nvSpPr>
        <p:spPr/>
        <p:txBody>
          <a:bodyPr/>
          <a:lstStyle/>
          <a:p>
            <a:r>
              <a:rPr lang="en-US" dirty="0"/>
              <a:t>The effect of community preference</a:t>
            </a:r>
          </a:p>
        </p:txBody>
      </p:sp>
      <p:graphicFrame>
        <p:nvGraphicFramePr>
          <p:cNvPr id="4" name="Table 3">
            <a:extLst>
              <a:ext uri="{FF2B5EF4-FFF2-40B4-BE49-F238E27FC236}">
                <a16:creationId xmlns:a16="http://schemas.microsoft.com/office/drawing/2014/main" id="{E2C9F959-8FB0-86AE-12FD-75EAF80285A9}"/>
              </a:ext>
            </a:extLst>
          </p:cNvPr>
          <p:cNvGraphicFramePr>
            <a:graphicFrameLocks/>
          </p:cNvGraphicFramePr>
          <p:nvPr/>
        </p:nvGraphicFramePr>
        <p:xfrm>
          <a:off x="4197894" y="311412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graphicFrame>
        <p:nvGraphicFramePr>
          <p:cNvPr id="5" name="Table 4">
            <a:extLst>
              <a:ext uri="{FF2B5EF4-FFF2-40B4-BE49-F238E27FC236}">
                <a16:creationId xmlns:a16="http://schemas.microsoft.com/office/drawing/2014/main" id="{6AF98952-54E8-81E1-7839-0A37B498B38E}"/>
              </a:ext>
            </a:extLst>
          </p:cNvPr>
          <p:cNvGraphicFramePr>
            <a:graphicFrameLocks/>
          </p:cNvGraphicFramePr>
          <p:nvPr/>
        </p:nvGraphicFramePr>
        <p:xfrm>
          <a:off x="838200" y="31141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6" name="TextBox 5">
            <a:extLst>
              <a:ext uri="{FF2B5EF4-FFF2-40B4-BE49-F238E27FC236}">
                <a16:creationId xmlns:a16="http://schemas.microsoft.com/office/drawing/2014/main" id="{BD722D58-8F34-6DE0-F4E7-4D67319C18F1}"/>
              </a:ext>
            </a:extLst>
          </p:cNvPr>
          <p:cNvSpPr txBox="1"/>
          <p:nvPr/>
        </p:nvSpPr>
        <p:spPr>
          <a:xfrm>
            <a:off x="1097183" y="2083287"/>
            <a:ext cx="2556076" cy="954107"/>
          </a:xfrm>
          <a:prstGeom prst="rect">
            <a:avLst/>
          </a:prstGeom>
          <a:noFill/>
        </p:spPr>
        <p:txBody>
          <a:bodyPr wrap="square" rtlCol="0">
            <a:spAutoFit/>
          </a:bodyPr>
          <a:lstStyle/>
          <a:p>
            <a:r>
              <a:rPr lang="en-US" sz="2800" dirty="0"/>
              <a:t>No Community Preference</a:t>
            </a:r>
          </a:p>
        </p:txBody>
      </p:sp>
      <p:sp>
        <p:nvSpPr>
          <p:cNvPr id="7" name="TextBox 6">
            <a:extLst>
              <a:ext uri="{FF2B5EF4-FFF2-40B4-BE49-F238E27FC236}">
                <a16:creationId xmlns:a16="http://schemas.microsoft.com/office/drawing/2014/main" id="{610A6BCC-9067-2D73-9610-32D954AEFB2F}"/>
              </a:ext>
            </a:extLst>
          </p:cNvPr>
          <p:cNvSpPr txBox="1"/>
          <p:nvPr/>
        </p:nvSpPr>
        <p:spPr>
          <a:xfrm>
            <a:off x="4284464" y="2099082"/>
            <a:ext cx="2900905" cy="954107"/>
          </a:xfrm>
          <a:prstGeom prst="rect">
            <a:avLst/>
          </a:prstGeom>
          <a:noFill/>
        </p:spPr>
        <p:txBody>
          <a:bodyPr wrap="square" rtlCol="0">
            <a:spAutoFit/>
          </a:bodyPr>
          <a:lstStyle/>
          <a:p>
            <a:r>
              <a:rPr lang="en-US" sz="2800" dirty="0"/>
              <a:t>50% Community Preference</a:t>
            </a:r>
          </a:p>
        </p:txBody>
      </p:sp>
      <p:sp>
        <p:nvSpPr>
          <p:cNvPr id="8" name="TextBox 7">
            <a:extLst>
              <a:ext uri="{FF2B5EF4-FFF2-40B4-BE49-F238E27FC236}">
                <a16:creationId xmlns:a16="http://schemas.microsoft.com/office/drawing/2014/main" id="{1C9D90E7-C996-7EBF-CA25-2B1D47153DCF}"/>
              </a:ext>
            </a:extLst>
          </p:cNvPr>
          <p:cNvSpPr txBox="1"/>
          <p:nvPr/>
        </p:nvSpPr>
        <p:spPr>
          <a:xfrm>
            <a:off x="7419488" y="2466527"/>
            <a:ext cx="5429258" cy="2462213"/>
          </a:xfrm>
          <a:prstGeom prst="rect">
            <a:avLst/>
          </a:prstGeom>
          <a:noFill/>
        </p:spPr>
        <p:txBody>
          <a:bodyPr wrap="square" rtlCol="0">
            <a:spAutoFit/>
          </a:bodyPr>
          <a:lstStyle/>
          <a:p>
            <a:pPr>
              <a:lnSpc>
                <a:spcPct val="150000"/>
              </a:lnSpc>
            </a:pPr>
            <a:r>
              <a:rPr lang="en-US" sz="2800" dirty="0"/>
              <a:t>Community members get </a:t>
            </a:r>
          </a:p>
          <a:p>
            <a:pPr marL="457200" indent="-457200">
              <a:lnSpc>
                <a:spcPct val="150000"/>
              </a:lnSpc>
              <a:buFont typeface="Arial" panose="020B0604020202020204" pitchFamily="34" charset="0"/>
              <a:buChar char="•"/>
            </a:pPr>
            <a:r>
              <a:rPr lang="en-US" sz="2800" b="1" dirty="0"/>
              <a:t> </a:t>
            </a:r>
            <a:r>
              <a:rPr lang="en-US" sz="2800" b="1" dirty="0">
                <a:solidFill>
                  <a:srgbClr val="FF0000"/>
                </a:solidFill>
              </a:rPr>
              <a:t>90%</a:t>
            </a:r>
            <a:r>
              <a:rPr lang="en-US" sz="2800" dirty="0"/>
              <a:t> of low-income seats</a:t>
            </a:r>
          </a:p>
          <a:p>
            <a:pPr marL="457200" indent="-457200">
              <a:lnSpc>
                <a:spcPct val="150000"/>
              </a:lnSpc>
              <a:buFont typeface="Arial" panose="020B0604020202020204" pitchFamily="34" charset="0"/>
              <a:buChar char="•"/>
            </a:pPr>
            <a:r>
              <a:rPr lang="en-US" sz="2800" b="1" dirty="0"/>
              <a:t> </a:t>
            </a:r>
            <a:r>
              <a:rPr lang="en-US" sz="2800" b="1" dirty="0">
                <a:solidFill>
                  <a:srgbClr val="FF0000"/>
                </a:solidFill>
              </a:rPr>
              <a:t>20% </a:t>
            </a:r>
            <a:r>
              <a:rPr lang="en-US" sz="2800" dirty="0"/>
              <a:t>of middle income seats</a:t>
            </a:r>
          </a:p>
          <a:p>
            <a:pPr lvl="1"/>
            <a:r>
              <a:rPr lang="en-US" sz="2800" dirty="0"/>
              <a:t> (same as without CP policy!)</a:t>
            </a:r>
          </a:p>
        </p:txBody>
      </p:sp>
    </p:spTree>
    <p:extLst>
      <p:ext uri="{BB962C8B-B14F-4D97-AF65-F5344CB8AC3E}">
        <p14:creationId xmlns:p14="http://schemas.microsoft.com/office/powerpoint/2010/main" val="1967588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CD02-F1B1-3661-61C9-C17C30B735C7}"/>
              </a:ext>
            </a:extLst>
          </p:cNvPr>
          <p:cNvSpPr>
            <a:spLocks noGrp="1"/>
          </p:cNvSpPr>
          <p:nvPr>
            <p:ph type="title"/>
          </p:nvPr>
        </p:nvSpPr>
        <p:spPr/>
        <p:txBody>
          <a:bodyPr/>
          <a:lstStyle/>
          <a:p>
            <a:r>
              <a:rPr lang="en-US" dirty="0"/>
              <a:t>Why is this happening?</a:t>
            </a:r>
          </a:p>
        </p:txBody>
      </p:sp>
      <p:sp>
        <p:nvSpPr>
          <p:cNvPr id="3" name="Content Placeholder 2">
            <a:extLst>
              <a:ext uri="{FF2B5EF4-FFF2-40B4-BE49-F238E27FC236}">
                <a16:creationId xmlns:a16="http://schemas.microsoft.com/office/drawing/2014/main" id="{72150512-75D7-8B8F-0E19-E8702A103EA1}"/>
              </a:ext>
            </a:extLst>
          </p:cNvPr>
          <p:cNvSpPr>
            <a:spLocks noGrp="1"/>
          </p:cNvSpPr>
          <p:nvPr>
            <p:ph idx="1"/>
          </p:nvPr>
        </p:nvSpPr>
        <p:spPr>
          <a:xfrm>
            <a:off x="838200" y="1825625"/>
            <a:ext cx="11353800" cy="4351338"/>
          </a:xfrm>
        </p:spPr>
        <p:txBody>
          <a:bodyPr/>
          <a:lstStyle/>
          <a:p>
            <a:pPr marL="0" indent="0">
              <a:buNone/>
            </a:pPr>
            <a:r>
              <a:rPr lang="en-US" dirty="0"/>
              <a:t>The city does </a:t>
            </a:r>
            <a:r>
              <a:rPr lang="en-US" b="1" dirty="0"/>
              <a:t>NOT </a:t>
            </a:r>
            <a:r>
              <a:rPr lang="en-US" dirty="0"/>
              <a:t>reserve 50% of each type of unit for community members.</a:t>
            </a:r>
          </a:p>
          <a:p>
            <a:r>
              <a:rPr lang="en-US" dirty="0"/>
              <a:t>Community members (like other applicants) are mostly low income.</a:t>
            </a:r>
          </a:p>
          <a:p>
            <a:r>
              <a:rPr lang="en-US" dirty="0"/>
              <a:t>They claim most low-income units.</a:t>
            </a:r>
          </a:p>
          <a:p>
            <a:r>
              <a:rPr lang="en-US" dirty="0"/>
              <a:t>Few low-income units left for applicants from outside the community.</a:t>
            </a:r>
          </a:p>
          <a:p>
            <a:endParaRPr lang="en-US" dirty="0"/>
          </a:p>
        </p:txBody>
      </p:sp>
    </p:spTree>
    <p:extLst>
      <p:ext uri="{BB962C8B-B14F-4D97-AF65-F5344CB8AC3E}">
        <p14:creationId xmlns:p14="http://schemas.microsoft.com/office/powerpoint/2010/main" val="1880943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FD1AE4E-3335-5D94-A5B0-68BF69A4F5E4}"/>
              </a:ext>
            </a:extLst>
          </p:cNvPr>
          <p:cNvSpPr txBox="1"/>
          <p:nvPr/>
        </p:nvSpPr>
        <p:spPr>
          <a:xfrm>
            <a:off x="3412258" y="4545106"/>
            <a:ext cx="1532965" cy="954107"/>
          </a:xfrm>
          <a:prstGeom prst="rect">
            <a:avLst/>
          </a:prstGeom>
          <a:noFill/>
        </p:spPr>
        <p:txBody>
          <a:bodyPr wrap="square" rtlCol="0">
            <a:spAutoFit/>
          </a:bodyPr>
          <a:lstStyle/>
          <a:p>
            <a:r>
              <a:rPr lang="en-US" sz="2800" dirty="0"/>
              <a:t>Low Log Number</a:t>
            </a:r>
          </a:p>
        </p:txBody>
      </p:sp>
      <p:sp>
        <p:nvSpPr>
          <p:cNvPr id="25" name="TextBox 24">
            <a:extLst>
              <a:ext uri="{FF2B5EF4-FFF2-40B4-BE49-F238E27FC236}">
                <a16:creationId xmlns:a16="http://schemas.microsoft.com/office/drawing/2014/main" id="{E8DD10FB-2BC7-1B3E-F9EA-C37697153F1E}"/>
              </a:ext>
            </a:extLst>
          </p:cNvPr>
          <p:cNvSpPr txBox="1"/>
          <p:nvPr/>
        </p:nvSpPr>
        <p:spPr>
          <a:xfrm>
            <a:off x="10659035" y="4555503"/>
            <a:ext cx="1532965" cy="954107"/>
          </a:xfrm>
          <a:prstGeom prst="rect">
            <a:avLst/>
          </a:prstGeom>
          <a:noFill/>
        </p:spPr>
        <p:txBody>
          <a:bodyPr wrap="square" rtlCol="0">
            <a:spAutoFit/>
          </a:bodyPr>
          <a:lstStyle/>
          <a:p>
            <a:r>
              <a:rPr lang="en-US" sz="2800" dirty="0"/>
              <a:t>High Log Number</a:t>
            </a:r>
          </a:p>
        </p:txBody>
      </p:sp>
    </p:spTree>
    <p:extLst>
      <p:ext uri="{BB962C8B-B14F-4D97-AF65-F5344CB8AC3E}">
        <p14:creationId xmlns:p14="http://schemas.microsoft.com/office/powerpoint/2010/main" val="24734798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extLst>
              <p:ext uri="{D42A27DB-BD31-4B8C-83A1-F6EECF244321}">
                <p14:modId xmlns:p14="http://schemas.microsoft.com/office/powerpoint/2010/main" val="3012850402"/>
              </p:ext>
            </p:extLst>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4"/>
                          </a:solidFill>
                        </a:rPr>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Tree>
    <p:extLst>
      <p:ext uri="{BB962C8B-B14F-4D97-AF65-F5344CB8AC3E}">
        <p14:creationId xmlns:p14="http://schemas.microsoft.com/office/powerpoint/2010/main" val="480907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extLst>
              <p:ext uri="{D42A27DB-BD31-4B8C-83A1-F6EECF244321}">
                <p14:modId xmlns:p14="http://schemas.microsoft.com/office/powerpoint/2010/main" val="349101659"/>
              </p:ext>
            </p:extLst>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4"/>
                          </a:solidFill>
                        </a:rPr>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spTree>
    <p:extLst>
      <p:ext uri="{BB962C8B-B14F-4D97-AF65-F5344CB8AC3E}">
        <p14:creationId xmlns:p14="http://schemas.microsoft.com/office/powerpoint/2010/main" val="3007098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1" name="Table 40">
            <a:extLst>
              <a:ext uri="{FF2B5EF4-FFF2-40B4-BE49-F238E27FC236}">
                <a16:creationId xmlns:a16="http://schemas.microsoft.com/office/drawing/2014/main" id="{4A3808B2-B842-BCAA-FDE4-1A8D70814ADD}"/>
              </a:ext>
            </a:extLst>
          </p:cNvPr>
          <p:cNvGraphicFramePr>
            <a:graphicFrameLocks/>
          </p:cNvGraphicFramePr>
          <p:nvPr>
            <p:extLst>
              <p:ext uri="{D42A27DB-BD31-4B8C-83A1-F6EECF244321}">
                <p14:modId xmlns:p14="http://schemas.microsoft.com/office/powerpoint/2010/main" val="2319166983"/>
              </p:ext>
            </p:extLst>
          </p:nvPr>
        </p:nvGraphicFramePr>
        <p:xfrm>
          <a:off x="8712196" y="2047617"/>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20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sp>
        <p:nvSpPr>
          <p:cNvPr id="32" name="TextBox 31">
            <a:extLst>
              <a:ext uri="{FF2B5EF4-FFF2-40B4-BE49-F238E27FC236}">
                <a16:creationId xmlns:a16="http://schemas.microsoft.com/office/drawing/2014/main" id="{34BF3A0F-2298-B928-431F-84BB7AED9F04}"/>
              </a:ext>
            </a:extLst>
          </p:cNvPr>
          <p:cNvSpPr txBox="1"/>
          <p:nvPr/>
        </p:nvSpPr>
        <p:spPr>
          <a:xfrm>
            <a:off x="5390042" y="5207622"/>
            <a:ext cx="2963731" cy="1231106"/>
          </a:xfrm>
          <a:prstGeom prst="rect">
            <a:avLst/>
          </a:prstGeom>
          <a:noFill/>
        </p:spPr>
        <p:txBody>
          <a:bodyPr wrap="square" rtlCol="0">
            <a:spAutoFit/>
          </a:bodyPr>
          <a:lstStyle/>
          <a:p>
            <a:pPr algn="ctr"/>
            <a:r>
              <a:rPr lang="en-US" sz="2800" dirty="0"/>
              <a:t>Start to Accept More CP Members</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cxnSp>
        <p:nvCxnSpPr>
          <p:cNvPr id="43" name="Straight Arrow Connector 42">
            <a:extLst>
              <a:ext uri="{FF2B5EF4-FFF2-40B4-BE49-F238E27FC236}">
                <a16:creationId xmlns:a16="http://schemas.microsoft.com/office/drawing/2014/main" id="{427037CB-F42F-69F0-CDBF-AC03CC7B919F}"/>
              </a:ext>
            </a:extLst>
          </p:cNvPr>
          <p:cNvCxnSpPr>
            <a:cxnSpLocks/>
          </p:cNvCxnSpPr>
          <p:nvPr/>
        </p:nvCxnSpPr>
        <p:spPr>
          <a:xfrm>
            <a:off x="6044316" y="4366181"/>
            <a:ext cx="0" cy="720725"/>
          </a:xfrm>
          <a:prstGeom prst="straightConnector1">
            <a:avLst/>
          </a:prstGeom>
          <a:ln w="571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218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1" name="Table 40">
            <a:extLst>
              <a:ext uri="{FF2B5EF4-FFF2-40B4-BE49-F238E27FC236}">
                <a16:creationId xmlns:a16="http://schemas.microsoft.com/office/drawing/2014/main" id="{4A3808B2-B842-BCAA-FDE4-1A8D70814ADD}"/>
              </a:ext>
            </a:extLst>
          </p:cNvPr>
          <p:cNvGraphicFramePr>
            <a:graphicFrameLocks/>
          </p:cNvGraphicFramePr>
          <p:nvPr/>
        </p:nvGraphicFramePr>
        <p:xfrm>
          <a:off x="8712196" y="2047617"/>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20</a:t>
                      </a:r>
                    </a:p>
                  </a:txBody>
                  <a:tcPr/>
                </a:tc>
                <a:extLst>
                  <a:ext uri="{0D108BD9-81ED-4DB2-BD59-A6C34878D82A}">
                    <a16:rowId xmlns:a16="http://schemas.microsoft.com/office/drawing/2014/main" val="3925597502"/>
                  </a:ext>
                </a:extLst>
              </a:tr>
            </a:tbl>
          </a:graphicData>
        </a:graphic>
      </p:graphicFrame>
      <p:graphicFrame>
        <p:nvGraphicFramePr>
          <p:cNvPr id="42" name="Table 41">
            <a:extLst>
              <a:ext uri="{FF2B5EF4-FFF2-40B4-BE49-F238E27FC236}">
                <a16:creationId xmlns:a16="http://schemas.microsoft.com/office/drawing/2014/main" id="{8276BFA1-423D-3BCF-3B60-CA7F0A4D64B9}"/>
              </a:ext>
            </a:extLst>
          </p:cNvPr>
          <p:cNvGraphicFramePr>
            <a:graphicFrameLocks/>
          </p:cNvGraphicFramePr>
          <p:nvPr/>
        </p:nvGraphicFramePr>
        <p:xfrm>
          <a:off x="8712195"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6"/>
                          </a:solidFill>
                        </a:rPr>
                        <a:t>10</a:t>
                      </a:r>
                    </a:p>
                  </a:txBody>
                  <a:tcPr/>
                </a:tc>
                <a:tc>
                  <a:txBody>
                    <a:bodyPr/>
                    <a:lstStyle/>
                    <a:p>
                      <a:pPr algn="ctr"/>
                      <a:r>
                        <a:rPr lang="en-US" sz="3600" dirty="0">
                          <a:solidFill>
                            <a:schemeClr val="accent6"/>
                          </a:solidFill>
                        </a:rPr>
                        <a:t>40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cxnSp>
        <p:nvCxnSpPr>
          <p:cNvPr id="31" name="Straight Arrow Connector 30">
            <a:extLst>
              <a:ext uri="{FF2B5EF4-FFF2-40B4-BE49-F238E27FC236}">
                <a16:creationId xmlns:a16="http://schemas.microsoft.com/office/drawing/2014/main" id="{1BC08917-035E-F14D-0293-8135E62AD1B7}"/>
              </a:ext>
            </a:extLst>
          </p:cNvPr>
          <p:cNvCxnSpPr>
            <a:cxnSpLocks/>
          </p:cNvCxnSpPr>
          <p:nvPr/>
        </p:nvCxnSpPr>
        <p:spPr>
          <a:xfrm>
            <a:off x="7795422" y="4366009"/>
            <a:ext cx="0" cy="720725"/>
          </a:xfrm>
          <a:prstGeom prst="straightConnector1">
            <a:avLst/>
          </a:prstGeom>
          <a:ln w="5715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4BF3A0F-2298-B928-431F-84BB7AED9F04}"/>
              </a:ext>
            </a:extLst>
          </p:cNvPr>
          <p:cNvSpPr txBox="1"/>
          <p:nvPr/>
        </p:nvSpPr>
        <p:spPr>
          <a:xfrm>
            <a:off x="6395422" y="5206692"/>
            <a:ext cx="2529667" cy="1231106"/>
          </a:xfrm>
          <a:prstGeom prst="rect">
            <a:avLst/>
          </a:prstGeom>
          <a:noFill/>
        </p:spPr>
        <p:txBody>
          <a:bodyPr wrap="square" rtlCol="0">
            <a:spAutoFit/>
          </a:bodyPr>
          <a:lstStyle/>
          <a:p>
            <a:pPr algn="ctr"/>
            <a:r>
              <a:rPr lang="en-US" sz="2800" dirty="0"/>
              <a:t>Middle Income Units Fill</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sp>
        <p:nvSpPr>
          <p:cNvPr id="39" name="TextBox 38">
            <a:extLst>
              <a:ext uri="{FF2B5EF4-FFF2-40B4-BE49-F238E27FC236}">
                <a16:creationId xmlns:a16="http://schemas.microsoft.com/office/drawing/2014/main" id="{CB3EB2B6-57B0-E018-7E12-3AD304B6394B}"/>
              </a:ext>
            </a:extLst>
          </p:cNvPr>
          <p:cNvSpPr txBox="1"/>
          <p:nvPr/>
        </p:nvSpPr>
        <p:spPr>
          <a:xfrm>
            <a:off x="7795422" y="4559877"/>
            <a:ext cx="1903085" cy="461665"/>
          </a:xfrm>
          <a:prstGeom prst="rect">
            <a:avLst/>
          </a:prstGeom>
          <a:noFill/>
          <a:ln>
            <a:noFill/>
          </a:ln>
        </p:spPr>
        <p:txBody>
          <a:bodyPr wrap="none" rtlCol="0">
            <a:spAutoFit/>
          </a:bodyPr>
          <a:lstStyle/>
          <a:p>
            <a:r>
              <a:rPr lang="en-US" sz="2400" dirty="0">
                <a:solidFill>
                  <a:schemeClr val="accent6"/>
                </a:solidFill>
              </a:rPr>
              <a:t>50/100 = 50%</a:t>
            </a:r>
          </a:p>
        </p:txBody>
      </p:sp>
    </p:spTree>
    <p:extLst>
      <p:ext uri="{BB962C8B-B14F-4D97-AF65-F5344CB8AC3E}">
        <p14:creationId xmlns:p14="http://schemas.microsoft.com/office/powerpoint/2010/main" val="14767827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4C5F8A09-AF40-F59F-DD32-8C82958CE526}"/>
              </a:ext>
            </a:extLst>
          </p:cNvPr>
          <p:cNvGraphicFramePr>
            <a:graphicFrameLocks/>
          </p:cNvGraphicFramePr>
          <p:nvPr/>
        </p:nvGraphicFramePr>
        <p:xfrm>
          <a:off x="8712197" y="203342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0" name="Table 39">
            <a:extLst>
              <a:ext uri="{FF2B5EF4-FFF2-40B4-BE49-F238E27FC236}">
                <a16:creationId xmlns:a16="http://schemas.microsoft.com/office/drawing/2014/main" id="{2905C863-4C86-CA3B-FAFC-16D9DAFB69F1}"/>
              </a:ext>
            </a:extLst>
          </p:cNvPr>
          <p:cNvGraphicFramePr>
            <a:graphicFrameLocks/>
          </p:cNvGraphicFramePr>
          <p:nvPr/>
        </p:nvGraphicFramePr>
        <p:xfrm>
          <a:off x="8712197"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0</a:t>
                      </a:r>
                    </a:p>
                  </a:txBody>
                  <a:tcPr/>
                </a:tc>
                <a:extLst>
                  <a:ext uri="{0D108BD9-81ED-4DB2-BD59-A6C34878D82A}">
                    <a16:rowId xmlns:a16="http://schemas.microsoft.com/office/drawing/2014/main" val="3925597502"/>
                  </a:ext>
                </a:extLst>
              </a:tr>
            </a:tbl>
          </a:graphicData>
        </a:graphic>
      </p:graphicFrame>
      <p:graphicFrame>
        <p:nvGraphicFramePr>
          <p:cNvPr id="41" name="Table 40">
            <a:extLst>
              <a:ext uri="{FF2B5EF4-FFF2-40B4-BE49-F238E27FC236}">
                <a16:creationId xmlns:a16="http://schemas.microsoft.com/office/drawing/2014/main" id="{4A3808B2-B842-BCAA-FDE4-1A8D70814ADD}"/>
              </a:ext>
            </a:extLst>
          </p:cNvPr>
          <p:cNvGraphicFramePr>
            <a:graphicFrameLocks/>
          </p:cNvGraphicFramePr>
          <p:nvPr/>
        </p:nvGraphicFramePr>
        <p:xfrm>
          <a:off x="8712196" y="2047617"/>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a:t>
                      </a:r>
                    </a:p>
                  </a:txBody>
                  <a:tcPr/>
                </a:tc>
                <a:tc>
                  <a:txBody>
                    <a:bodyPr/>
                    <a:lstStyle/>
                    <a:p>
                      <a:pPr algn="ctr"/>
                      <a:r>
                        <a:rPr lang="en-US" sz="3600" dirty="0"/>
                        <a:t>20</a:t>
                      </a:r>
                    </a:p>
                  </a:txBody>
                  <a:tcPr/>
                </a:tc>
                <a:extLst>
                  <a:ext uri="{0D108BD9-81ED-4DB2-BD59-A6C34878D82A}">
                    <a16:rowId xmlns:a16="http://schemas.microsoft.com/office/drawing/2014/main" val="3925597502"/>
                  </a:ext>
                </a:extLst>
              </a:tr>
            </a:tbl>
          </a:graphicData>
        </a:graphic>
      </p:graphicFrame>
      <p:graphicFrame>
        <p:nvGraphicFramePr>
          <p:cNvPr id="42" name="Table 41">
            <a:extLst>
              <a:ext uri="{FF2B5EF4-FFF2-40B4-BE49-F238E27FC236}">
                <a16:creationId xmlns:a16="http://schemas.microsoft.com/office/drawing/2014/main" id="{8276BFA1-423D-3BCF-3B60-CA7F0A4D64B9}"/>
              </a:ext>
            </a:extLst>
          </p:cNvPr>
          <p:cNvGraphicFramePr>
            <a:graphicFrameLocks/>
          </p:cNvGraphicFramePr>
          <p:nvPr/>
        </p:nvGraphicFramePr>
        <p:xfrm>
          <a:off x="8712195" y="2040519"/>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solidFill>
                            <a:schemeClr val="accent4"/>
                          </a:solidFill>
                        </a:rPr>
                        <a:t>45</a:t>
                      </a:r>
                    </a:p>
                  </a:txBody>
                  <a:tcPr/>
                </a:tc>
                <a:tc>
                  <a:txBody>
                    <a:bodyPr/>
                    <a:lstStyle/>
                    <a:p>
                      <a:pPr algn="ctr"/>
                      <a:r>
                        <a:rPr lang="en-US" sz="3600" dirty="0">
                          <a:solidFill>
                            <a:srgbClr val="FF0000"/>
                          </a:solidFill>
                        </a:rPr>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solidFill>
                            <a:schemeClr val="accent6"/>
                          </a:solidFill>
                        </a:rPr>
                        <a:t>10</a:t>
                      </a:r>
                    </a:p>
                  </a:txBody>
                  <a:tcPr/>
                </a:tc>
                <a:tc>
                  <a:txBody>
                    <a:bodyPr/>
                    <a:lstStyle/>
                    <a:p>
                      <a:pPr algn="ctr"/>
                      <a:r>
                        <a:rPr lang="en-US" sz="3600" dirty="0">
                          <a:solidFill>
                            <a:schemeClr val="accent6"/>
                          </a:solidFill>
                        </a:rPr>
                        <a:t>40</a:t>
                      </a:r>
                    </a:p>
                  </a:txBody>
                  <a:tcPr/>
                </a:tc>
                <a:extLst>
                  <a:ext uri="{0D108BD9-81ED-4DB2-BD59-A6C34878D82A}">
                    <a16:rowId xmlns:a16="http://schemas.microsoft.com/office/drawing/2014/main" val="3925597502"/>
                  </a:ext>
                </a:extLst>
              </a:tr>
            </a:tbl>
          </a:graphicData>
        </a:graphic>
      </p:graphicFrame>
      <p:sp>
        <p:nvSpPr>
          <p:cNvPr id="2" name="Title 1">
            <a:extLst>
              <a:ext uri="{FF2B5EF4-FFF2-40B4-BE49-F238E27FC236}">
                <a16:creationId xmlns:a16="http://schemas.microsoft.com/office/drawing/2014/main" id="{2B381289-E18B-87D0-0F0D-F8C0C1818A3E}"/>
              </a:ext>
            </a:extLst>
          </p:cNvPr>
          <p:cNvSpPr>
            <a:spLocks noGrp="1"/>
          </p:cNvSpPr>
          <p:nvPr>
            <p:ph type="title"/>
          </p:nvPr>
        </p:nvSpPr>
        <p:spPr/>
        <p:txBody>
          <a:bodyPr/>
          <a:lstStyle/>
          <a:p>
            <a:r>
              <a:rPr lang="en-US" dirty="0"/>
              <a:t>Why is this happening? (more detail)</a:t>
            </a:r>
          </a:p>
        </p:txBody>
      </p:sp>
      <p:sp>
        <p:nvSpPr>
          <p:cNvPr id="3" name="Content Placeholder 2">
            <a:extLst>
              <a:ext uri="{FF2B5EF4-FFF2-40B4-BE49-F238E27FC236}">
                <a16:creationId xmlns:a16="http://schemas.microsoft.com/office/drawing/2014/main" id="{E571612A-3EE9-682F-5455-A569C71709F3}"/>
              </a:ext>
            </a:extLst>
          </p:cNvPr>
          <p:cNvSpPr>
            <a:spLocks noGrp="1"/>
          </p:cNvSpPr>
          <p:nvPr>
            <p:ph idx="1"/>
          </p:nvPr>
        </p:nvSpPr>
        <p:spPr>
          <a:xfrm>
            <a:off x="655320" y="2200990"/>
            <a:ext cx="3469633" cy="881219"/>
          </a:xfrm>
        </p:spPr>
        <p:txBody>
          <a:bodyPr/>
          <a:lstStyle/>
          <a:p>
            <a:pPr marL="0" indent="0">
              <a:buNone/>
            </a:pPr>
            <a:r>
              <a:rPr lang="en-US" b="1" dirty="0"/>
              <a:t>First pass</a:t>
            </a:r>
            <a:r>
              <a:rPr lang="en-US" dirty="0"/>
              <a:t>: take top 50 community residents.</a:t>
            </a:r>
          </a:p>
        </p:txBody>
      </p:sp>
      <p:sp>
        <p:nvSpPr>
          <p:cNvPr id="5" name="Rectangle 4">
            <a:extLst>
              <a:ext uri="{FF2B5EF4-FFF2-40B4-BE49-F238E27FC236}">
                <a16:creationId xmlns:a16="http://schemas.microsoft.com/office/drawing/2014/main" id="{CEA9140B-E443-3E3E-CF48-3F8CC581ACBD}"/>
              </a:ext>
            </a:extLst>
          </p:cNvPr>
          <p:cNvSpPr/>
          <p:nvPr/>
        </p:nvSpPr>
        <p:spPr>
          <a:xfrm rot="16200000">
            <a:off x="7866551" y="439574"/>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7CF2A-86BB-EA10-1BED-A20680A0C66B}"/>
              </a:ext>
            </a:extLst>
          </p:cNvPr>
          <p:cNvSpPr txBox="1"/>
          <p:nvPr/>
        </p:nvSpPr>
        <p:spPr>
          <a:xfrm>
            <a:off x="4897282" y="2040519"/>
            <a:ext cx="2240280" cy="1661993"/>
          </a:xfrm>
          <a:prstGeom prst="rect">
            <a:avLst/>
          </a:prstGeom>
          <a:noFill/>
        </p:spPr>
        <p:txBody>
          <a:bodyPr wrap="square" rtlCol="0">
            <a:spAutoFit/>
          </a:bodyPr>
          <a:lstStyle/>
          <a:p>
            <a:pPr algn="ctr"/>
            <a:r>
              <a:rPr lang="en-US" sz="2800" dirty="0"/>
              <a:t>Community Preference</a:t>
            </a:r>
          </a:p>
          <a:p>
            <a:pPr algn="ctr"/>
            <a:r>
              <a:rPr lang="en-US" sz="2800" dirty="0"/>
              <a:t>Satisfied</a:t>
            </a:r>
          </a:p>
          <a:p>
            <a:pPr algn="ctr"/>
            <a:endParaRPr lang="en-US" dirty="0"/>
          </a:p>
        </p:txBody>
      </p:sp>
      <p:sp>
        <p:nvSpPr>
          <p:cNvPr id="11" name="Content Placeholder 2">
            <a:extLst>
              <a:ext uri="{FF2B5EF4-FFF2-40B4-BE49-F238E27FC236}">
                <a16:creationId xmlns:a16="http://schemas.microsoft.com/office/drawing/2014/main" id="{8FEEF74B-D143-F273-AC07-CD55DC49AFF2}"/>
              </a:ext>
            </a:extLst>
          </p:cNvPr>
          <p:cNvSpPr txBox="1">
            <a:spLocks/>
          </p:cNvSpPr>
          <p:nvPr/>
        </p:nvSpPr>
        <p:spPr>
          <a:xfrm>
            <a:off x="655320" y="4270217"/>
            <a:ext cx="3957320" cy="881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Second pass</a:t>
            </a:r>
            <a:r>
              <a:rPr lang="en-US" dirty="0"/>
              <a:t>: </a:t>
            </a:r>
          </a:p>
          <a:p>
            <a:pPr marL="0" indent="0">
              <a:buFont typeface="Arial" panose="020B0604020202020204" pitchFamily="34" charset="0"/>
              <a:buNone/>
            </a:pPr>
            <a:r>
              <a:rPr lang="en-US" dirty="0"/>
              <a:t>Fill remaining units</a:t>
            </a:r>
          </a:p>
        </p:txBody>
      </p:sp>
      <p:cxnSp>
        <p:nvCxnSpPr>
          <p:cNvPr id="22" name="Straight Arrow Connector 21">
            <a:extLst>
              <a:ext uri="{FF2B5EF4-FFF2-40B4-BE49-F238E27FC236}">
                <a16:creationId xmlns:a16="http://schemas.microsoft.com/office/drawing/2014/main" id="{34BAB12E-AEBA-3CAA-50F2-CB41A15592BC}"/>
              </a:ext>
            </a:extLst>
          </p:cNvPr>
          <p:cNvCxnSpPr>
            <a:cxnSpLocks/>
          </p:cNvCxnSpPr>
          <p:nvPr/>
        </p:nvCxnSpPr>
        <p:spPr>
          <a:xfrm>
            <a:off x="6017422" y="3452421"/>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DBA52E0-DFAF-47BB-B8DF-B4734041C79E}"/>
              </a:ext>
            </a:extLst>
          </p:cNvPr>
          <p:cNvCxnSpPr>
            <a:cxnSpLocks/>
          </p:cNvCxnSpPr>
          <p:nvPr/>
        </p:nvCxnSpPr>
        <p:spPr>
          <a:xfrm>
            <a:off x="4269902" y="4359263"/>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2F3973-6EB5-7FFF-8590-DD468D8E8364}"/>
              </a:ext>
            </a:extLst>
          </p:cNvPr>
          <p:cNvSpPr txBox="1"/>
          <p:nvPr/>
        </p:nvSpPr>
        <p:spPr>
          <a:xfrm>
            <a:off x="3149762" y="5169034"/>
            <a:ext cx="2240280" cy="1231106"/>
          </a:xfrm>
          <a:prstGeom prst="rect">
            <a:avLst/>
          </a:prstGeom>
          <a:noFill/>
        </p:spPr>
        <p:txBody>
          <a:bodyPr wrap="square" rtlCol="0">
            <a:spAutoFit/>
          </a:bodyPr>
          <a:lstStyle/>
          <a:p>
            <a:pPr algn="ctr"/>
            <a:r>
              <a:rPr lang="en-US" sz="2800" dirty="0"/>
              <a:t>Low Income Units Fill</a:t>
            </a:r>
          </a:p>
          <a:p>
            <a:pPr algn="ctr"/>
            <a:endParaRPr lang="en-US" dirty="0"/>
          </a:p>
        </p:txBody>
      </p:sp>
      <p:cxnSp>
        <p:nvCxnSpPr>
          <p:cNvPr id="31" name="Straight Arrow Connector 30">
            <a:extLst>
              <a:ext uri="{FF2B5EF4-FFF2-40B4-BE49-F238E27FC236}">
                <a16:creationId xmlns:a16="http://schemas.microsoft.com/office/drawing/2014/main" id="{1BC08917-035E-F14D-0293-8135E62AD1B7}"/>
              </a:ext>
            </a:extLst>
          </p:cNvPr>
          <p:cNvCxnSpPr>
            <a:cxnSpLocks/>
          </p:cNvCxnSpPr>
          <p:nvPr/>
        </p:nvCxnSpPr>
        <p:spPr>
          <a:xfrm>
            <a:off x="7795422" y="4366009"/>
            <a:ext cx="0" cy="720725"/>
          </a:xfrm>
          <a:prstGeom prst="straightConnector1">
            <a:avLst/>
          </a:prstGeom>
          <a:ln w="5715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4BF3A0F-2298-B928-431F-84BB7AED9F04}"/>
              </a:ext>
            </a:extLst>
          </p:cNvPr>
          <p:cNvSpPr txBox="1"/>
          <p:nvPr/>
        </p:nvSpPr>
        <p:spPr>
          <a:xfrm>
            <a:off x="6395422" y="5206692"/>
            <a:ext cx="2529667" cy="1231106"/>
          </a:xfrm>
          <a:prstGeom prst="rect">
            <a:avLst/>
          </a:prstGeom>
          <a:noFill/>
        </p:spPr>
        <p:txBody>
          <a:bodyPr wrap="square" rtlCol="0">
            <a:spAutoFit/>
          </a:bodyPr>
          <a:lstStyle/>
          <a:p>
            <a:pPr algn="ctr"/>
            <a:r>
              <a:rPr lang="en-US" sz="2800" dirty="0"/>
              <a:t>Middle Income Units Fill</a:t>
            </a:r>
          </a:p>
          <a:p>
            <a:pPr algn="ctr"/>
            <a:endParaRPr lang="en-US" dirty="0"/>
          </a:p>
        </p:txBody>
      </p:sp>
      <p:sp>
        <p:nvSpPr>
          <p:cNvPr id="36" name="TextBox 35">
            <a:extLst>
              <a:ext uri="{FF2B5EF4-FFF2-40B4-BE49-F238E27FC236}">
                <a16:creationId xmlns:a16="http://schemas.microsoft.com/office/drawing/2014/main" id="{33CF6C1E-4AAF-509F-D8F3-52F98A66ECD4}"/>
              </a:ext>
            </a:extLst>
          </p:cNvPr>
          <p:cNvSpPr txBox="1"/>
          <p:nvPr/>
        </p:nvSpPr>
        <p:spPr>
          <a:xfrm>
            <a:off x="6017421" y="3484022"/>
            <a:ext cx="1903085" cy="461665"/>
          </a:xfrm>
          <a:prstGeom prst="rect">
            <a:avLst/>
          </a:prstGeom>
          <a:noFill/>
        </p:spPr>
        <p:txBody>
          <a:bodyPr wrap="none" rtlCol="0">
            <a:spAutoFit/>
          </a:bodyPr>
          <a:lstStyle/>
          <a:p>
            <a:r>
              <a:rPr lang="en-US" sz="2400" dirty="0">
                <a:solidFill>
                  <a:schemeClr val="accent4"/>
                </a:solidFill>
              </a:rPr>
              <a:t>50/200 = 25%</a:t>
            </a:r>
          </a:p>
        </p:txBody>
      </p:sp>
      <p:sp>
        <p:nvSpPr>
          <p:cNvPr id="37" name="TextBox 36">
            <a:extLst>
              <a:ext uri="{FF2B5EF4-FFF2-40B4-BE49-F238E27FC236}">
                <a16:creationId xmlns:a16="http://schemas.microsoft.com/office/drawing/2014/main" id="{9C0FA8B4-15F5-BB02-3FE5-855FDC76EF4D}"/>
              </a:ext>
            </a:extLst>
          </p:cNvPr>
          <p:cNvSpPr txBox="1"/>
          <p:nvPr/>
        </p:nvSpPr>
        <p:spPr>
          <a:xfrm>
            <a:off x="4271462" y="4552610"/>
            <a:ext cx="1824538" cy="461665"/>
          </a:xfrm>
          <a:prstGeom prst="rect">
            <a:avLst/>
          </a:prstGeom>
          <a:noFill/>
        </p:spPr>
        <p:txBody>
          <a:bodyPr wrap="none" rtlCol="0">
            <a:spAutoFit/>
          </a:bodyPr>
          <a:lstStyle/>
          <a:p>
            <a:r>
              <a:rPr lang="en-US" sz="2400" dirty="0">
                <a:solidFill>
                  <a:srgbClr val="FF0000"/>
                </a:solidFill>
              </a:rPr>
              <a:t>5/720 = 0.7%</a:t>
            </a:r>
          </a:p>
        </p:txBody>
      </p:sp>
      <p:sp>
        <p:nvSpPr>
          <p:cNvPr id="39" name="TextBox 38">
            <a:extLst>
              <a:ext uri="{FF2B5EF4-FFF2-40B4-BE49-F238E27FC236}">
                <a16:creationId xmlns:a16="http://schemas.microsoft.com/office/drawing/2014/main" id="{CB3EB2B6-57B0-E018-7E12-3AD304B6394B}"/>
              </a:ext>
            </a:extLst>
          </p:cNvPr>
          <p:cNvSpPr txBox="1"/>
          <p:nvPr/>
        </p:nvSpPr>
        <p:spPr>
          <a:xfrm>
            <a:off x="7795422" y="4559877"/>
            <a:ext cx="1903085" cy="461665"/>
          </a:xfrm>
          <a:prstGeom prst="rect">
            <a:avLst/>
          </a:prstGeom>
          <a:noFill/>
          <a:ln>
            <a:noFill/>
          </a:ln>
        </p:spPr>
        <p:txBody>
          <a:bodyPr wrap="none" rtlCol="0">
            <a:spAutoFit/>
          </a:bodyPr>
          <a:lstStyle/>
          <a:p>
            <a:r>
              <a:rPr lang="en-US" sz="2400" dirty="0">
                <a:solidFill>
                  <a:schemeClr val="accent6"/>
                </a:solidFill>
              </a:rPr>
              <a:t>50/100 = 50%</a:t>
            </a:r>
          </a:p>
        </p:txBody>
      </p:sp>
      <p:cxnSp>
        <p:nvCxnSpPr>
          <p:cNvPr id="43" name="Straight Arrow Connector 42">
            <a:extLst>
              <a:ext uri="{FF2B5EF4-FFF2-40B4-BE49-F238E27FC236}">
                <a16:creationId xmlns:a16="http://schemas.microsoft.com/office/drawing/2014/main" id="{427037CB-F42F-69F0-CDBF-AC03CC7B919F}"/>
              </a:ext>
            </a:extLst>
          </p:cNvPr>
          <p:cNvCxnSpPr>
            <a:cxnSpLocks/>
          </p:cNvCxnSpPr>
          <p:nvPr/>
        </p:nvCxnSpPr>
        <p:spPr>
          <a:xfrm>
            <a:off x="6044316" y="4366181"/>
            <a:ext cx="0" cy="720725"/>
          </a:xfrm>
          <a:prstGeom prst="straightConnector1">
            <a:avLst/>
          </a:prstGeom>
          <a:ln w="571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72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4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0" grpId="0"/>
      <p:bldP spid="11" grpId="0"/>
      <p:bldP spid="30" grpId="0"/>
      <p:bldP spid="32" grpId="0"/>
      <p:bldP spid="36" grpId="0"/>
      <p:bldP spid="37" grpId="0"/>
      <p:bldP spid="3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96C1-4D66-FB7F-2F38-6AB816929B0D}"/>
              </a:ext>
            </a:extLst>
          </p:cNvPr>
          <p:cNvSpPr>
            <a:spLocks noGrp="1"/>
          </p:cNvSpPr>
          <p:nvPr>
            <p:ph type="title"/>
          </p:nvPr>
        </p:nvSpPr>
        <p:spPr/>
        <p:txBody>
          <a:bodyPr/>
          <a:lstStyle/>
          <a:p>
            <a:r>
              <a:rPr lang="en-US" dirty="0"/>
              <a:t>Is this </a:t>
            </a:r>
            <a:r>
              <a:rPr lang="en-US" i="1" dirty="0"/>
              <a:t>actually</a:t>
            </a:r>
            <a:r>
              <a:rPr lang="en-US" dirty="0"/>
              <a:t> happening?</a:t>
            </a:r>
          </a:p>
        </p:txBody>
      </p:sp>
      <p:sp>
        <p:nvSpPr>
          <p:cNvPr id="3" name="Content Placeholder 2">
            <a:extLst>
              <a:ext uri="{FF2B5EF4-FFF2-40B4-BE49-F238E27FC236}">
                <a16:creationId xmlns:a16="http://schemas.microsoft.com/office/drawing/2014/main" id="{D9C5474B-13FB-7E1D-DF72-C7659BFE8FB2}"/>
              </a:ext>
            </a:extLst>
          </p:cNvPr>
          <p:cNvSpPr>
            <a:spLocks noGrp="1"/>
          </p:cNvSpPr>
          <p:nvPr>
            <p:ph idx="1"/>
          </p:nvPr>
        </p:nvSpPr>
        <p:spPr>
          <a:xfrm>
            <a:off x="838200" y="1825625"/>
            <a:ext cx="10869386" cy="4351338"/>
          </a:xfrm>
        </p:spPr>
        <p:txBody>
          <a:bodyPr/>
          <a:lstStyle/>
          <a:p>
            <a:pPr marL="0" indent="0">
              <a:buNone/>
            </a:pPr>
            <a:endParaRPr lang="en-US" dirty="0"/>
          </a:p>
          <a:p>
            <a:pPr marL="0" indent="0">
              <a:buNone/>
            </a:pPr>
            <a:r>
              <a:rPr lang="en-US" dirty="0"/>
              <a:t>We considered a stylized example with made-up numbers…</a:t>
            </a:r>
          </a:p>
          <a:p>
            <a:pPr marL="0" indent="0">
              <a:buNone/>
            </a:pPr>
            <a:endParaRPr lang="en-US" dirty="0"/>
          </a:p>
          <a:p>
            <a:pPr marL="0" indent="0">
              <a:buNone/>
            </a:pPr>
            <a:r>
              <a:rPr lang="en-US" dirty="0"/>
              <a:t>But the same qualitative conclusions hold so long as </a:t>
            </a:r>
          </a:p>
          <a:p>
            <a:pPr marL="571500" indent="-571500">
              <a:buAutoNum type="romanLcParenBoth"/>
            </a:pPr>
            <a:r>
              <a:rPr lang="en-US" dirty="0"/>
              <a:t>Fewer than 50% of applicants qualify for community preference, and</a:t>
            </a:r>
          </a:p>
          <a:p>
            <a:pPr marL="571500" indent="-571500">
              <a:buAutoNum type="romanLcParenBoth"/>
            </a:pPr>
            <a:r>
              <a:rPr lang="en-US" dirty="0"/>
              <a:t>competition is fiercest for low-income units.</a:t>
            </a:r>
          </a:p>
        </p:txBody>
      </p:sp>
    </p:spTree>
    <p:extLst>
      <p:ext uri="{BB962C8B-B14F-4D97-AF65-F5344CB8AC3E}">
        <p14:creationId xmlns:p14="http://schemas.microsoft.com/office/powerpoint/2010/main" val="6078331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A5AA-D5EA-6A64-FC01-27CBC066C2CB}"/>
              </a:ext>
            </a:extLst>
          </p:cNvPr>
          <p:cNvSpPr>
            <a:spLocks noGrp="1"/>
          </p:cNvSpPr>
          <p:nvPr>
            <p:ph type="title"/>
          </p:nvPr>
        </p:nvSpPr>
        <p:spPr/>
        <p:txBody>
          <a:bodyPr/>
          <a:lstStyle/>
          <a:p>
            <a:r>
              <a:rPr lang="en-US" dirty="0"/>
              <a:t>From Beveridge’s Analysis</a:t>
            </a:r>
          </a:p>
        </p:txBody>
      </p:sp>
      <p:sp>
        <p:nvSpPr>
          <p:cNvPr id="3" name="Content Placeholder 2">
            <a:extLst>
              <a:ext uri="{FF2B5EF4-FFF2-40B4-BE49-F238E27FC236}">
                <a16:creationId xmlns:a16="http://schemas.microsoft.com/office/drawing/2014/main" id="{21734E48-E1FC-31D8-2424-ACC5F580EB69}"/>
              </a:ext>
            </a:extLst>
          </p:cNvPr>
          <p:cNvSpPr>
            <a:spLocks noGrp="1"/>
          </p:cNvSpPr>
          <p:nvPr>
            <p:ph idx="1"/>
          </p:nvPr>
        </p:nvSpPr>
        <p:spPr>
          <a:xfrm>
            <a:off x="838200" y="1515382"/>
            <a:ext cx="11179629" cy="6485618"/>
          </a:xfrm>
        </p:spPr>
        <p:txBody>
          <a:bodyPr>
            <a:noAutofit/>
          </a:bodyPr>
          <a:lstStyle/>
          <a:p>
            <a:pPr marL="0" indent="0">
              <a:buNone/>
            </a:pPr>
            <a:r>
              <a:rPr lang="en-US" sz="1800" dirty="0"/>
              <a:t>88. Moreover, particular unit-types for which an applicant HH may be eligible are in limited supply. Depending on the sequence in which applications are processed, it may be the case that </a:t>
            </a:r>
            <a:r>
              <a:rPr lang="en-US" sz="1800" b="1" dirty="0"/>
              <a:t>a unit-type for which an applicant HH is eligible will no longer be available by the time that outsiders are reached</a:t>
            </a:r>
            <a:r>
              <a:rPr lang="en-US" sz="1800" dirty="0"/>
              <a:t> (that is, the unit type will be closed out). </a:t>
            </a:r>
          </a:p>
          <a:p>
            <a:pPr marL="0" indent="0">
              <a:buNone/>
            </a:pPr>
            <a:r>
              <a:rPr lang="en-US" sz="1800" dirty="0"/>
              <a:t>89. Of the 892 unit-types for which there were at least one unit awarded to an applicant HH in a lottery, I examined each unit type that had both of the following characteristics: </a:t>
            </a:r>
          </a:p>
          <a:p>
            <a:pPr lvl="1"/>
            <a:r>
              <a:rPr lang="en-US" sz="1800" dirty="0"/>
              <a:t>At least </a:t>
            </a:r>
            <a:r>
              <a:rPr lang="en-US" sz="1800" i="1" dirty="0"/>
              <a:t>five </a:t>
            </a:r>
            <a:r>
              <a:rPr lang="en-US" sz="1800" dirty="0"/>
              <a:t>applicant HHs listed on defendant’s status sheets as having received community preference but not having received a disability set-aside; and </a:t>
            </a:r>
          </a:p>
          <a:p>
            <a:pPr lvl="1"/>
            <a:r>
              <a:rPr lang="en-US" sz="1800" i="1" dirty="0"/>
              <a:t>Zero </a:t>
            </a:r>
            <a:r>
              <a:rPr lang="en-US" sz="1800" dirty="0"/>
              <a:t>applicant HHs listed on defendant’s status sheets to outsiders who were not the recipient of a disability set-aside.</a:t>
            </a:r>
          </a:p>
          <a:p>
            <a:pPr marL="0" indent="0">
              <a:buNone/>
            </a:pPr>
            <a:r>
              <a:rPr lang="en-US" sz="1800" dirty="0"/>
              <a:t>90. This subset of unit types, the projects they were associated with, their AMI bands, and the number of lottery units awarded to CP awards of than disability in each unit type are listed in Exhibit 8, hereto. </a:t>
            </a:r>
          </a:p>
          <a:p>
            <a:pPr marL="0" indent="0">
              <a:buNone/>
            </a:pPr>
            <a:r>
              <a:rPr lang="en-US" sz="1800" dirty="0"/>
              <a:t>91. As the exhibit shows, there were 61 such unit types across 36 lotteries encompassing 565 units. 86.9 percent of the unit types, and </a:t>
            </a:r>
            <a:r>
              <a:rPr lang="en-US" sz="1800" b="1" dirty="0"/>
              <a:t>89.0 percent of the units were unit types at the 60 percent AMI level or below</a:t>
            </a:r>
            <a:r>
              <a:rPr lang="en-US" sz="1800" dirty="0"/>
              <a:t>. </a:t>
            </a:r>
          </a:p>
          <a:p>
            <a:pPr marL="0" indent="0">
              <a:buNone/>
            </a:pPr>
            <a:r>
              <a:rPr lang="en-US" sz="1800" dirty="0"/>
              <a:t>92. In other words</a:t>
            </a:r>
            <a:r>
              <a:rPr lang="en-US" sz="1800" b="1" dirty="0"/>
              <a:t>, there are a substantial number of unit types where HHs who are outsiders not eligible for any preference or set-aside (whose processing is sequenced after CP beneficiary HHs) are closed out </a:t>
            </a:r>
            <a:r>
              <a:rPr lang="en-US" sz="1800" dirty="0"/>
              <a:t>(effectively have no chance to compete for the unit type), even though the unit type might have been the only one for which they were eligible. This is the direct result of the rules governing the allocation of units based upon community preference. </a:t>
            </a:r>
          </a:p>
          <a:p>
            <a:pPr marL="0" indent="0">
              <a:buNone/>
            </a:pPr>
            <a:endParaRPr lang="en-US" sz="1800" dirty="0"/>
          </a:p>
          <a:p>
            <a:pPr marL="0" indent="0">
              <a:buNone/>
            </a:pPr>
            <a:endParaRPr lang="en-US" sz="1800" dirty="0"/>
          </a:p>
          <a:p>
            <a:pPr marL="0" indent="0">
              <a:buNone/>
            </a:pPr>
            <a:r>
              <a:rPr lang="en-US" sz="1800" dirty="0"/>
              <a:t>93. Note that this tally does not encompass those unit types where zero outsider awards were paired with four or fewer awards to applicant HHs who received community preference but not a disability set aside, and does not include the circumstance of partial exclusion (where the lion’s share of a unit type goes to those with a community preference). </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1130264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2763F6A-93E9-F4A6-07D0-8FB608BF7A07}"/>
                  </a:ext>
                </a:extLst>
              </p:cNvPr>
              <p:cNvSpPr>
                <a:spLocks noGrp="1"/>
              </p:cNvSpPr>
              <p:nvPr>
                <p:ph type="title"/>
              </p:nvPr>
            </p:nvSpPr>
            <p:spPr>
              <a:xfrm>
                <a:off x="924462" y="-102685"/>
                <a:ext cx="10515600" cy="1325563"/>
              </a:xfrm>
            </p:spPr>
            <p:txBody>
              <a:bodyPr>
                <a:normAutofit/>
              </a:bodyPr>
              <a:lstStyle/>
              <a:p>
                <a:r>
                  <a:rPr lang="en-US" sz="3600" dirty="0"/>
                  <a:t>Evidence: types with </a:t>
                </a:r>
                <a:br>
                  <a:rPr lang="en-US" sz="3600" i="1" dirty="0">
                    <a:latin typeface="Cambria Math" panose="02040503050406030204" pitchFamily="18" charset="0"/>
                    <a:ea typeface="Cambria Math" panose="02040503050406030204" pitchFamily="18" charset="0"/>
                  </a:rPr>
                </a:br>
                <a14:m>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5 </m:t>
                    </m:r>
                  </m:oMath>
                </a14:m>
                <a:r>
                  <a:rPr lang="en-US" sz="3600" dirty="0"/>
                  <a:t>units to insiders, 0 to outsiders.</a:t>
                </a:r>
              </a:p>
            </p:txBody>
          </p:sp>
        </mc:Choice>
        <mc:Fallback xmlns="">
          <p:sp>
            <p:nvSpPr>
              <p:cNvPr id="2" name="Title 1">
                <a:extLst>
                  <a:ext uri="{FF2B5EF4-FFF2-40B4-BE49-F238E27FC236}">
                    <a16:creationId xmlns:a16="http://schemas.microsoft.com/office/drawing/2014/main" id="{22763F6A-93E9-F4A6-07D0-8FB608BF7A07}"/>
                  </a:ext>
                </a:extLst>
              </p:cNvPr>
              <p:cNvSpPr>
                <a:spLocks noGrp="1" noRot="1" noChangeAspect="1" noMove="1" noResize="1" noEditPoints="1" noAdjustHandles="1" noChangeArrowheads="1" noChangeShapeType="1" noTextEdit="1"/>
              </p:cNvSpPr>
              <p:nvPr>
                <p:ph type="title"/>
              </p:nvPr>
            </p:nvSpPr>
            <p:spPr>
              <a:xfrm>
                <a:off x="924462" y="-102685"/>
                <a:ext cx="10515600" cy="1325563"/>
              </a:xfrm>
              <a:blipFill>
                <a:blip r:embed="rId2"/>
                <a:stretch>
                  <a:fillRect l="-1689" t="-1887" b="-8491"/>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F41C5AFC-FAD2-0861-93FD-5788B220B71C}"/>
              </a:ext>
            </a:extLst>
          </p:cNvPr>
          <p:cNvPicPr>
            <a:picLocks noGrp="1" noChangeAspect="1"/>
          </p:cNvPicPr>
          <p:nvPr>
            <p:ph idx="1"/>
          </p:nvPr>
        </p:nvPicPr>
        <p:blipFill rotWithShape="1">
          <a:blip r:embed="rId3"/>
          <a:srcRect t="2887" b="49267"/>
          <a:stretch/>
        </p:blipFill>
        <p:spPr>
          <a:xfrm>
            <a:off x="838200" y="1222877"/>
            <a:ext cx="4648199" cy="5630809"/>
          </a:xfrm>
        </p:spPr>
      </p:pic>
      <p:pic>
        <p:nvPicPr>
          <p:cNvPr id="7" name="Content Placeholder 4">
            <a:extLst>
              <a:ext uri="{FF2B5EF4-FFF2-40B4-BE49-F238E27FC236}">
                <a16:creationId xmlns:a16="http://schemas.microsoft.com/office/drawing/2014/main" id="{4F846B97-5BB5-BC0F-CC42-08DB10B826FE}"/>
              </a:ext>
            </a:extLst>
          </p:cNvPr>
          <p:cNvPicPr>
            <a:picLocks noChangeAspect="1"/>
          </p:cNvPicPr>
          <p:nvPr/>
        </p:nvPicPr>
        <p:blipFill rotWithShape="1">
          <a:blip r:embed="rId3"/>
          <a:srcRect t="51139"/>
          <a:stretch/>
        </p:blipFill>
        <p:spPr>
          <a:xfrm>
            <a:off x="6619339" y="1130221"/>
            <a:ext cx="4648199" cy="5750360"/>
          </a:xfrm>
          <a:prstGeom prst="rect">
            <a:avLst/>
          </a:prstGeom>
        </p:spPr>
      </p:pic>
      <p:sp>
        <p:nvSpPr>
          <p:cNvPr id="8" name="Donut 7">
            <a:extLst>
              <a:ext uri="{FF2B5EF4-FFF2-40B4-BE49-F238E27FC236}">
                <a16:creationId xmlns:a16="http://schemas.microsoft.com/office/drawing/2014/main" id="{348980CE-171D-CF7A-6F26-27AA7A5B4A10}"/>
              </a:ext>
            </a:extLst>
          </p:cNvPr>
          <p:cNvSpPr/>
          <p:nvPr/>
        </p:nvSpPr>
        <p:spPr>
          <a:xfrm>
            <a:off x="4882551" y="1500996"/>
            <a:ext cx="862641" cy="5538159"/>
          </a:xfrm>
          <a:prstGeom prst="donut">
            <a:avLst>
              <a:gd name="adj" fmla="val 9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Donut 8">
            <a:extLst>
              <a:ext uri="{FF2B5EF4-FFF2-40B4-BE49-F238E27FC236}">
                <a16:creationId xmlns:a16="http://schemas.microsoft.com/office/drawing/2014/main" id="{FE0FD97E-3769-8ABD-E030-15216ABCC6DF}"/>
              </a:ext>
            </a:extLst>
          </p:cNvPr>
          <p:cNvSpPr/>
          <p:nvPr/>
        </p:nvSpPr>
        <p:spPr>
          <a:xfrm>
            <a:off x="10663683" y="1005404"/>
            <a:ext cx="862641" cy="5889131"/>
          </a:xfrm>
          <a:prstGeom prst="donut">
            <a:avLst>
              <a:gd name="adj" fmla="val 9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2EC5BF3D-FE40-90DB-8017-2696AF85781C}"/>
              </a:ext>
            </a:extLst>
          </p:cNvPr>
          <p:cNvSpPr txBox="1"/>
          <p:nvPr/>
        </p:nvSpPr>
        <p:spPr>
          <a:xfrm>
            <a:off x="7960659" y="-63429"/>
            <a:ext cx="3817867" cy="1200329"/>
          </a:xfrm>
          <a:prstGeom prst="rect">
            <a:avLst/>
          </a:prstGeom>
          <a:noFill/>
        </p:spPr>
        <p:txBody>
          <a:bodyPr wrap="square" rtlCol="0">
            <a:spAutoFit/>
          </a:bodyPr>
          <a:lstStyle/>
          <a:p>
            <a:r>
              <a:rPr lang="en-US" sz="3600" dirty="0">
                <a:solidFill>
                  <a:srgbClr val="FF0000"/>
                </a:solidFill>
              </a:rPr>
              <a:t>Almost all very low-income units!</a:t>
            </a:r>
          </a:p>
        </p:txBody>
      </p:sp>
    </p:spTree>
    <p:extLst>
      <p:ext uri="{BB962C8B-B14F-4D97-AF65-F5344CB8AC3E}">
        <p14:creationId xmlns:p14="http://schemas.microsoft.com/office/powerpoint/2010/main" val="31251788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9E4A-0E7A-8646-8BCD-DACABBE0F23C}"/>
              </a:ext>
            </a:extLst>
          </p:cNvPr>
          <p:cNvSpPr>
            <a:spLocks noGrp="1"/>
          </p:cNvSpPr>
          <p:nvPr>
            <p:ph type="title"/>
          </p:nvPr>
        </p:nvSpPr>
        <p:spPr/>
        <p:txBody>
          <a:bodyPr/>
          <a:lstStyle/>
          <a:p>
            <a:r>
              <a:rPr lang="en-US" dirty="0"/>
              <a:t>Recall Siskin’s conclusions from Part 2…</a:t>
            </a:r>
          </a:p>
        </p:txBody>
      </p:sp>
      <p:pic>
        <p:nvPicPr>
          <p:cNvPr id="5" name="Content Placeholder 4" descr="Table&#10;&#10;Description automatically generated">
            <a:extLst>
              <a:ext uri="{FF2B5EF4-FFF2-40B4-BE49-F238E27FC236}">
                <a16:creationId xmlns:a16="http://schemas.microsoft.com/office/drawing/2014/main" id="{D018BC0C-B38A-D04F-B812-A03B1DDDB7F5}"/>
              </a:ext>
            </a:extLst>
          </p:cNvPr>
          <p:cNvPicPr>
            <a:picLocks noGrp="1" noChangeAspect="1"/>
          </p:cNvPicPr>
          <p:nvPr>
            <p:ph idx="1"/>
          </p:nvPr>
        </p:nvPicPr>
        <p:blipFill>
          <a:blip r:embed="rId2"/>
          <a:stretch>
            <a:fillRect/>
          </a:stretch>
        </p:blipFill>
        <p:spPr>
          <a:xfrm>
            <a:off x="838200" y="1584134"/>
            <a:ext cx="8605716" cy="4280011"/>
          </a:xfrm>
        </p:spPr>
      </p:pic>
      <p:sp>
        <p:nvSpPr>
          <p:cNvPr id="6" name="Donut 5">
            <a:extLst>
              <a:ext uri="{FF2B5EF4-FFF2-40B4-BE49-F238E27FC236}">
                <a16:creationId xmlns:a16="http://schemas.microsoft.com/office/drawing/2014/main" id="{AD09B640-3AC6-314C-812E-7C51DFB60C5A}"/>
              </a:ext>
            </a:extLst>
          </p:cNvPr>
          <p:cNvSpPr/>
          <p:nvPr/>
        </p:nvSpPr>
        <p:spPr>
          <a:xfrm>
            <a:off x="8229599" y="4916453"/>
            <a:ext cx="873457" cy="655092"/>
          </a:xfrm>
          <a:prstGeom prst="donut">
            <a:avLst>
              <a:gd name="adj" fmla="val 186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0000"/>
              </a:highlight>
            </a:endParaRPr>
          </a:p>
        </p:txBody>
      </p:sp>
      <p:sp>
        <p:nvSpPr>
          <p:cNvPr id="7" name="Donut 6">
            <a:extLst>
              <a:ext uri="{FF2B5EF4-FFF2-40B4-BE49-F238E27FC236}">
                <a16:creationId xmlns:a16="http://schemas.microsoft.com/office/drawing/2014/main" id="{104BE594-4C81-1F48-9764-2D594CE620EE}"/>
              </a:ext>
            </a:extLst>
          </p:cNvPr>
          <p:cNvSpPr/>
          <p:nvPr/>
        </p:nvSpPr>
        <p:spPr>
          <a:xfrm>
            <a:off x="8068100" y="4029464"/>
            <a:ext cx="1034956" cy="655092"/>
          </a:xfrm>
          <a:prstGeom prst="donut">
            <a:avLst>
              <a:gd name="adj" fmla="val 186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0000"/>
              </a:highlight>
            </a:endParaRPr>
          </a:p>
        </p:txBody>
      </p:sp>
      <p:sp>
        <p:nvSpPr>
          <p:cNvPr id="3" name="TextBox 2">
            <a:extLst>
              <a:ext uri="{FF2B5EF4-FFF2-40B4-BE49-F238E27FC236}">
                <a16:creationId xmlns:a16="http://schemas.microsoft.com/office/drawing/2014/main" id="{1867BA10-A397-DF4B-A4F8-830219BE338D}"/>
              </a:ext>
            </a:extLst>
          </p:cNvPr>
          <p:cNvSpPr txBox="1"/>
          <p:nvPr/>
        </p:nvSpPr>
        <p:spPr>
          <a:xfrm>
            <a:off x="1061884" y="5840767"/>
            <a:ext cx="8041172" cy="954107"/>
          </a:xfrm>
          <a:prstGeom prst="rect">
            <a:avLst/>
          </a:prstGeom>
          <a:noFill/>
        </p:spPr>
        <p:txBody>
          <a:bodyPr wrap="square" rtlCol="0">
            <a:spAutoFit/>
          </a:bodyPr>
          <a:lstStyle/>
          <a:p>
            <a:r>
              <a:rPr lang="en-US" sz="2800" dirty="0">
                <a:solidFill>
                  <a:srgbClr val="FF0000"/>
                </a:solidFill>
              </a:rPr>
              <a:t>I don’t believe that 1/3 of applicants are considered, and only 1% of these are eligible and interested!</a:t>
            </a:r>
          </a:p>
        </p:txBody>
      </p:sp>
    </p:spTree>
    <p:extLst>
      <p:ext uri="{BB962C8B-B14F-4D97-AF65-F5344CB8AC3E}">
        <p14:creationId xmlns:p14="http://schemas.microsoft.com/office/powerpoint/2010/main" val="1957878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2DC-C6F4-EBF3-64EA-B0433616AFBF}"/>
              </a:ext>
            </a:extLst>
          </p:cNvPr>
          <p:cNvSpPr>
            <a:spLocks noGrp="1"/>
          </p:cNvSpPr>
          <p:nvPr>
            <p:ph type="title"/>
          </p:nvPr>
        </p:nvSpPr>
        <p:spPr/>
        <p:txBody>
          <a:bodyPr/>
          <a:lstStyle/>
          <a:p>
            <a:r>
              <a:rPr lang="en-US" dirty="0"/>
              <a:t>Siskin’s Method for </a:t>
            </a:r>
            <a:br>
              <a:rPr lang="en-US" dirty="0"/>
            </a:br>
            <a:r>
              <a:rPr lang="en-US" dirty="0"/>
              <a:t>Determining Considered Applications</a:t>
            </a:r>
          </a:p>
        </p:txBody>
      </p:sp>
      <p:sp>
        <p:nvSpPr>
          <p:cNvPr id="3" name="Content Placeholder 2">
            <a:extLst>
              <a:ext uri="{FF2B5EF4-FFF2-40B4-BE49-F238E27FC236}">
                <a16:creationId xmlns:a16="http://schemas.microsoft.com/office/drawing/2014/main" id="{6C861246-10DF-AF0B-F024-B0C0DFBF4A00}"/>
              </a:ext>
            </a:extLst>
          </p:cNvPr>
          <p:cNvSpPr>
            <a:spLocks noGrp="1"/>
          </p:cNvSpPr>
          <p:nvPr>
            <p:ph idx="1"/>
          </p:nvPr>
        </p:nvSpPr>
        <p:spPr>
          <a:xfrm>
            <a:off x="838200" y="1910443"/>
            <a:ext cx="11212286" cy="4310743"/>
          </a:xfrm>
        </p:spPr>
        <p:txBody>
          <a:bodyPr>
            <a:normAutofit/>
          </a:bodyPr>
          <a:lstStyle/>
          <a:p>
            <a:pPr marL="0" indent="0">
              <a:buNone/>
            </a:pPr>
            <a:r>
              <a:rPr lang="en-US" altLang="en-US" sz="2600" i="1" dirty="0"/>
              <a:t>I assumed that people with lottery numbers lower than highest lottery number of the awarded application from that preference list had been considered…</a:t>
            </a:r>
          </a:p>
        </p:txBody>
      </p:sp>
      <p:pic>
        <p:nvPicPr>
          <p:cNvPr id="1026" name="Picture 2" descr="page91image115164096">
            <a:extLst>
              <a:ext uri="{FF2B5EF4-FFF2-40B4-BE49-F238E27FC236}">
                <a16:creationId xmlns:a16="http://schemas.microsoft.com/office/drawing/2014/main" id="{82A48284-DABC-F4FE-4B72-135A59822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58775"/>
            <a:ext cx="5918200" cy="127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1F08EB68-0F01-64AD-0223-378F1153724E}"/>
              </a:ext>
            </a:extLst>
          </p:cNvPr>
          <p:cNvSpPr/>
          <p:nvPr/>
        </p:nvSpPr>
        <p:spPr>
          <a:xfrm rot="16200000">
            <a:off x="4935093" y="-24871"/>
            <a:ext cx="178091" cy="7661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8FFB1B6-BCC8-5595-048E-6F3572212405}"/>
              </a:ext>
            </a:extLst>
          </p:cNvPr>
          <p:cNvCxnSpPr>
            <a:cxnSpLocks/>
          </p:cNvCxnSpPr>
          <p:nvPr/>
        </p:nvCxnSpPr>
        <p:spPr>
          <a:xfrm>
            <a:off x="3085964" y="2987976"/>
            <a:ext cx="0" cy="7207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71BC629-B3AE-A5C3-ED6C-BEB56A134254}"/>
              </a:ext>
            </a:extLst>
          </p:cNvPr>
          <p:cNvCxnSpPr>
            <a:cxnSpLocks/>
          </p:cNvCxnSpPr>
          <p:nvPr/>
        </p:nvCxnSpPr>
        <p:spPr>
          <a:xfrm>
            <a:off x="1338444" y="3894818"/>
            <a:ext cx="0" cy="720725"/>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C944773-1B08-3306-4D7F-8DDBDA1B5259}"/>
              </a:ext>
            </a:extLst>
          </p:cNvPr>
          <p:cNvCxnSpPr>
            <a:cxnSpLocks/>
          </p:cNvCxnSpPr>
          <p:nvPr/>
        </p:nvCxnSpPr>
        <p:spPr>
          <a:xfrm>
            <a:off x="4863964" y="3901564"/>
            <a:ext cx="0" cy="720725"/>
          </a:xfrm>
          <a:prstGeom prst="straightConnector1">
            <a:avLst/>
          </a:prstGeom>
          <a:ln w="5715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E8D277E-FC62-1387-8D52-FF2CB67EC4E4}"/>
              </a:ext>
            </a:extLst>
          </p:cNvPr>
          <p:cNvSpPr txBox="1"/>
          <p:nvPr/>
        </p:nvSpPr>
        <p:spPr>
          <a:xfrm>
            <a:off x="3085963" y="3019577"/>
            <a:ext cx="1903085" cy="461665"/>
          </a:xfrm>
          <a:prstGeom prst="rect">
            <a:avLst/>
          </a:prstGeom>
          <a:noFill/>
        </p:spPr>
        <p:txBody>
          <a:bodyPr wrap="none" rtlCol="0">
            <a:spAutoFit/>
          </a:bodyPr>
          <a:lstStyle/>
          <a:p>
            <a:r>
              <a:rPr lang="en-US" sz="2400" dirty="0">
                <a:solidFill>
                  <a:schemeClr val="accent4"/>
                </a:solidFill>
              </a:rPr>
              <a:t>50/200 = 25%</a:t>
            </a:r>
          </a:p>
        </p:txBody>
      </p:sp>
      <p:sp>
        <p:nvSpPr>
          <p:cNvPr id="18" name="TextBox 17">
            <a:extLst>
              <a:ext uri="{FF2B5EF4-FFF2-40B4-BE49-F238E27FC236}">
                <a16:creationId xmlns:a16="http://schemas.microsoft.com/office/drawing/2014/main" id="{D8276634-13B6-D2FF-FD89-EF9AC473FDE6}"/>
              </a:ext>
            </a:extLst>
          </p:cNvPr>
          <p:cNvSpPr txBox="1"/>
          <p:nvPr/>
        </p:nvSpPr>
        <p:spPr>
          <a:xfrm>
            <a:off x="1340004" y="4088165"/>
            <a:ext cx="1824538" cy="461665"/>
          </a:xfrm>
          <a:prstGeom prst="rect">
            <a:avLst/>
          </a:prstGeom>
          <a:noFill/>
        </p:spPr>
        <p:txBody>
          <a:bodyPr wrap="none" rtlCol="0">
            <a:spAutoFit/>
          </a:bodyPr>
          <a:lstStyle/>
          <a:p>
            <a:r>
              <a:rPr lang="en-US" sz="2400" dirty="0">
                <a:solidFill>
                  <a:srgbClr val="FF0000"/>
                </a:solidFill>
              </a:rPr>
              <a:t>5/720 = 0.7%</a:t>
            </a:r>
          </a:p>
        </p:txBody>
      </p:sp>
      <p:sp>
        <p:nvSpPr>
          <p:cNvPr id="19" name="TextBox 18">
            <a:extLst>
              <a:ext uri="{FF2B5EF4-FFF2-40B4-BE49-F238E27FC236}">
                <a16:creationId xmlns:a16="http://schemas.microsoft.com/office/drawing/2014/main" id="{0A3201A7-C1A6-B72E-18F3-7912E08ABADD}"/>
              </a:ext>
            </a:extLst>
          </p:cNvPr>
          <p:cNvSpPr txBox="1"/>
          <p:nvPr/>
        </p:nvSpPr>
        <p:spPr>
          <a:xfrm>
            <a:off x="4863964" y="4095432"/>
            <a:ext cx="1903085" cy="461665"/>
          </a:xfrm>
          <a:prstGeom prst="rect">
            <a:avLst/>
          </a:prstGeom>
          <a:noFill/>
          <a:ln>
            <a:noFill/>
          </a:ln>
        </p:spPr>
        <p:txBody>
          <a:bodyPr wrap="none" rtlCol="0">
            <a:spAutoFit/>
          </a:bodyPr>
          <a:lstStyle/>
          <a:p>
            <a:r>
              <a:rPr lang="en-US" sz="2400" dirty="0">
                <a:solidFill>
                  <a:schemeClr val="accent6"/>
                </a:solidFill>
              </a:rPr>
              <a:t>50/100 = 50%</a:t>
            </a:r>
          </a:p>
        </p:txBody>
      </p:sp>
      <p:sp>
        <p:nvSpPr>
          <p:cNvPr id="21" name="Left Brace 20">
            <a:extLst>
              <a:ext uri="{FF2B5EF4-FFF2-40B4-BE49-F238E27FC236}">
                <a16:creationId xmlns:a16="http://schemas.microsoft.com/office/drawing/2014/main" id="{8F7CE233-D55E-1485-5B0D-188F9A0F68CF}"/>
              </a:ext>
            </a:extLst>
          </p:cNvPr>
          <p:cNvSpPr/>
          <p:nvPr/>
        </p:nvSpPr>
        <p:spPr>
          <a:xfrm rot="16200000">
            <a:off x="2839478" y="3160627"/>
            <a:ext cx="546758" cy="3528236"/>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29A5D67F-EA31-F4B1-6D74-FAEAFC474382}"/>
              </a:ext>
            </a:extLst>
          </p:cNvPr>
          <p:cNvSpPr txBox="1"/>
          <p:nvPr/>
        </p:nvSpPr>
        <p:spPr>
          <a:xfrm>
            <a:off x="1338444" y="5209835"/>
            <a:ext cx="3169920" cy="1231106"/>
          </a:xfrm>
          <a:prstGeom prst="rect">
            <a:avLst/>
          </a:prstGeom>
          <a:noFill/>
        </p:spPr>
        <p:txBody>
          <a:bodyPr wrap="square" rtlCol="0">
            <a:spAutoFit/>
          </a:bodyPr>
          <a:lstStyle/>
          <a:p>
            <a:pPr algn="ctr"/>
            <a:r>
              <a:rPr lang="en-US" sz="2800" dirty="0"/>
              <a:t>Low Income Applicants Skipped</a:t>
            </a:r>
          </a:p>
          <a:p>
            <a:endParaRPr lang="en-US" dirty="0"/>
          </a:p>
        </p:txBody>
      </p:sp>
      <p:sp>
        <p:nvSpPr>
          <p:cNvPr id="6" name="TextBox 5">
            <a:extLst>
              <a:ext uri="{FF2B5EF4-FFF2-40B4-BE49-F238E27FC236}">
                <a16:creationId xmlns:a16="http://schemas.microsoft.com/office/drawing/2014/main" id="{EBDEDA82-80D2-A77B-C96E-7A0CEE0EE20F}"/>
              </a:ext>
            </a:extLst>
          </p:cNvPr>
          <p:cNvSpPr txBox="1"/>
          <p:nvPr/>
        </p:nvSpPr>
        <p:spPr>
          <a:xfrm>
            <a:off x="5074111" y="4750965"/>
            <a:ext cx="6779239" cy="1661993"/>
          </a:xfrm>
          <a:prstGeom prst="rect">
            <a:avLst/>
          </a:prstGeom>
          <a:noFill/>
        </p:spPr>
        <p:txBody>
          <a:bodyPr wrap="square" rtlCol="0">
            <a:spAutoFit/>
          </a:bodyPr>
          <a:lstStyle/>
          <a:p>
            <a:r>
              <a:rPr lang="en-US" sz="2800" dirty="0"/>
              <a:t>His method would conclude 500 households were considered.</a:t>
            </a:r>
          </a:p>
          <a:p>
            <a:r>
              <a:rPr lang="en-US" sz="2800" dirty="0"/>
              <a:t>In reality, only 100 had chance to match!</a:t>
            </a:r>
          </a:p>
          <a:p>
            <a:r>
              <a:rPr lang="en-US" dirty="0"/>
              <a:t> </a:t>
            </a:r>
          </a:p>
        </p:txBody>
      </p:sp>
    </p:spTree>
    <p:extLst>
      <p:ext uri="{BB962C8B-B14F-4D97-AF65-F5344CB8AC3E}">
        <p14:creationId xmlns:p14="http://schemas.microsoft.com/office/powerpoint/2010/main" val="337214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p:bldP spid="18"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2DC-C6F4-EBF3-64EA-B0433616AFBF}"/>
              </a:ext>
            </a:extLst>
          </p:cNvPr>
          <p:cNvSpPr>
            <a:spLocks noGrp="1"/>
          </p:cNvSpPr>
          <p:nvPr>
            <p:ph type="title"/>
          </p:nvPr>
        </p:nvSpPr>
        <p:spPr/>
        <p:txBody>
          <a:bodyPr/>
          <a:lstStyle/>
          <a:p>
            <a:r>
              <a:rPr lang="en-US" dirty="0"/>
              <a:t>Siskin’s Method for </a:t>
            </a:r>
            <a:br>
              <a:rPr lang="en-US" dirty="0"/>
            </a:br>
            <a:r>
              <a:rPr lang="en-US" dirty="0"/>
              <a:t>Determining Considered Applications</a:t>
            </a:r>
          </a:p>
        </p:txBody>
      </p:sp>
      <p:sp>
        <p:nvSpPr>
          <p:cNvPr id="3" name="Content Placeholder 2">
            <a:extLst>
              <a:ext uri="{FF2B5EF4-FFF2-40B4-BE49-F238E27FC236}">
                <a16:creationId xmlns:a16="http://schemas.microsoft.com/office/drawing/2014/main" id="{6C861246-10DF-AF0B-F024-B0C0DFBF4A00}"/>
              </a:ext>
            </a:extLst>
          </p:cNvPr>
          <p:cNvSpPr>
            <a:spLocks noGrp="1"/>
          </p:cNvSpPr>
          <p:nvPr>
            <p:ph idx="1"/>
          </p:nvPr>
        </p:nvSpPr>
        <p:spPr>
          <a:xfrm>
            <a:off x="838199" y="1910443"/>
            <a:ext cx="10995213" cy="4310743"/>
          </a:xfrm>
        </p:spPr>
        <p:txBody>
          <a:bodyPr>
            <a:normAutofit/>
          </a:bodyPr>
          <a:lstStyle/>
          <a:p>
            <a:pPr marL="0" indent="0">
              <a:buNone/>
            </a:pPr>
            <a:endParaRPr lang="en-US" dirty="0"/>
          </a:p>
          <a:p>
            <a:pPr marL="0" indent="0">
              <a:buNone/>
            </a:pPr>
            <a:r>
              <a:rPr lang="en-US" dirty="0"/>
              <a:t>His analysis does consider </a:t>
            </a:r>
            <a:r>
              <a:rPr lang="en-US" b="1" dirty="0"/>
              <a:t>unit size</a:t>
            </a:r>
            <a:r>
              <a:rPr lang="en-US" dirty="0"/>
              <a:t>: a household is not “considered” if all unit sizes for which it is eligible were allocated before its turn.</a:t>
            </a:r>
          </a:p>
          <a:p>
            <a:pPr marL="0" indent="0">
              <a:buNone/>
            </a:pPr>
            <a:endParaRPr lang="en-US" dirty="0"/>
          </a:p>
          <a:p>
            <a:pPr marL="0" indent="0">
              <a:buNone/>
            </a:pPr>
            <a:r>
              <a:rPr lang="en-US" dirty="0"/>
              <a:t>However, he makes </a:t>
            </a:r>
            <a:r>
              <a:rPr lang="en-US" b="1" dirty="0"/>
              <a:t>no reference to income</a:t>
            </a:r>
            <a:r>
              <a:rPr lang="en-US" dirty="0"/>
              <a:t>. A household is treated as “considered” even if its income does not qualify it for any remaining units.</a:t>
            </a:r>
          </a:p>
          <a:p>
            <a:pPr marL="0" indent="0">
              <a:buNone/>
            </a:pPr>
            <a:endParaRPr lang="en-US" dirty="0"/>
          </a:p>
          <a:p>
            <a:pPr marL="0" indent="0">
              <a:buNone/>
            </a:pPr>
            <a:r>
              <a:rPr lang="en-US" b="1" dirty="0"/>
              <a:t>Conclusion: </a:t>
            </a:r>
            <a:r>
              <a:rPr lang="en-US" dirty="0"/>
              <a:t>this method significantly overestimates considered applicants!</a:t>
            </a:r>
          </a:p>
        </p:txBody>
      </p:sp>
      <p:pic>
        <p:nvPicPr>
          <p:cNvPr id="1026" name="Picture 2" descr="page91image115164096">
            <a:extLst>
              <a:ext uri="{FF2B5EF4-FFF2-40B4-BE49-F238E27FC236}">
                <a16:creationId xmlns:a16="http://schemas.microsoft.com/office/drawing/2014/main" id="{82A48284-DABC-F4FE-4B72-135A59822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58775"/>
            <a:ext cx="59182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253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2DC-C6F4-EBF3-64EA-B0433616AFBF}"/>
              </a:ext>
            </a:extLst>
          </p:cNvPr>
          <p:cNvSpPr>
            <a:spLocks noGrp="1"/>
          </p:cNvSpPr>
          <p:nvPr>
            <p:ph type="title"/>
          </p:nvPr>
        </p:nvSpPr>
        <p:spPr/>
        <p:txBody>
          <a:bodyPr/>
          <a:lstStyle/>
          <a:p>
            <a:r>
              <a:rPr lang="en-US" dirty="0"/>
              <a:t>Siskin’s Method for </a:t>
            </a:r>
            <a:br>
              <a:rPr lang="en-US" dirty="0"/>
            </a:br>
            <a:r>
              <a:rPr lang="en-US" dirty="0"/>
              <a:t>Determining Considered Applications</a:t>
            </a:r>
          </a:p>
        </p:txBody>
      </p:sp>
      <p:sp>
        <p:nvSpPr>
          <p:cNvPr id="3" name="Content Placeholder 2">
            <a:extLst>
              <a:ext uri="{FF2B5EF4-FFF2-40B4-BE49-F238E27FC236}">
                <a16:creationId xmlns:a16="http://schemas.microsoft.com/office/drawing/2014/main" id="{6C861246-10DF-AF0B-F024-B0C0DFBF4A00}"/>
              </a:ext>
            </a:extLst>
          </p:cNvPr>
          <p:cNvSpPr>
            <a:spLocks noGrp="1"/>
          </p:cNvSpPr>
          <p:nvPr>
            <p:ph idx="1"/>
          </p:nvPr>
        </p:nvSpPr>
        <p:spPr>
          <a:xfrm>
            <a:off x="838200" y="1910443"/>
            <a:ext cx="11212286" cy="4310743"/>
          </a:xfrm>
        </p:spPr>
        <p:txBody>
          <a:bodyPr>
            <a:normAutofit/>
          </a:bodyPr>
          <a:lstStyle/>
          <a:p>
            <a:pPr marL="0" indent="0">
              <a:buNone/>
            </a:pPr>
            <a:r>
              <a:rPr lang="en-US" altLang="en-US" sz="2600" i="1" dirty="0"/>
              <a:t>I assumed that people with lottery numbers lower than highest lottery number of the awarded application from that preference list had been considered…</a:t>
            </a:r>
          </a:p>
          <a:p>
            <a:pPr marL="0" indent="0">
              <a:buNone/>
            </a:pPr>
            <a:r>
              <a:rPr lang="en-US" sz="2600" i="1" dirty="0"/>
              <a:t>If… the log number of the application at issue was 1,000, but that application was only eligible for a 3 bedroom unit and… the highest log number that resulted in an award to any 3-bedroom unit was 900, then the application at issue with log number 1,000 would not be a Considered Application, because any eligible units were filled before that log number was reached. </a:t>
            </a:r>
          </a:p>
          <a:p>
            <a:pPr marL="0" indent="0">
              <a:buNone/>
            </a:pPr>
            <a:r>
              <a:rPr lang="en-US" sz="2600" i="1" dirty="0"/>
              <a:t>However, if a 3-bedroom unit was awarded to log number 2,000 (rather than 900), log number 1,000 would be a Considered Application, as it was considered for a unit and was not awarded a unit for a reason other than lack of availability, as evidenced by the fact that a higher log number was awarded a 3-bedroom unit. </a:t>
            </a:r>
          </a:p>
        </p:txBody>
      </p:sp>
      <p:pic>
        <p:nvPicPr>
          <p:cNvPr id="1026" name="Picture 2" descr="page91image115164096">
            <a:extLst>
              <a:ext uri="{FF2B5EF4-FFF2-40B4-BE49-F238E27FC236}">
                <a16:creationId xmlns:a16="http://schemas.microsoft.com/office/drawing/2014/main" id="{82A48284-DABC-F4FE-4B72-135A59822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358775"/>
            <a:ext cx="59182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0180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1E0E4-9919-A688-CF80-BE2F593558EF}"/>
              </a:ext>
            </a:extLst>
          </p:cNvPr>
          <p:cNvSpPr>
            <a:spLocks noGrp="1"/>
          </p:cNvSpPr>
          <p:nvPr>
            <p:ph type="title"/>
          </p:nvPr>
        </p:nvSpPr>
        <p:spPr/>
        <p:txBody>
          <a:bodyPr/>
          <a:lstStyle/>
          <a:p>
            <a:r>
              <a:rPr lang="en-US" dirty="0"/>
              <a:t>Community Preference Policy: Summary</a:t>
            </a:r>
          </a:p>
        </p:txBody>
      </p:sp>
      <p:sp>
        <p:nvSpPr>
          <p:cNvPr id="3" name="Content Placeholder 2">
            <a:extLst>
              <a:ext uri="{FF2B5EF4-FFF2-40B4-BE49-F238E27FC236}">
                <a16:creationId xmlns:a16="http://schemas.microsoft.com/office/drawing/2014/main" id="{684E432A-895E-5427-4240-BEEC9CC7435C}"/>
              </a:ext>
            </a:extLst>
          </p:cNvPr>
          <p:cNvSpPr>
            <a:spLocks noGrp="1"/>
          </p:cNvSpPr>
          <p:nvPr>
            <p:ph idx="1"/>
          </p:nvPr>
        </p:nvSpPr>
        <p:spPr>
          <a:xfrm>
            <a:off x="838199" y="1825625"/>
            <a:ext cx="10806953" cy="4351338"/>
          </a:xfrm>
        </p:spPr>
        <p:txBody>
          <a:bodyPr/>
          <a:lstStyle/>
          <a:p>
            <a:pPr marL="0" indent="0">
              <a:buNone/>
            </a:pPr>
            <a:endParaRPr lang="en-US" dirty="0"/>
          </a:p>
          <a:p>
            <a:pPr marL="514350" indent="-514350">
              <a:buFont typeface="+mj-lt"/>
              <a:buAutoNum type="arabicPeriod"/>
            </a:pPr>
            <a:r>
              <a:rPr lang="en-US" dirty="0"/>
              <a:t>Disagreements primarily about definitions (what is meaning of “disparate impact on race”?), rather than math.</a:t>
            </a:r>
          </a:p>
          <a:p>
            <a:pPr marL="514350" indent="-514350">
              <a:buFont typeface="+mj-lt"/>
              <a:buAutoNum type="arabicPeriod"/>
            </a:pPr>
            <a:endParaRPr lang="en-US" dirty="0"/>
          </a:p>
          <a:p>
            <a:pPr marL="514350" indent="-514350">
              <a:buFont typeface="+mj-lt"/>
              <a:buAutoNum type="arabicPeriod"/>
            </a:pPr>
            <a:r>
              <a:rPr lang="en-US" dirty="0"/>
              <a:t>Existing policy has unintended consequences:				Most or all low-income units go to community residents.</a:t>
            </a:r>
          </a:p>
          <a:p>
            <a:pPr marL="514350" indent="-514350">
              <a:buFont typeface="+mj-lt"/>
              <a:buAutoNum type="arabicPeriod"/>
            </a:pPr>
            <a:endParaRPr lang="en-US" dirty="0"/>
          </a:p>
          <a:p>
            <a:pPr marL="0" indent="0">
              <a:buNone/>
            </a:pPr>
            <a:endParaRPr lang="en-US" b="1" dirty="0"/>
          </a:p>
          <a:p>
            <a:pPr marL="0" indent="0">
              <a:buNone/>
            </a:pPr>
            <a:r>
              <a:rPr lang="en-US" b="1" dirty="0"/>
              <a:t>Bonus material: </a:t>
            </a:r>
            <a:r>
              <a:rPr lang="en-US" dirty="0"/>
              <a:t>how else could community preference be implemented?</a:t>
            </a:r>
          </a:p>
        </p:txBody>
      </p:sp>
      <p:sp>
        <p:nvSpPr>
          <p:cNvPr id="4" name="Slide Number Placeholder 3">
            <a:extLst>
              <a:ext uri="{FF2B5EF4-FFF2-40B4-BE49-F238E27FC236}">
                <a16:creationId xmlns:a16="http://schemas.microsoft.com/office/drawing/2014/main" id="{B8BFDB33-FBE9-DB50-8342-26CF09BAFCF9}"/>
              </a:ext>
            </a:extLst>
          </p:cNvPr>
          <p:cNvSpPr>
            <a:spLocks noGrp="1"/>
          </p:cNvSpPr>
          <p:nvPr>
            <p:ph type="sldNum" sz="quarter" idx="12"/>
          </p:nvPr>
        </p:nvSpPr>
        <p:spPr/>
        <p:txBody>
          <a:bodyPr/>
          <a:lstStyle/>
          <a:p>
            <a:fld id="{9E969584-4773-A84E-8391-EEC4BE76D611}" type="slidenum">
              <a:rPr lang="en-US" smtClean="0"/>
              <a:t>52</a:t>
            </a:fld>
            <a:endParaRPr lang="en-US" dirty="0"/>
          </a:p>
        </p:txBody>
      </p:sp>
      <p:sp>
        <p:nvSpPr>
          <p:cNvPr id="5" name="TextBox 4">
            <a:extLst>
              <a:ext uri="{FF2B5EF4-FFF2-40B4-BE49-F238E27FC236}">
                <a16:creationId xmlns:a16="http://schemas.microsoft.com/office/drawing/2014/main" id="{63C11584-99EB-BDB8-9678-4715C54BC329}"/>
              </a:ext>
            </a:extLst>
          </p:cNvPr>
          <p:cNvSpPr txBox="1"/>
          <p:nvPr/>
        </p:nvSpPr>
        <p:spPr>
          <a:xfrm>
            <a:off x="1768286" y="4524309"/>
            <a:ext cx="8946778" cy="523220"/>
          </a:xfrm>
          <a:prstGeom prst="rect">
            <a:avLst/>
          </a:prstGeom>
          <a:noFill/>
        </p:spPr>
        <p:txBody>
          <a:bodyPr wrap="square" rtlCol="0">
            <a:spAutoFit/>
          </a:bodyPr>
          <a:lstStyle/>
          <a:p>
            <a:r>
              <a:rPr lang="en-US" sz="2800" dirty="0">
                <a:solidFill>
                  <a:schemeClr val="accent1"/>
                </a:solidFill>
              </a:rPr>
              <a:t>Not clearly stated in nearly 200 pages of reports!</a:t>
            </a:r>
          </a:p>
        </p:txBody>
      </p:sp>
    </p:spTree>
    <p:extLst>
      <p:ext uri="{BB962C8B-B14F-4D97-AF65-F5344CB8AC3E}">
        <p14:creationId xmlns:p14="http://schemas.microsoft.com/office/powerpoint/2010/main" val="3628106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900B-7180-5E95-071B-ED08399BAFB9}"/>
              </a:ext>
            </a:extLst>
          </p:cNvPr>
          <p:cNvSpPr>
            <a:spLocks noGrp="1"/>
          </p:cNvSpPr>
          <p:nvPr>
            <p:ph type="title"/>
          </p:nvPr>
        </p:nvSpPr>
        <p:spPr/>
        <p:txBody>
          <a:bodyPr/>
          <a:lstStyle/>
          <a:p>
            <a:r>
              <a:rPr lang="en-US" dirty="0"/>
              <a:t>How is Community Preference Implemented?</a:t>
            </a:r>
          </a:p>
        </p:txBody>
      </p:sp>
      <p:sp>
        <p:nvSpPr>
          <p:cNvPr id="3" name="Content Placeholder 2">
            <a:extLst>
              <a:ext uri="{FF2B5EF4-FFF2-40B4-BE49-F238E27FC236}">
                <a16:creationId xmlns:a16="http://schemas.microsoft.com/office/drawing/2014/main" id="{6B3E380C-D997-B7D3-4D73-49A6B410E120}"/>
              </a:ext>
            </a:extLst>
          </p:cNvPr>
          <p:cNvSpPr>
            <a:spLocks noGrp="1"/>
          </p:cNvSpPr>
          <p:nvPr>
            <p:ph idx="1"/>
          </p:nvPr>
        </p:nvSpPr>
        <p:spPr>
          <a:xfrm>
            <a:off x="838200" y="1825625"/>
            <a:ext cx="10748058" cy="4351338"/>
          </a:xfrm>
        </p:spPr>
        <p:txBody>
          <a:bodyPr/>
          <a:lstStyle/>
          <a:p>
            <a:pPr marL="0" indent="0">
              <a:buNone/>
            </a:pPr>
            <a:r>
              <a:rPr lang="en-US" dirty="0"/>
              <a:t>1000 applicants: 	20% from Community District, 80% are not</a:t>
            </a:r>
          </a:p>
          <a:p>
            <a:pPr marL="0" indent="0">
              <a:buNone/>
            </a:pPr>
            <a:r>
              <a:rPr lang="en-US" dirty="0"/>
              <a:t>100 units: 		50% reserved for Community District.</a:t>
            </a:r>
          </a:p>
          <a:p>
            <a:pPr marL="0" indent="0">
              <a:buNone/>
            </a:pPr>
            <a:endParaRPr lang="en-US" dirty="0"/>
          </a:p>
          <a:p>
            <a:pPr marL="0" indent="0">
              <a:buNone/>
            </a:pPr>
            <a:r>
              <a:rPr lang="en-US" dirty="0"/>
              <a:t>Over and above or minimum guarantee? </a:t>
            </a:r>
          </a:p>
          <a:p>
            <a:pPr marL="0" indent="0">
              <a:buNone/>
            </a:pPr>
            <a:r>
              <a:rPr lang="en-US" dirty="0"/>
              <a:t>Pass 1: Take 50 community district applicants with best lottery numbers.</a:t>
            </a:r>
          </a:p>
          <a:p>
            <a:pPr marL="0" indent="0">
              <a:buNone/>
            </a:pPr>
            <a:r>
              <a:rPr lang="en-US" dirty="0"/>
              <a:t>Pass 2: Take 50 applicants with best remaining lottery numbers.</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733E63D-6655-13A0-5752-0ED1C7E1DFC0}"/>
              </a:ext>
            </a:extLst>
          </p:cNvPr>
          <p:cNvSpPr>
            <a:spLocks noGrp="1"/>
          </p:cNvSpPr>
          <p:nvPr>
            <p:ph type="sldNum" sz="quarter" idx="12"/>
          </p:nvPr>
        </p:nvSpPr>
        <p:spPr/>
        <p:txBody>
          <a:bodyPr/>
          <a:lstStyle/>
          <a:p>
            <a:fld id="{9E969584-4773-A84E-8391-EEC4BE76D611}" type="slidenum">
              <a:rPr lang="en-US" smtClean="0"/>
              <a:t>53</a:t>
            </a:fld>
            <a:endParaRPr lang="en-US"/>
          </a:p>
        </p:txBody>
      </p:sp>
      <p:sp>
        <p:nvSpPr>
          <p:cNvPr id="5" name="Rectangle 4">
            <a:extLst>
              <a:ext uri="{FF2B5EF4-FFF2-40B4-BE49-F238E27FC236}">
                <a16:creationId xmlns:a16="http://schemas.microsoft.com/office/drawing/2014/main" id="{A15687C4-3538-ACF3-48CE-A84F18BCCD32}"/>
              </a:ext>
            </a:extLst>
          </p:cNvPr>
          <p:cNvSpPr/>
          <p:nvPr/>
        </p:nvSpPr>
        <p:spPr>
          <a:xfrm>
            <a:off x="838200" y="5347504"/>
            <a:ext cx="10515600" cy="46298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Group Work:</a:t>
            </a:r>
            <a:r>
              <a:rPr lang="en-US" sz="2800" dirty="0">
                <a:solidFill>
                  <a:schemeClr val="tx1"/>
                </a:solidFill>
              </a:rPr>
              <a:t> how many units will go to Community District members?</a:t>
            </a:r>
          </a:p>
        </p:txBody>
      </p:sp>
    </p:spTree>
    <p:extLst>
      <p:ext uri="{BB962C8B-B14F-4D97-AF65-F5344CB8AC3E}">
        <p14:creationId xmlns:p14="http://schemas.microsoft.com/office/powerpoint/2010/main" val="16323622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900B-7180-5E95-071B-ED08399BAFB9}"/>
              </a:ext>
            </a:extLst>
          </p:cNvPr>
          <p:cNvSpPr>
            <a:spLocks noGrp="1"/>
          </p:cNvSpPr>
          <p:nvPr>
            <p:ph type="title"/>
          </p:nvPr>
        </p:nvSpPr>
        <p:spPr/>
        <p:txBody>
          <a:bodyPr/>
          <a:lstStyle/>
          <a:p>
            <a:r>
              <a:rPr lang="en-US" dirty="0"/>
              <a:t>Community Preference + Income Reserves</a:t>
            </a:r>
          </a:p>
        </p:txBody>
      </p:sp>
      <p:sp>
        <p:nvSpPr>
          <p:cNvPr id="3" name="Content Placeholder 2">
            <a:extLst>
              <a:ext uri="{FF2B5EF4-FFF2-40B4-BE49-F238E27FC236}">
                <a16:creationId xmlns:a16="http://schemas.microsoft.com/office/drawing/2014/main" id="{6B3E380C-D997-B7D3-4D73-49A6B410E120}"/>
              </a:ext>
            </a:extLst>
          </p:cNvPr>
          <p:cNvSpPr>
            <a:spLocks noGrp="1"/>
          </p:cNvSpPr>
          <p:nvPr>
            <p:ph idx="1"/>
          </p:nvPr>
        </p:nvSpPr>
        <p:spPr>
          <a:xfrm>
            <a:off x="838200" y="1611484"/>
            <a:ext cx="11049000" cy="4351338"/>
          </a:xfrm>
        </p:spPr>
        <p:txBody>
          <a:bodyPr>
            <a:normAutofit/>
          </a:bodyPr>
          <a:lstStyle/>
          <a:p>
            <a:pPr marL="0" indent="0">
              <a:buNone/>
            </a:pPr>
            <a:r>
              <a:rPr lang="en-US" dirty="0"/>
              <a:t>100 units: 		50% reserved for Community District, </a:t>
            </a:r>
          </a:p>
          <a:p>
            <a:pPr marL="0" indent="0">
              <a:buNone/>
            </a:pPr>
            <a:r>
              <a:rPr lang="en-US" dirty="0"/>
              <a:t>			50% for low income, 50% for middle income.</a:t>
            </a:r>
          </a:p>
          <a:p>
            <a:pPr marL="0" indent="0">
              <a:buNone/>
            </a:pPr>
            <a:r>
              <a:rPr lang="en-US" dirty="0"/>
              <a:t>1000 applicants: 	20% from Community District, 80% are not</a:t>
            </a:r>
          </a:p>
          <a:p>
            <a:pPr marL="0" indent="0">
              <a:buNone/>
            </a:pPr>
            <a:r>
              <a:rPr lang="en-US" dirty="0"/>
              <a:t>			In each group, 90% low income, 10% middle income</a:t>
            </a:r>
          </a:p>
          <a:p>
            <a:pPr marL="0" indent="0">
              <a:buNone/>
            </a:pPr>
            <a:r>
              <a:rPr lang="en-US" dirty="0"/>
              <a:t>Pass 1: Consider community district members in lottery order. Match each to appropriate income level (skip if no appropriate units exist).</a:t>
            </a:r>
          </a:p>
          <a:p>
            <a:pPr marL="0" indent="0">
              <a:buNone/>
            </a:pPr>
            <a:r>
              <a:rPr lang="en-US" dirty="0"/>
              <a:t>Pass 2: Consider remaining applicants in lottery order. Match each to appropriate income level (skip if no appropriate units exist).</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733E63D-6655-13A0-5752-0ED1C7E1DFC0}"/>
              </a:ext>
            </a:extLst>
          </p:cNvPr>
          <p:cNvSpPr>
            <a:spLocks noGrp="1"/>
          </p:cNvSpPr>
          <p:nvPr>
            <p:ph type="sldNum" sz="quarter" idx="12"/>
          </p:nvPr>
        </p:nvSpPr>
        <p:spPr/>
        <p:txBody>
          <a:bodyPr/>
          <a:lstStyle/>
          <a:p>
            <a:fld id="{9E969584-4773-A84E-8391-EEC4BE76D611}" type="slidenum">
              <a:rPr lang="en-US" smtClean="0"/>
              <a:t>54</a:t>
            </a:fld>
            <a:endParaRPr lang="en-US"/>
          </a:p>
        </p:txBody>
      </p:sp>
      <p:sp>
        <p:nvSpPr>
          <p:cNvPr id="5" name="Rectangle 4">
            <a:extLst>
              <a:ext uri="{FF2B5EF4-FFF2-40B4-BE49-F238E27FC236}">
                <a16:creationId xmlns:a16="http://schemas.microsoft.com/office/drawing/2014/main" id="{A15687C4-3538-ACF3-48CE-A84F18BCCD32}"/>
              </a:ext>
            </a:extLst>
          </p:cNvPr>
          <p:cNvSpPr/>
          <p:nvPr/>
        </p:nvSpPr>
        <p:spPr>
          <a:xfrm>
            <a:off x="838200" y="5569293"/>
            <a:ext cx="10515600" cy="121534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Group Work:</a:t>
            </a:r>
            <a:r>
              <a:rPr lang="en-US" sz="2800" dirty="0">
                <a:solidFill>
                  <a:schemeClr val="tx1"/>
                </a:solidFill>
              </a:rPr>
              <a:t> </a:t>
            </a:r>
          </a:p>
          <a:p>
            <a:pPr marL="514350" indent="-514350">
              <a:buAutoNum type="arabicPeriod"/>
            </a:pPr>
            <a:r>
              <a:rPr lang="en-US" sz="2800" dirty="0">
                <a:solidFill>
                  <a:schemeClr val="tx1"/>
                </a:solidFill>
              </a:rPr>
              <a:t>How many low-income units go to Community District members?</a:t>
            </a:r>
          </a:p>
          <a:p>
            <a:pPr marL="514350" indent="-514350">
              <a:buFontTx/>
              <a:buAutoNum type="arabicPeriod"/>
            </a:pPr>
            <a:r>
              <a:rPr lang="en-US" sz="2800" dirty="0">
                <a:solidFill>
                  <a:schemeClr val="tx1"/>
                </a:solidFill>
              </a:rPr>
              <a:t>How many mid-income units go to Community District members?</a:t>
            </a:r>
          </a:p>
        </p:txBody>
      </p:sp>
    </p:spTree>
    <p:extLst>
      <p:ext uri="{BB962C8B-B14F-4D97-AF65-F5344CB8AC3E}">
        <p14:creationId xmlns:p14="http://schemas.microsoft.com/office/powerpoint/2010/main" val="25883054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nvGraphicFramePr>
        <p:xfrm>
          <a:off x="8039607" y="87715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30</a:t>
                      </a:r>
                    </a:p>
                  </a:txBody>
                  <a:tcPr/>
                </a:tc>
                <a:tc>
                  <a:txBody>
                    <a:bodyPr/>
                    <a:lstStyle/>
                    <a:p>
                      <a:pPr algn="ctr"/>
                      <a:r>
                        <a:rPr lang="en-US" sz="3600" dirty="0"/>
                        <a:t>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sp>
        <p:nvSpPr>
          <p:cNvPr id="3" name="TextBox 2">
            <a:extLst>
              <a:ext uri="{FF2B5EF4-FFF2-40B4-BE49-F238E27FC236}">
                <a16:creationId xmlns:a16="http://schemas.microsoft.com/office/drawing/2014/main" id="{5AF9CAC5-C5DC-451A-CC5E-55995C58009F}"/>
              </a:ext>
            </a:extLst>
          </p:cNvPr>
          <p:cNvSpPr txBox="1"/>
          <p:nvPr/>
        </p:nvSpPr>
        <p:spPr>
          <a:xfrm>
            <a:off x="2085858" y="1490008"/>
            <a:ext cx="3518739" cy="923330"/>
          </a:xfrm>
          <a:prstGeom prst="rect">
            <a:avLst/>
          </a:prstGeom>
          <a:noFill/>
        </p:spPr>
        <p:txBody>
          <a:bodyPr wrap="square" rtlCol="0">
            <a:spAutoFit/>
          </a:bodyPr>
          <a:lstStyle/>
          <a:p>
            <a:r>
              <a:rPr lang="en-US" dirty="0"/>
              <a:t>At least 50 Insiders</a:t>
            </a:r>
          </a:p>
          <a:p>
            <a:r>
              <a:rPr lang="en-US" dirty="0"/>
              <a:t>At most 50 L</a:t>
            </a:r>
          </a:p>
          <a:p>
            <a:r>
              <a:rPr lang="en-US" dirty="0"/>
              <a:t>At most 50 M</a:t>
            </a:r>
          </a:p>
        </p:txBody>
      </p:sp>
      <p:sp>
        <p:nvSpPr>
          <p:cNvPr id="14" name="TextBox 13">
            <a:extLst>
              <a:ext uri="{FF2B5EF4-FFF2-40B4-BE49-F238E27FC236}">
                <a16:creationId xmlns:a16="http://schemas.microsoft.com/office/drawing/2014/main" id="{6A3FD219-2A5C-5FD3-037D-48CB8BA93B16}"/>
              </a:ext>
            </a:extLst>
          </p:cNvPr>
          <p:cNvSpPr txBox="1"/>
          <p:nvPr/>
        </p:nvSpPr>
        <p:spPr>
          <a:xfrm>
            <a:off x="4356938" y="200538"/>
            <a:ext cx="3074043" cy="523220"/>
          </a:xfrm>
          <a:prstGeom prst="rect">
            <a:avLst/>
          </a:prstGeom>
          <a:noFill/>
        </p:spPr>
        <p:txBody>
          <a:bodyPr wrap="square" rtlCol="0">
            <a:spAutoFit/>
          </a:bodyPr>
          <a:lstStyle/>
          <a:p>
            <a:r>
              <a:rPr lang="en-US" sz="2800" dirty="0"/>
              <a:t>NYC Housing</a:t>
            </a:r>
          </a:p>
        </p:txBody>
      </p:sp>
      <p:graphicFrame>
        <p:nvGraphicFramePr>
          <p:cNvPr id="16" name="Table 15">
            <a:extLst>
              <a:ext uri="{FF2B5EF4-FFF2-40B4-BE49-F238E27FC236}">
                <a16:creationId xmlns:a16="http://schemas.microsoft.com/office/drawing/2014/main" id="{0E2C5D03-ED20-89EF-58CC-169058F6AA87}"/>
              </a:ext>
            </a:extLst>
          </p:cNvPr>
          <p:cNvGraphicFramePr>
            <a:graphicFrameLocks/>
          </p:cNvGraphicFramePr>
          <p:nvPr/>
        </p:nvGraphicFramePr>
        <p:xfrm>
          <a:off x="4405396" y="890810"/>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17" name="TextBox 16">
            <a:extLst>
              <a:ext uri="{FF2B5EF4-FFF2-40B4-BE49-F238E27FC236}">
                <a16:creationId xmlns:a16="http://schemas.microsoft.com/office/drawing/2014/main" id="{9F5DEAAE-88E9-38ED-0D2E-C4A50338A8A8}"/>
              </a:ext>
            </a:extLst>
          </p:cNvPr>
          <p:cNvSpPr txBox="1"/>
          <p:nvPr/>
        </p:nvSpPr>
        <p:spPr>
          <a:xfrm>
            <a:off x="8039606" y="202893"/>
            <a:ext cx="3481811" cy="523220"/>
          </a:xfrm>
          <a:prstGeom prst="rect">
            <a:avLst/>
          </a:prstGeom>
          <a:noFill/>
        </p:spPr>
        <p:txBody>
          <a:bodyPr wrap="square" rtlCol="0">
            <a:spAutoFit/>
          </a:bodyPr>
          <a:lstStyle/>
          <a:p>
            <a:r>
              <a:rPr lang="en-US" sz="2800" dirty="0"/>
              <a:t>Respecting Priorities</a:t>
            </a:r>
          </a:p>
        </p:txBody>
      </p:sp>
      <p:sp>
        <p:nvSpPr>
          <p:cNvPr id="18" name="TextBox 17">
            <a:extLst>
              <a:ext uri="{FF2B5EF4-FFF2-40B4-BE49-F238E27FC236}">
                <a16:creationId xmlns:a16="http://schemas.microsoft.com/office/drawing/2014/main" id="{15868C14-7080-5BF2-40D4-7F01F6EE119A}"/>
              </a:ext>
            </a:extLst>
          </p:cNvPr>
          <p:cNvSpPr txBox="1"/>
          <p:nvPr/>
        </p:nvSpPr>
        <p:spPr>
          <a:xfrm>
            <a:off x="2085858" y="3396959"/>
            <a:ext cx="1945426" cy="830997"/>
          </a:xfrm>
          <a:prstGeom prst="rect">
            <a:avLst/>
          </a:prstGeom>
          <a:noFill/>
        </p:spPr>
        <p:txBody>
          <a:bodyPr wrap="square" rtlCol="0">
            <a:spAutoFit/>
          </a:bodyPr>
          <a:lstStyle/>
          <a:p>
            <a:r>
              <a:rPr lang="en-US" sz="1200" dirty="0"/>
              <a:t>Each additional OM who applies gets in, crowds out IL and OM, and gives a seat to OL (high priority).</a:t>
            </a:r>
          </a:p>
        </p:txBody>
      </p:sp>
      <p:sp>
        <p:nvSpPr>
          <p:cNvPr id="20" name="TextBox 19">
            <a:extLst>
              <a:ext uri="{FF2B5EF4-FFF2-40B4-BE49-F238E27FC236}">
                <a16:creationId xmlns:a16="http://schemas.microsoft.com/office/drawing/2014/main" id="{FCA8755C-83FE-004E-00C3-30CD22692C90}"/>
              </a:ext>
            </a:extLst>
          </p:cNvPr>
          <p:cNvSpPr txBox="1"/>
          <p:nvPr/>
        </p:nvSpPr>
        <p:spPr>
          <a:xfrm>
            <a:off x="4338866" y="3304627"/>
            <a:ext cx="6184230" cy="1015663"/>
          </a:xfrm>
          <a:prstGeom prst="rect">
            <a:avLst/>
          </a:prstGeom>
          <a:noFill/>
        </p:spPr>
        <p:txBody>
          <a:bodyPr wrap="square" rtlCol="0">
            <a:spAutoFit/>
          </a:bodyPr>
          <a:lstStyle/>
          <a:p>
            <a:r>
              <a:rPr lang="en-US" sz="1200" dirty="0"/>
              <a:t>I claim RP easy to explain. </a:t>
            </a:r>
          </a:p>
          <a:p>
            <a:pPr marL="171450" indent="-171450">
              <a:buFont typeface="Arial" panose="020B0604020202020204" pitchFamily="34" charset="0"/>
              <a:buChar char="•"/>
            </a:pPr>
            <a:r>
              <a:rPr lang="en-US" sz="1200" dirty="0"/>
              <a:t>For rejected IL applicants, say ”at most 50 low income,  these all have higher priority”</a:t>
            </a:r>
          </a:p>
          <a:p>
            <a:pPr marL="171450" indent="-171450">
              <a:buFont typeface="Arial" panose="020B0604020202020204" pitchFamily="34" charset="0"/>
              <a:buChar char="•"/>
            </a:pPr>
            <a:r>
              <a:rPr lang="en-US" sz="1200" dirty="0"/>
              <a:t>For rejected OM applicants say “at most 50 non CP, these all have higher priority”</a:t>
            </a:r>
          </a:p>
          <a:p>
            <a:pPr marL="171450" indent="-171450">
              <a:buFont typeface="Arial" panose="020B0604020202020204" pitchFamily="34" charset="0"/>
              <a:buChar char="•"/>
            </a:pPr>
            <a:r>
              <a:rPr lang="en-US" sz="1200" dirty="0"/>
              <a:t>For rejected OL applicants say “At least 50 insiders and at most 20 IM, so at least 30 IL. At most 50 L so at most 20 OL. These 20 have higher priority.”</a:t>
            </a:r>
          </a:p>
        </p:txBody>
      </p:sp>
      <p:sp>
        <p:nvSpPr>
          <p:cNvPr id="23" name="TextBox 22">
            <a:extLst>
              <a:ext uri="{FF2B5EF4-FFF2-40B4-BE49-F238E27FC236}">
                <a16:creationId xmlns:a16="http://schemas.microsoft.com/office/drawing/2014/main" id="{0A10FFD0-DEE9-4225-FAEE-99995CC08B06}"/>
              </a:ext>
            </a:extLst>
          </p:cNvPr>
          <p:cNvSpPr txBox="1"/>
          <p:nvPr/>
        </p:nvSpPr>
        <p:spPr>
          <a:xfrm>
            <a:off x="4405396" y="4703747"/>
            <a:ext cx="6184230" cy="461665"/>
          </a:xfrm>
          <a:prstGeom prst="rect">
            <a:avLst/>
          </a:prstGeom>
          <a:noFill/>
        </p:spPr>
        <p:txBody>
          <a:bodyPr wrap="square" rtlCol="0">
            <a:spAutoFit/>
          </a:bodyPr>
          <a:lstStyle/>
          <a:p>
            <a:r>
              <a:rPr lang="en-US" sz="1200" dirty="0"/>
              <a:t>How to explain upper right corner?</a:t>
            </a:r>
          </a:p>
          <a:p>
            <a:pPr marL="171450" indent="-171450">
              <a:buFont typeface="Arial" panose="020B0604020202020204" pitchFamily="34" charset="0"/>
              <a:buChar char="•"/>
            </a:pPr>
            <a:r>
              <a:rPr lang="en-US" sz="1200" dirty="0"/>
              <a:t>We started by filling CP seats. By the time we hit 50, there were only 5 low income spots left!</a:t>
            </a:r>
          </a:p>
        </p:txBody>
      </p:sp>
    </p:spTree>
    <p:extLst>
      <p:ext uri="{BB962C8B-B14F-4D97-AF65-F5344CB8AC3E}">
        <p14:creationId xmlns:p14="http://schemas.microsoft.com/office/powerpoint/2010/main" val="14034184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extLst>
              <p:ext uri="{D42A27DB-BD31-4B8C-83A1-F6EECF244321}">
                <p14:modId xmlns:p14="http://schemas.microsoft.com/office/powerpoint/2010/main" val="293156365"/>
              </p:ext>
            </p:extLst>
          </p:nvPr>
        </p:nvGraphicFramePr>
        <p:xfrm>
          <a:off x="8039607" y="87715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30</a:t>
                      </a:r>
                    </a:p>
                  </a:txBody>
                  <a:tcPr/>
                </a:tc>
                <a:tc>
                  <a:txBody>
                    <a:bodyPr/>
                    <a:lstStyle/>
                    <a:p>
                      <a:pPr algn="ctr"/>
                      <a:r>
                        <a:rPr lang="en-US" sz="3600" dirty="0"/>
                        <a:t>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sp>
        <p:nvSpPr>
          <p:cNvPr id="3" name="TextBox 2">
            <a:extLst>
              <a:ext uri="{FF2B5EF4-FFF2-40B4-BE49-F238E27FC236}">
                <a16:creationId xmlns:a16="http://schemas.microsoft.com/office/drawing/2014/main" id="{5AF9CAC5-C5DC-451A-CC5E-55995C58009F}"/>
              </a:ext>
            </a:extLst>
          </p:cNvPr>
          <p:cNvSpPr txBox="1"/>
          <p:nvPr/>
        </p:nvSpPr>
        <p:spPr>
          <a:xfrm>
            <a:off x="2085858" y="1490008"/>
            <a:ext cx="3518739" cy="923330"/>
          </a:xfrm>
          <a:prstGeom prst="rect">
            <a:avLst/>
          </a:prstGeom>
          <a:noFill/>
        </p:spPr>
        <p:txBody>
          <a:bodyPr wrap="square" rtlCol="0">
            <a:spAutoFit/>
          </a:bodyPr>
          <a:lstStyle/>
          <a:p>
            <a:r>
              <a:rPr lang="en-US" dirty="0"/>
              <a:t>At least 50 Insiders</a:t>
            </a:r>
          </a:p>
          <a:p>
            <a:r>
              <a:rPr lang="en-US" dirty="0"/>
              <a:t>At most 50 L</a:t>
            </a:r>
          </a:p>
          <a:p>
            <a:r>
              <a:rPr lang="en-US" dirty="0"/>
              <a:t>At most 50 M</a:t>
            </a:r>
          </a:p>
        </p:txBody>
      </p:sp>
      <p:sp>
        <p:nvSpPr>
          <p:cNvPr id="14" name="TextBox 13">
            <a:extLst>
              <a:ext uri="{FF2B5EF4-FFF2-40B4-BE49-F238E27FC236}">
                <a16:creationId xmlns:a16="http://schemas.microsoft.com/office/drawing/2014/main" id="{6A3FD219-2A5C-5FD3-037D-48CB8BA93B16}"/>
              </a:ext>
            </a:extLst>
          </p:cNvPr>
          <p:cNvSpPr txBox="1"/>
          <p:nvPr/>
        </p:nvSpPr>
        <p:spPr>
          <a:xfrm>
            <a:off x="4356938" y="200538"/>
            <a:ext cx="3074043" cy="523220"/>
          </a:xfrm>
          <a:prstGeom prst="rect">
            <a:avLst/>
          </a:prstGeom>
          <a:noFill/>
        </p:spPr>
        <p:txBody>
          <a:bodyPr wrap="square" rtlCol="0">
            <a:spAutoFit/>
          </a:bodyPr>
          <a:lstStyle/>
          <a:p>
            <a:r>
              <a:rPr lang="en-US" sz="2800" dirty="0"/>
              <a:t>NYC Housing</a:t>
            </a:r>
          </a:p>
        </p:txBody>
      </p:sp>
      <p:graphicFrame>
        <p:nvGraphicFramePr>
          <p:cNvPr id="16" name="Table 15">
            <a:extLst>
              <a:ext uri="{FF2B5EF4-FFF2-40B4-BE49-F238E27FC236}">
                <a16:creationId xmlns:a16="http://schemas.microsoft.com/office/drawing/2014/main" id="{0E2C5D03-ED20-89EF-58CC-169058F6AA87}"/>
              </a:ext>
            </a:extLst>
          </p:cNvPr>
          <p:cNvGraphicFramePr>
            <a:graphicFrameLocks/>
          </p:cNvGraphicFramePr>
          <p:nvPr/>
        </p:nvGraphicFramePr>
        <p:xfrm>
          <a:off x="4405396" y="890810"/>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45</a:t>
                      </a:r>
                    </a:p>
                  </a:txBody>
                  <a:tcPr/>
                </a:tc>
                <a:tc>
                  <a:txBody>
                    <a:bodyPr/>
                    <a:lstStyle/>
                    <a:p>
                      <a:pPr algn="ctr"/>
                      <a:r>
                        <a:rPr lang="en-US" sz="3600" dirty="0"/>
                        <a:t>5</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3925597502"/>
                  </a:ext>
                </a:extLst>
              </a:tr>
            </a:tbl>
          </a:graphicData>
        </a:graphic>
      </p:graphicFrame>
      <p:sp>
        <p:nvSpPr>
          <p:cNvPr id="17" name="TextBox 16">
            <a:extLst>
              <a:ext uri="{FF2B5EF4-FFF2-40B4-BE49-F238E27FC236}">
                <a16:creationId xmlns:a16="http://schemas.microsoft.com/office/drawing/2014/main" id="{9F5DEAAE-88E9-38ED-0D2E-C4A50338A8A8}"/>
              </a:ext>
            </a:extLst>
          </p:cNvPr>
          <p:cNvSpPr txBox="1"/>
          <p:nvPr/>
        </p:nvSpPr>
        <p:spPr>
          <a:xfrm>
            <a:off x="8039606" y="202893"/>
            <a:ext cx="3481811" cy="523220"/>
          </a:xfrm>
          <a:prstGeom prst="rect">
            <a:avLst/>
          </a:prstGeom>
          <a:noFill/>
        </p:spPr>
        <p:txBody>
          <a:bodyPr wrap="square" rtlCol="0">
            <a:spAutoFit/>
          </a:bodyPr>
          <a:lstStyle/>
          <a:p>
            <a:r>
              <a:rPr lang="en-US" sz="2800" dirty="0"/>
              <a:t>Respecting Priorities</a:t>
            </a:r>
          </a:p>
        </p:txBody>
      </p:sp>
      <p:sp>
        <p:nvSpPr>
          <p:cNvPr id="18" name="TextBox 17">
            <a:extLst>
              <a:ext uri="{FF2B5EF4-FFF2-40B4-BE49-F238E27FC236}">
                <a16:creationId xmlns:a16="http://schemas.microsoft.com/office/drawing/2014/main" id="{15868C14-7080-5BF2-40D4-7F01F6EE119A}"/>
              </a:ext>
            </a:extLst>
          </p:cNvPr>
          <p:cNvSpPr txBox="1"/>
          <p:nvPr/>
        </p:nvSpPr>
        <p:spPr>
          <a:xfrm>
            <a:off x="2085858" y="3396959"/>
            <a:ext cx="1945426" cy="830997"/>
          </a:xfrm>
          <a:prstGeom prst="rect">
            <a:avLst/>
          </a:prstGeom>
          <a:noFill/>
        </p:spPr>
        <p:txBody>
          <a:bodyPr wrap="square" rtlCol="0">
            <a:spAutoFit/>
          </a:bodyPr>
          <a:lstStyle/>
          <a:p>
            <a:r>
              <a:rPr lang="en-US" sz="1200" dirty="0"/>
              <a:t>Each additional OM who applies gets in, crowds out IL and OM, and gives a seat to OL (high priority).</a:t>
            </a:r>
          </a:p>
        </p:txBody>
      </p:sp>
      <p:sp>
        <p:nvSpPr>
          <p:cNvPr id="20" name="TextBox 19">
            <a:extLst>
              <a:ext uri="{FF2B5EF4-FFF2-40B4-BE49-F238E27FC236}">
                <a16:creationId xmlns:a16="http://schemas.microsoft.com/office/drawing/2014/main" id="{FCA8755C-83FE-004E-00C3-30CD22692C90}"/>
              </a:ext>
            </a:extLst>
          </p:cNvPr>
          <p:cNvSpPr txBox="1"/>
          <p:nvPr/>
        </p:nvSpPr>
        <p:spPr>
          <a:xfrm>
            <a:off x="4338866" y="3304627"/>
            <a:ext cx="6184230" cy="1015663"/>
          </a:xfrm>
          <a:prstGeom prst="rect">
            <a:avLst/>
          </a:prstGeom>
          <a:noFill/>
        </p:spPr>
        <p:txBody>
          <a:bodyPr wrap="square" rtlCol="0">
            <a:spAutoFit/>
          </a:bodyPr>
          <a:lstStyle/>
          <a:p>
            <a:r>
              <a:rPr lang="en-US" sz="1200" dirty="0"/>
              <a:t>I claim RP easy to explain. </a:t>
            </a:r>
          </a:p>
          <a:p>
            <a:pPr marL="171450" indent="-171450">
              <a:buFont typeface="Arial" panose="020B0604020202020204" pitchFamily="34" charset="0"/>
              <a:buChar char="•"/>
            </a:pPr>
            <a:r>
              <a:rPr lang="en-US" sz="1200" dirty="0"/>
              <a:t>For rejected IL applicants, say ”at most 50 low income,  these all have higher priority”</a:t>
            </a:r>
          </a:p>
          <a:p>
            <a:pPr marL="171450" indent="-171450">
              <a:buFont typeface="Arial" panose="020B0604020202020204" pitchFamily="34" charset="0"/>
              <a:buChar char="•"/>
            </a:pPr>
            <a:r>
              <a:rPr lang="en-US" sz="1200" dirty="0"/>
              <a:t>For rejected OM applicants say “at most 50 non CP, these all have higher priority”</a:t>
            </a:r>
          </a:p>
          <a:p>
            <a:pPr marL="171450" indent="-171450">
              <a:buFont typeface="Arial" panose="020B0604020202020204" pitchFamily="34" charset="0"/>
              <a:buChar char="•"/>
            </a:pPr>
            <a:r>
              <a:rPr lang="en-US" sz="1200" dirty="0"/>
              <a:t>For rejected OL applicants say “At least 50 insiders and at most 20 IM, so at least 30 IL. At most 50 L so at most 20 OL. These 20 have higher priority.”</a:t>
            </a:r>
          </a:p>
        </p:txBody>
      </p:sp>
      <p:sp>
        <p:nvSpPr>
          <p:cNvPr id="23" name="TextBox 22">
            <a:extLst>
              <a:ext uri="{FF2B5EF4-FFF2-40B4-BE49-F238E27FC236}">
                <a16:creationId xmlns:a16="http://schemas.microsoft.com/office/drawing/2014/main" id="{0A10FFD0-DEE9-4225-FAEE-99995CC08B06}"/>
              </a:ext>
            </a:extLst>
          </p:cNvPr>
          <p:cNvSpPr txBox="1"/>
          <p:nvPr/>
        </p:nvSpPr>
        <p:spPr>
          <a:xfrm>
            <a:off x="4405396" y="4703747"/>
            <a:ext cx="6184230" cy="461665"/>
          </a:xfrm>
          <a:prstGeom prst="rect">
            <a:avLst/>
          </a:prstGeom>
          <a:noFill/>
        </p:spPr>
        <p:txBody>
          <a:bodyPr wrap="square" rtlCol="0">
            <a:spAutoFit/>
          </a:bodyPr>
          <a:lstStyle/>
          <a:p>
            <a:r>
              <a:rPr lang="en-US" sz="1200" dirty="0"/>
              <a:t>How to explain upper right corner?</a:t>
            </a:r>
          </a:p>
          <a:p>
            <a:pPr marL="171450" indent="-171450">
              <a:buFont typeface="Arial" panose="020B0604020202020204" pitchFamily="34" charset="0"/>
              <a:buChar char="•"/>
            </a:pPr>
            <a:r>
              <a:rPr lang="en-US" sz="1200" dirty="0"/>
              <a:t>We started by filling CP seats. By the time we hit 50, there were only 5 low income spots left!</a:t>
            </a:r>
          </a:p>
        </p:txBody>
      </p:sp>
      <p:graphicFrame>
        <p:nvGraphicFramePr>
          <p:cNvPr id="10" name="Table 9">
            <a:extLst>
              <a:ext uri="{FF2B5EF4-FFF2-40B4-BE49-F238E27FC236}">
                <a16:creationId xmlns:a16="http://schemas.microsoft.com/office/drawing/2014/main" id="{5D226441-C8B4-4C1B-D1A7-20EC2183DA08}"/>
              </a:ext>
            </a:extLst>
          </p:cNvPr>
          <p:cNvGraphicFramePr>
            <a:graphicFrameLocks/>
          </p:cNvGraphicFramePr>
          <p:nvPr>
            <p:extLst>
              <p:ext uri="{D42A27DB-BD31-4B8C-83A1-F6EECF244321}">
                <p14:modId xmlns:p14="http://schemas.microsoft.com/office/powerpoint/2010/main" val="2885746046"/>
              </p:ext>
            </p:extLst>
          </p:nvPr>
        </p:nvGraphicFramePr>
        <p:xfrm>
          <a:off x="8039606" y="345566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16.7</a:t>
                      </a:r>
                    </a:p>
                  </a:txBody>
                  <a:tcPr/>
                </a:tc>
                <a:tc>
                  <a:txBody>
                    <a:bodyPr/>
                    <a:lstStyle/>
                    <a:p>
                      <a:pPr algn="ctr"/>
                      <a:r>
                        <a:rPr lang="en-US" sz="3600" dirty="0"/>
                        <a:t>2.8</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100</a:t>
                      </a:r>
                    </a:p>
                  </a:txBody>
                  <a:tcPr/>
                </a:tc>
                <a:tc>
                  <a:txBody>
                    <a:bodyPr/>
                    <a:lstStyle/>
                    <a:p>
                      <a:pPr algn="ctr"/>
                      <a:r>
                        <a:rPr lang="en-US" sz="3600" dirty="0"/>
                        <a:t>37.5</a:t>
                      </a:r>
                    </a:p>
                  </a:txBody>
                  <a:tcPr/>
                </a:tc>
                <a:extLst>
                  <a:ext uri="{0D108BD9-81ED-4DB2-BD59-A6C34878D82A}">
                    <a16:rowId xmlns:a16="http://schemas.microsoft.com/office/drawing/2014/main" val="3925597502"/>
                  </a:ext>
                </a:extLst>
              </a:tr>
            </a:tbl>
          </a:graphicData>
        </a:graphic>
      </p:graphicFrame>
      <p:graphicFrame>
        <p:nvGraphicFramePr>
          <p:cNvPr id="11" name="Table 10">
            <a:extLst>
              <a:ext uri="{FF2B5EF4-FFF2-40B4-BE49-F238E27FC236}">
                <a16:creationId xmlns:a16="http://schemas.microsoft.com/office/drawing/2014/main" id="{91D1F119-77FB-891D-7C62-751681E93044}"/>
              </a:ext>
            </a:extLst>
          </p:cNvPr>
          <p:cNvGraphicFramePr>
            <a:graphicFrameLocks/>
          </p:cNvGraphicFramePr>
          <p:nvPr>
            <p:extLst>
              <p:ext uri="{D42A27DB-BD31-4B8C-83A1-F6EECF244321}">
                <p14:modId xmlns:p14="http://schemas.microsoft.com/office/powerpoint/2010/main" val="411766138"/>
              </p:ext>
            </p:extLst>
          </p:nvPr>
        </p:nvGraphicFramePr>
        <p:xfrm>
          <a:off x="4338866" y="3455665"/>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25</a:t>
                      </a:r>
                    </a:p>
                  </a:txBody>
                  <a:tcPr/>
                </a:tc>
                <a:tc>
                  <a:txBody>
                    <a:bodyPr/>
                    <a:lstStyle/>
                    <a:p>
                      <a:pPr algn="ctr"/>
                      <a:r>
                        <a:rPr lang="en-US" sz="3600" dirty="0"/>
                        <a:t>0.7</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50</a:t>
                      </a:r>
                    </a:p>
                  </a:txBody>
                  <a:tcPr/>
                </a:tc>
                <a:tc>
                  <a:txBody>
                    <a:bodyPr/>
                    <a:lstStyle/>
                    <a:p>
                      <a:pPr algn="ctr"/>
                      <a:r>
                        <a:rPr lang="en-US" sz="3600" dirty="0"/>
                        <a:t>50</a:t>
                      </a:r>
                    </a:p>
                  </a:txBody>
                  <a:tcPr/>
                </a:tc>
                <a:extLst>
                  <a:ext uri="{0D108BD9-81ED-4DB2-BD59-A6C34878D82A}">
                    <a16:rowId xmlns:a16="http://schemas.microsoft.com/office/drawing/2014/main" val="3925597502"/>
                  </a:ext>
                </a:extLst>
              </a:tr>
            </a:tbl>
          </a:graphicData>
        </a:graphic>
      </p:graphicFrame>
    </p:spTree>
    <p:extLst>
      <p:ext uri="{BB962C8B-B14F-4D97-AF65-F5344CB8AC3E}">
        <p14:creationId xmlns:p14="http://schemas.microsoft.com/office/powerpoint/2010/main" val="281376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91BA-9FE9-974F-0ECF-6FFC5C73F4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C99D2F-71FD-DA28-2E7E-534AD5BBFBBD}"/>
              </a:ext>
            </a:extLst>
          </p:cNvPr>
          <p:cNvSpPr>
            <a:spLocks noGrp="1"/>
          </p:cNvSpPr>
          <p:nvPr>
            <p:ph idx="1"/>
          </p:nvPr>
        </p:nvSpPr>
        <p:spPr/>
        <p:txBody>
          <a:bodyPr/>
          <a:lstStyle/>
          <a:p>
            <a:r>
              <a:rPr lang="en-US" dirty="0"/>
              <a:t>Respecting priorities is not substitutable (not a big deal)</a:t>
            </a:r>
          </a:p>
          <a:p>
            <a:r>
              <a:rPr lang="en-US" dirty="0"/>
              <a:t>Respecting priorities requires knowing how many of each type are below (this could be a problem).</a:t>
            </a:r>
          </a:p>
        </p:txBody>
      </p:sp>
    </p:spTree>
    <p:extLst>
      <p:ext uri="{BB962C8B-B14F-4D97-AF65-F5344CB8AC3E}">
        <p14:creationId xmlns:p14="http://schemas.microsoft.com/office/powerpoint/2010/main" val="9261017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7AD44E6-1DCA-4358-D8C8-62718B699668}"/>
              </a:ext>
            </a:extLst>
          </p:cNvPr>
          <p:cNvGraphicFramePr>
            <a:graphicFrameLocks/>
          </p:cNvGraphicFramePr>
          <p:nvPr>
            <p:extLst>
              <p:ext uri="{D42A27DB-BD31-4B8C-83A1-F6EECF244321}">
                <p14:modId xmlns:p14="http://schemas.microsoft.com/office/powerpoint/2010/main" val="913519702"/>
              </p:ext>
            </p:extLst>
          </p:nvPr>
        </p:nvGraphicFramePr>
        <p:xfrm>
          <a:off x="8039607" y="877152"/>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30</a:t>
                      </a:r>
                    </a:p>
                  </a:txBody>
                  <a:tcPr/>
                </a:tc>
                <a:tc>
                  <a:txBody>
                    <a:bodyPr/>
                    <a:lstStyle/>
                    <a:p>
                      <a:pPr algn="ctr"/>
                      <a:r>
                        <a:rPr lang="en-US" sz="3600" dirty="0"/>
                        <a:t>20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sp>
        <p:nvSpPr>
          <p:cNvPr id="10" name="TextBox 9">
            <a:extLst>
              <a:ext uri="{FF2B5EF4-FFF2-40B4-BE49-F238E27FC236}">
                <a16:creationId xmlns:a16="http://schemas.microsoft.com/office/drawing/2014/main" id="{E79510EE-3D0D-D01F-7973-CBE61E0251B8}"/>
              </a:ext>
            </a:extLst>
          </p:cNvPr>
          <p:cNvSpPr txBox="1"/>
          <p:nvPr/>
        </p:nvSpPr>
        <p:spPr>
          <a:xfrm>
            <a:off x="341409" y="133141"/>
            <a:ext cx="3074043" cy="646331"/>
          </a:xfrm>
          <a:prstGeom prst="rect">
            <a:avLst/>
          </a:prstGeom>
          <a:noFill/>
        </p:spPr>
        <p:txBody>
          <a:bodyPr wrap="square" rtlCol="0">
            <a:spAutoFit/>
          </a:bodyPr>
          <a:lstStyle/>
          <a:p>
            <a:r>
              <a:rPr lang="en-US" dirty="0"/>
              <a:t>50% Low Income</a:t>
            </a:r>
          </a:p>
          <a:p>
            <a:r>
              <a:rPr lang="en-US" dirty="0"/>
              <a:t>50% Middle Income</a:t>
            </a:r>
          </a:p>
        </p:txBody>
      </p:sp>
      <p:sp>
        <p:nvSpPr>
          <p:cNvPr id="12" name="TextBox 11">
            <a:extLst>
              <a:ext uri="{FF2B5EF4-FFF2-40B4-BE49-F238E27FC236}">
                <a16:creationId xmlns:a16="http://schemas.microsoft.com/office/drawing/2014/main" id="{7666AFD8-672D-8F0A-88A2-DDCCCF270547}"/>
              </a:ext>
            </a:extLst>
          </p:cNvPr>
          <p:cNvSpPr txBox="1"/>
          <p:nvPr/>
        </p:nvSpPr>
        <p:spPr>
          <a:xfrm>
            <a:off x="341409" y="735270"/>
            <a:ext cx="2900905" cy="369332"/>
          </a:xfrm>
          <a:prstGeom prst="rect">
            <a:avLst/>
          </a:prstGeom>
          <a:noFill/>
        </p:spPr>
        <p:txBody>
          <a:bodyPr wrap="square" rtlCol="0">
            <a:spAutoFit/>
          </a:bodyPr>
          <a:lstStyle/>
          <a:p>
            <a:r>
              <a:rPr lang="en-US" dirty="0"/>
              <a:t>50% Community Preference</a:t>
            </a:r>
          </a:p>
        </p:txBody>
      </p:sp>
      <p:sp>
        <p:nvSpPr>
          <p:cNvPr id="3" name="TextBox 2">
            <a:extLst>
              <a:ext uri="{FF2B5EF4-FFF2-40B4-BE49-F238E27FC236}">
                <a16:creationId xmlns:a16="http://schemas.microsoft.com/office/drawing/2014/main" id="{5AF9CAC5-C5DC-451A-CC5E-55995C58009F}"/>
              </a:ext>
            </a:extLst>
          </p:cNvPr>
          <p:cNvSpPr txBox="1"/>
          <p:nvPr/>
        </p:nvSpPr>
        <p:spPr>
          <a:xfrm>
            <a:off x="2085858" y="1490008"/>
            <a:ext cx="3518739" cy="923330"/>
          </a:xfrm>
          <a:prstGeom prst="rect">
            <a:avLst/>
          </a:prstGeom>
          <a:noFill/>
        </p:spPr>
        <p:txBody>
          <a:bodyPr wrap="square" rtlCol="0">
            <a:spAutoFit/>
          </a:bodyPr>
          <a:lstStyle/>
          <a:p>
            <a:r>
              <a:rPr lang="en-US" dirty="0"/>
              <a:t>At least 50 Insiders</a:t>
            </a:r>
          </a:p>
          <a:p>
            <a:r>
              <a:rPr lang="en-US" dirty="0"/>
              <a:t>At most 50 L</a:t>
            </a:r>
          </a:p>
          <a:p>
            <a:r>
              <a:rPr lang="en-US" dirty="0"/>
              <a:t>At most 50 M</a:t>
            </a:r>
          </a:p>
        </p:txBody>
      </p:sp>
      <p:sp>
        <p:nvSpPr>
          <p:cNvPr id="17" name="TextBox 16">
            <a:extLst>
              <a:ext uri="{FF2B5EF4-FFF2-40B4-BE49-F238E27FC236}">
                <a16:creationId xmlns:a16="http://schemas.microsoft.com/office/drawing/2014/main" id="{9F5DEAAE-88E9-38ED-0D2E-C4A50338A8A8}"/>
              </a:ext>
            </a:extLst>
          </p:cNvPr>
          <p:cNvSpPr txBox="1"/>
          <p:nvPr/>
        </p:nvSpPr>
        <p:spPr>
          <a:xfrm>
            <a:off x="8039606" y="202893"/>
            <a:ext cx="3481811" cy="523220"/>
          </a:xfrm>
          <a:prstGeom prst="rect">
            <a:avLst/>
          </a:prstGeom>
          <a:noFill/>
        </p:spPr>
        <p:txBody>
          <a:bodyPr wrap="square" rtlCol="0">
            <a:spAutoFit/>
          </a:bodyPr>
          <a:lstStyle/>
          <a:p>
            <a:r>
              <a:rPr lang="en-US" sz="2800" dirty="0"/>
              <a:t>Respecting Priorities</a:t>
            </a:r>
          </a:p>
        </p:txBody>
      </p:sp>
      <p:graphicFrame>
        <p:nvGraphicFramePr>
          <p:cNvPr id="19" name="Table 18">
            <a:extLst>
              <a:ext uri="{FF2B5EF4-FFF2-40B4-BE49-F238E27FC236}">
                <a16:creationId xmlns:a16="http://schemas.microsoft.com/office/drawing/2014/main" id="{8A0414BD-0BB1-FD82-09EE-D0D5046BE2B4}"/>
              </a:ext>
            </a:extLst>
          </p:cNvPr>
          <p:cNvGraphicFramePr>
            <a:graphicFrameLocks/>
          </p:cNvGraphicFramePr>
          <p:nvPr>
            <p:extLst>
              <p:ext uri="{D42A27DB-BD31-4B8C-83A1-F6EECF244321}">
                <p14:modId xmlns:p14="http://schemas.microsoft.com/office/powerpoint/2010/main" val="220616074"/>
              </p:ext>
            </p:extLst>
          </p:nvPr>
        </p:nvGraphicFramePr>
        <p:xfrm>
          <a:off x="8039606" y="4864561"/>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30</a:t>
                      </a:r>
                    </a:p>
                  </a:txBody>
                  <a:tcPr/>
                </a:tc>
                <a:extLst>
                  <a:ext uri="{0D108BD9-81ED-4DB2-BD59-A6C34878D82A}">
                    <a16:rowId xmlns:a16="http://schemas.microsoft.com/office/drawing/2014/main" val="3925597502"/>
                  </a:ext>
                </a:extLst>
              </a:tr>
            </a:tbl>
          </a:graphicData>
        </a:graphic>
      </p:graphicFrame>
      <p:graphicFrame>
        <p:nvGraphicFramePr>
          <p:cNvPr id="21" name="Table 20">
            <a:extLst>
              <a:ext uri="{FF2B5EF4-FFF2-40B4-BE49-F238E27FC236}">
                <a16:creationId xmlns:a16="http://schemas.microsoft.com/office/drawing/2014/main" id="{EEAF36DF-407D-4EDA-8D1D-96DAFF63EF4C}"/>
              </a:ext>
            </a:extLst>
          </p:cNvPr>
          <p:cNvGraphicFramePr>
            <a:graphicFrameLocks/>
          </p:cNvGraphicFramePr>
          <p:nvPr>
            <p:extLst>
              <p:ext uri="{D42A27DB-BD31-4B8C-83A1-F6EECF244321}">
                <p14:modId xmlns:p14="http://schemas.microsoft.com/office/powerpoint/2010/main" val="192180626"/>
              </p:ext>
            </p:extLst>
          </p:nvPr>
        </p:nvGraphicFramePr>
        <p:xfrm>
          <a:off x="8039606" y="2870856"/>
          <a:ext cx="3074043" cy="1814619"/>
        </p:xfrm>
        <a:graphic>
          <a:graphicData uri="http://schemas.openxmlformats.org/drawingml/2006/table">
            <a:tbl>
              <a:tblPr firstRow="1" firstCol="1" bandRow="1">
                <a:tableStyleId>{93296810-A885-4BE3-A3E7-6D5BEEA58F35}</a:tableStyleId>
              </a:tblPr>
              <a:tblGrid>
                <a:gridCol w="1024681">
                  <a:extLst>
                    <a:ext uri="{9D8B030D-6E8A-4147-A177-3AD203B41FA5}">
                      <a16:colId xmlns:a16="http://schemas.microsoft.com/office/drawing/2014/main" val="3567896598"/>
                    </a:ext>
                  </a:extLst>
                </a:gridCol>
                <a:gridCol w="1024681">
                  <a:extLst>
                    <a:ext uri="{9D8B030D-6E8A-4147-A177-3AD203B41FA5}">
                      <a16:colId xmlns:a16="http://schemas.microsoft.com/office/drawing/2014/main" val="3551812399"/>
                    </a:ext>
                  </a:extLst>
                </a:gridCol>
                <a:gridCol w="1024681">
                  <a:extLst>
                    <a:ext uri="{9D8B030D-6E8A-4147-A177-3AD203B41FA5}">
                      <a16:colId xmlns:a16="http://schemas.microsoft.com/office/drawing/2014/main" val="1383191937"/>
                    </a:ext>
                  </a:extLst>
                </a:gridCol>
              </a:tblGrid>
              <a:tr h="534459">
                <a:tc>
                  <a:txBody>
                    <a:bodyPr/>
                    <a:lstStyle/>
                    <a:p>
                      <a:endParaRPr lang="en-US" dirty="0"/>
                    </a:p>
                  </a:txBody>
                  <a:tcPr/>
                </a:tc>
                <a:tc>
                  <a:txBody>
                    <a:bodyPr/>
                    <a:lstStyle/>
                    <a:p>
                      <a:pPr algn="ctr"/>
                      <a:r>
                        <a:rPr lang="en-US" sz="2000" dirty="0"/>
                        <a:t>CP</a:t>
                      </a:r>
                    </a:p>
                  </a:txBody>
                  <a:tcPr/>
                </a:tc>
                <a:tc>
                  <a:txBody>
                    <a:bodyPr/>
                    <a:lstStyle/>
                    <a:p>
                      <a:pPr algn="ctr"/>
                      <a:r>
                        <a:rPr lang="en-US" sz="2000" dirty="0"/>
                        <a:t>Not CP</a:t>
                      </a:r>
                    </a:p>
                  </a:txBody>
                  <a:tcPr/>
                </a:tc>
                <a:extLst>
                  <a:ext uri="{0D108BD9-81ED-4DB2-BD59-A6C34878D82A}">
                    <a16:rowId xmlns:a16="http://schemas.microsoft.com/office/drawing/2014/main" val="1533524592"/>
                  </a:ext>
                </a:extLst>
              </a:tr>
              <a:tr h="534459">
                <a:tc>
                  <a:txBody>
                    <a:bodyPr/>
                    <a:lstStyle/>
                    <a:p>
                      <a:r>
                        <a:rPr lang="en-US" dirty="0"/>
                        <a:t>Low Income</a:t>
                      </a:r>
                    </a:p>
                  </a:txBody>
                  <a:tcPr/>
                </a:tc>
                <a:tc>
                  <a:txBody>
                    <a:bodyPr/>
                    <a:lstStyle/>
                    <a:p>
                      <a:pPr algn="ctr"/>
                      <a:r>
                        <a:rPr lang="en-US" sz="3600" dirty="0"/>
                        <a:t>10</a:t>
                      </a:r>
                    </a:p>
                  </a:txBody>
                  <a:tcPr/>
                </a:tc>
                <a:tc>
                  <a:txBody>
                    <a:bodyPr/>
                    <a:lstStyle/>
                    <a:p>
                      <a:pPr algn="ctr"/>
                      <a:r>
                        <a:rPr lang="en-US" sz="3600" dirty="0"/>
                        <a:t>40</a:t>
                      </a:r>
                    </a:p>
                  </a:txBody>
                  <a:tcPr/>
                </a:tc>
                <a:extLst>
                  <a:ext uri="{0D108BD9-81ED-4DB2-BD59-A6C34878D82A}">
                    <a16:rowId xmlns:a16="http://schemas.microsoft.com/office/drawing/2014/main" val="4178726742"/>
                  </a:ext>
                </a:extLst>
              </a:tr>
              <a:tr h="534459">
                <a:tc>
                  <a:txBody>
                    <a:bodyPr/>
                    <a:lstStyle/>
                    <a:p>
                      <a:r>
                        <a:rPr lang="en-US" dirty="0"/>
                        <a:t>Middle Income</a:t>
                      </a:r>
                    </a:p>
                  </a:txBody>
                  <a:tcPr/>
                </a:tc>
                <a:tc>
                  <a:txBody>
                    <a:bodyPr/>
                    <a:lstStyle/>
                    <a:p>
                      <a:pPr algn="ctr"/>
                      <a:r>
                        <a:rPr lang="en-US" sz="3600" dirty="0"/>
                        <a:t>20</a:t>
                      </a:r>
                    </a:p>
                  </a:txBody>
                  <a:tcPr/>
                </a:tc>
                <a:tc>
                  <a:txBody>
                    <a:bodyPr/>
                    <a:lstStyle/>
                    <a:p>
                      <a:pPr algn="ctr"/>
                      <a:r>
                        <a:rPr lang="en-US" sz="3600" dirty="0"/>
                        <a:t>10</a:t>
                      </a:r>
                    </a:p>
                  </a:txBody>
                  <a:tcPr/>
                </a:tc>
                <a:extLst>
                  <a:ext uri="{0D108BD9-81ED-4DB2-BD59-A6C34878D82A}">
                    <a16:rowId xmlns:a16="http://schemas.microsoft.com/office/drawing/2014/main" val="3925597502"/>
                  </a:ext>
                </a:extLst>
              </a:tr>
            </a:tbl>
          </a:graphicData>
        </a:graphic>
      </p:graphicFrame>
      <p:sp>
        <p:nvSpPr>
          <p:cNvPr id="22" name="TextBox 21">
            <a:extLst>
              <a:ext uri="{FF2B5EF4-FFF2-40B4-BE49-F238E27FC236}">
                <a16:creationId xmlns:a16="http://schemas.microsoft.com/office/drawing/2014/main" id="{DF7C692A-B8C2-C576-24AA-891ADE13E1FE}"/>
              </a:ext>
            </a:extLst>
          </p:cNvPr>
          <p:cNvSpPr txBox="1"/>
          <p:nvPr/>
        </p:nvSpPr>
        <p:spPr>
          <a:xfrm>
            <a:off x="2064486" y="3509007"/>
            <a:ext cx="3518739" cy="923330"/>
          </a:xfrm>
          <a:prstGeom prst="rect">
            <a:avLst/>
          </a:prstGeom>
          <a:noFill/>
        </p:spPr>
        <p:txBody>
          <a:bodyPr wrap="square" rtlCol="0">
            <a:spAutoFit/>
          </a:bodyPr>
          <a:lstStyle/>
          <a:p>
            <a:r>
              <a:rPr lang="en-US" dirty="0"/>
              <a:t>At most 50 Outsiders</a:t>
            </a:r>
          </a:p>
          <a:p>
            <a:r>
              <a:rPr lang="en-US" dirty="0"/>
              <a:t>At most 50 L</a:t>
            </a:r>
          </a:p>
          <a:p>
            <a:r>
              <a:rPr lang="en-US" dirty="0"/>
              <a:t>At most 50 M</a:t>
            </a:r>
          </a:p>
        </p:txBody>
      </p:sp>
      <p:sp>
        <p:nvSpPr>
          <p:cNvPr id="25" name="TextBox 24">
            <a:extLst>
              <a:ext uri="{FF2B5EF4-FFF2-40B4-BE49-F238E27FC236}">
                <a16:creationId xmlns:a16="http://schemas.microsoft.com/office/drawing/2014/main" id="{F14B0822-44CC-101A-3CAD-6B33CC2DB8C0}"/>
              </a:ext>
            </a:extLst>
          </p:cNvPr>
          <p:cNvSpPr txBox="1"/>
          <p:nvPr/>
        </p:nvSpPr>
        <p:spPr>
          <a:xfrm>
            <a:off x="119060" y="3566067"/>
            <a:ext cx="1945426" cy="646331"/>
          </a:xfrm>
          <a:prstGeom prst="rect">
            <a:avLst/>
          </a:prstGeom>
          <a:noFill/>
        </p:spPr>
        <p:txBody>
          <a:bodyPr wrap="square" rtlCol="0">
            <a:spAutoFit/>
          </a:bodyPr>
          <a:lstStyle/>
          <a:p>
            <a:r>
              <a:rPr lang="en-US" sz="1200" dirty="0"/>
              <a:t>With this interpretation &amp; these numbers, we end up with 20 wasted seats!</a:t>
            </a:r>
          </a:p>
        </p:txBody>
      </p:sp>
      <p:sp>
        <p:nvSpPr>
          <p:cNvPr id="26" name="TextBox 25">
            <a:extLst>
              <a:ext uri="{FF2B5EF4-FFF2-40B4-BE49-F238E27FC236}">
                <a16:creationId xmlns:a16="http://schemas.microsoft.com/office/drawing/2014/main" id="{3E919226-074F-0CED-EFA1-8A5764ADC480}"/>
              </a:ext>
            </a:extLst>
          </p:cNvPr>
          <p:cNvSpPr txBox="1"/>
          <p:nvPr/>
        </p:nvSpPr>
        <p:spPr>
          <a:xfrm>
            <a:off x="1878430" y="5811606"/>
            <a:ext cx="6266949" cy="923330"/>
          </a:xfrm>
          <a:prstGeom prst="rect">
            <a:avLst/>
          </a:prstGeom>
          <a:noFill/>
        </p:spPr>
        <p:txBody>
          <a:bodyPr wrap="square" rtlCol="0">
            <a:spAutoFit/>
          </a:bodyPr>
          <a:lstStyle/>
          <a:p>
            <a:r>
              <a:rPr lang="en-US" dirty="0"/>
              <a:t>Not sure exactly what constraints get this for RP (maybe none). But could get it by starting from above and then filling 20 vacancies from lower right. </a:t>
            </a:r>
          </a:p>
        </p:txBody>
      </p:sp>
      <p:sp>
        <p:nvSpPr>
          <p:cNvPr id="27" name="TextBox 26">
            <a:extLst>
              <a:ext uri="{FF2B5EF4-FFF2-40B4-BE49-F238E27FC236}">
                <a16:creationId xmlns:a16="http://schemas.microsoft.com/office/drawing/2014/main" id="{CE29725E-07BC-12F9-BA44-958CAB3E4D5D}"/>
              </a:ext>
            </a:extLst>
          </p:cNvPr>
          <p:cNvSpPr txBox="1"/>
          <p:nvPr/>
        </p:nvSpPr>
        <p:spPr>
          <a:xfrm>
            <a:off x="189735" y="4717006"/>
            <a:ext cx="6851299" cy="923330"/>
          </a:xfrm>
          <a:prstGeom prst="rect">
            <a:avLst/>
          </a:prstGeom>
          <a:noFill/>
        </p:spPr>
        <p:txBody>
          <a:bodyPr wrap="none" rtlCol="0">
            <a:spAutoFit/>
          </a:bodyPr>
          <a:lstStyle/>
          <a:p>
            <a:r>
              <a:rPr lang="en-US" dirty="0"/>
              <a:t>Better interpretation of current feasibility, given non-binary income:</a:t>
            </a:r>
          </a:p>
          <a:p>
            <a:pPr marL="285750" indent="-285750">
              <a:buFont typeface="Arial" panose="020B0604020202020204" pitchFamily="34" charset="0"/>
              <a:buChar char="•"/>
            </a:pPr>
            <a:r>
              <a:rPr lang="en-US" dirty="0"/>
              <a:t>Reserves for income</a:t>
            </a:r>
          </a:p>
          <a:p>
            <a:pPr marL="285750" indent="-285750">
              <a:buFont typeface="Arial" panose="020B0604020202020204" pitchFamily="34" charset="0"/>
              <a:buChar char="•"/>
            </a:pPr>
            <a:r>
              <a:rPr lang="en-US" dirty="0"/>
              <a:t>Minimum quota for neighborhood (not max for non-neighborhood) </a:t>
            </a:r>
          </a:p>
        </p:txBody>
      </p:sp>
      <p:sp>
        <p:nvSpPr>
          <p:cNvPr id="28" name="TextBox 27">
            <a:extLst>
              <a:ext uri="{FF2B5EF4-FFF2-40B4-BE49-F238E27FC236}">
                <a16:creationId xmlns:a16="http://schemas.microsoft.com/office/drawing/2014/main" id="{3050574F-0AD9-861E-8E0F-BF3629D50AAB}"/>
              </a:ext>
            </a:extLst>
          </p:cNvPr>
          <p:cNvSpPr txBox="1"/>
          <p:nvPr/>
        </p:nvSpPr>
        <p:spPr>
          <a:xfrm>
            <a:off x="2999751" y="240359"/>
            <a:ext cx="4866717" cy="738664"/>
          </a:xfrm>
          <a:prstGeom prst="rect">
            <a:avLst/>
          </a:prstGeom>
          <a:noFill/>
        </p:spPr>
        <p:txBody>
          <a:bodyPr wrap="none" rtlCol="0">
            <a:spAutoFit/>
          </a:bodyPr>
          <a:lstStyle/>
          <a:p>
            <a:r>
              <a:rPr lang="en-US" sz="4200" dirty="0"/>
              <a:t>Other Interpretations</a:t>
            </a:r>
          </a:p>
        </p:txBody>
      </p:sp>
    </p:spTree>
    <p:extLst>
      <p:ext uri="{BB962C8B-B14F-4D97-AF65-F5344CB8AC3E}">
        <p14:creationId xmlns:p14="http://schemas.microsoft.com/office/powerpoint/2010/main" val="2287020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1A57C-0F36-9310-651B-2F901078DE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5113B1-2759-1ABF-7EDA-5800A88891F8}"/>
              </a:ext>
            </a:extLst>
          </p:cNvPr>
          <p:cNvSpPr>
            <a:spLocks noGrp="1"/>
          </p:cNvSpPr>
          <p:nvPr>
            <p:ph idx="1"/>
          </p:nvPr>
        </p:nvSpPr>
        <p:spPr/>
        <p:txBody>
          <a:bodyPr>
            <a:normAutofit fontScale="92500" lnSpcReduction="20000"/>
          </a:bodyPr>
          <a:lstStyle/>
          <a:p>
            <a:pPr marL="0" indent="0">
              <a:buNone/>
            </a:pPr>
            <a:r>
              <a:rPr lang="en-US" dirty="0"/>
              <a:t>agencies identify applicant HHs as living in the CD preference area or not, and, accordingly, make available to developers an initial log of lottery applicants subject to lottery sequencing rules (most pertinently, applicant HHs living in the CD preference area are to be processed before any applicant HH resident in New York City who lives outside of the CD preference area until the 50 percent CD preference has been filled). </a:t>
            </a:r>
          </a:p>
          <a:p>
            <a:pPr marL="0" indent="0">
              <a:buNone/>
            </a:pPr>
            <a:endParaRPr lang="en-US" dirty="0"/>
          </a:p>
          <a:p>
            <a:pPr marL="0" indent="0">
              <a:buNone/>
            </a:pPr>
            <a:r>
              <a:rPr lang="en-US" dirty="0"/>
              <a:t>This is because the first priorities in the processing of lottery applicants by a project’s marketing agent are for units to be awarded to applicant HHs where a member of the HH has: (a) a mobility disability; or (b) a hearing or visual disability. As such, applicant HHs who were denoted both as insiders and as recipients of a disability set-aside unit on the status sheets can be said to have been awarded the unit independent of (not benefitting from) community preference.) </a:t>
            </a:r>
          </a:p>
          <a:p>
            <a:pPr marL="0" indent="0">
              <a:buNone/>
            </a:pPr>
            <a:endParaRPr lang="en-US" dirty="0"/>
          </a:p>
          <a:p>
            <a:endParaRPr lang="en-US" dirty="0"/>
          </a:p>
        </p:txBody>
      </p:sp>
    </p:spTree>
    <p:extLst>
      <p:ext uri="{BB962C8B-B14F-4D97-AF65-F5344CB8AC3E}">
        <p14:creationId xmlns:p14="http://schemas.microsoft.com/office/powerpoint/2010/main" val="9804845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E6C06-2C23-1249-8D9A-623066DDD1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E1B343-C8B5-B528-A177-E6CC384558C5}"/>
              </a:ext>
            </a:extLst>
          </p:cNvPr>
          <p:cNvSpPr>
            <a:spLocks noGrp="1"/>
          </p:cNvSpPr>
          <p:nvPr>
            <p:ph idx="1"/>
          </p:nvPr>
        </p:nvSpPr>
        <p:spPr/>
        <p:txBody>
          <a:bodyPr>
            <a:normAutofit fontScale="55000" lnSpcReduction="20000"/>
          </a:bodyPr>
          <a:lstStyle/>
          <a:p>
            <a:pPr marL="0" indent="0">
              <a:buNone/>
            </a:pPr>
            <a:r>
              <a:rPr lang="en-US" dirty="0"/>
              <a:t>Siskin:</a:t>
            </a:r>
          </a:p>
          <a:p>
            <a:pPr marL="0" indent="0">
              <a:buNone/>
            </a:pPr>
            <a:endParaRPr lang="en-US" dirty="0"/>
          </a:p>
          <a:p>
            <a:pPr marL="0" indent="0">
              <a:buNone/>
            </a:pPr>
            <a:r>
              <a:rPr lang="en-US" dirty="0"/>
              <a:t>If we assume that everyone who is apparently eligible and considered for an apartment would be interested and actually eligible and would take the lowest cost apartment for which they are eligible…</a:t>
            </a:r>
          </a:p>
          <a:p>
            <a:pPr marL="0" indent="0">
              <a:buNone/>
            </a:pPr>
            <a:endParaRPr lang="en-US" dirty="0"/>
          </a:p>
          <a:p>
            <a:pPr marL="0" indent="0">
              <a:buNone/>
            </a:pPr>
            <a:r>
              <a:rPr lang="en-US" dirty="0"/>
              <a:t>Looking at the rate of considerations, we see that 33.83% of the apparently eligible applications were considered. When we examine the consideration rate for each race, we see that 31.48% of the white apparently eligible applications were considered while 32.80% of Hispanic and 35.54% of African American apparently eligible applications were considered. </a:t>
            </a:r>
          </a:p>
          <a:p>
            <a:pPr marL="0" indent="0">
              <a:buNone/>
            </a:pPr>
            <a:endParaRPr lang="en-US" dirty="0"/>
          </a:p>
          <a:p>
            <a:pPr marL="0" indent="0">
              <a:buNone/>
            </a:pPr>
            <a:r>
              <a:rPr lang="en-US" dirty="0"/>
              <a:t>His table 1 claims that the actual percentage of considered who are housed is 1%!</a:t>
            </a:r>
          </a:p>
          <a:p>
            <a:pPr marL="0" indent="0">
              <a:buNone/>
            </a:pPr>
            <a:endParaRPr lang="en-US" dirty="0"/>
          </a:p>
          <a:p>
            <a:pPr marL="0" indent="0">
              <a:buNone/>
            </a:pPr>
            <a:r>
              <a:rPr lang="en-US" b="1" dirty="0"/>
              <a:t>The Fact That Some Applications Without Any Preference Cannot Compete for Any Unit Because All the Units for Which They are Eligible are Awarded Before the No- Preference Applications are Considered is Irrelevant to the Issue of Disparate Impact by Race </a:t>
            </a:r>
          </a:p>
          <a:p>
            <a:pPr marL="0" indent="0">
              <a:buNone/>
            </a:pPr>
            <a:endParaRPr lang="en-US" b="1" dirty="0"/>
          </a:p>
          <a:p>
            <a:pPr marL="0" indent="0">
              <a:buNone/>
            </a:pPr>
            <a:r>
              <a:rPr lang="en-US" dirty="0"/>
              <a:t>Moreover, the fact that all the apartment types for which an application is eligible are filled before the application would be considered is not unique to those without the CP. Households with the CP are considered in lottery number order and, consequently, when their lottery number is reached, all the apartments for which they are apparently eligible may already have been filled, so they are also denied the opportunity to compete. </a:t>
            </a:r>
          </a:p>
          <a:p>
            <a:pPr marL="0" indent="0">
              <a:buNone/>
            </a:pPr>
            <a:endParaRPr lang="en-US" b="1" dirty="0"/>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6456433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0E2C-433E-A25F-43B2-806A9310AD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65F471-2E33-A7A1-75B3-6F1DBE8A4AA7}"/>
              </a:ext>
            </a:extLst>
          </p:cNvPr>
          <p:cNvSpPr>
            <a:spLocks noGrp="1"/>
          </p:cNvSpPr>
          <p:nvPr>
            <p:ph idx="1"/>
          </p:nvPr>
        </p:nvSpPr>
        <p:spPr/>
        <p:txBody>
          <a:bodyPr/>
          <a:lstStyle/>
          <a:p>
            <a:pPr marL="0" indent="0">
              <a:buNone/>
            </a:pPr>
            <a:r>
              <a:rPr lang="en-US" dirty="0"/>
              <a:t>The preferences are ranked, so that the mobility and hearing/vision preference applications are processed first to meet the intended number of units to be awarded, followed by the community district preference (“CP”), and then the municipal employee preference. The remaining units are open for any application from the City which was not yet processed. </a:t>
            </a:r>
            <a:r>
              <a:rPr lang="en-US" b="1" dirty="0"/>
              <a:t>Applications can have more than one preference, and granting someone with multiple preferences a unit counts against each preference’s goal. </a:t>
            </a:r>
            <a:r>
              <a:rPr lang="en-US" dirty="0"/>
              <a:t>The community preference policy sets a goal of 50% of the available units. </a:t>
            </a:r>
          </a:p>
          <a:p>
            <a:endParaRPr lang="en-US" dirty="0"/>
          </a:p>
        </p:txBody>
      </p:sp>
    </p:spTree>
    <p:extLst>
      <p:ext uri="{BB962C8B-B14F-4D97-AF65-F5344CB8AC3E}">
        <p14:creationId xmlns:p14="http://schemas.microsoft.com/office/powerpoint/2010/main" val="31355079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4CAD-FCFB-FE14-6996-F4C2C691A9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D67BCD-1F25-F300-E7D3-24797B44C741}"/>
              </a:ext>
            </a:extLst>
          </p:cNvPr>
          <p:cNvSpPr>
            <a:spLocks noGrp="1"/>
          </p:cNvSpPr>
          <p:nvPr>
            <p:ph idx="1"/>
          </p:nvPr>
        </p:nvSpPr>
        <p:spPr/>
        <p:txBody>
          <a:bodyPr>
            <a:normAutofit fontScale="62500" lnSpcReduction="20000"/>
          </a:bodyPr>
          <a:lstStyle/>
          <a:p>
            <a:pPr marL="0" indent="0">
              <a:buNone/>
            </a:pPr>
            <a:r>
              <a:rPr lang="en-US" dirty="0"/>
              <a:t>That is, first the apparently eligible applications with the mobility preference (5%), and hearing/vision preference (2%) were selected, followed by the CD preference (50%), and then the municipal employee preference (5%) and the “no preference” (38%) applications.</a:t>
            </a:r>
          </a:p>
          <a:p>
            <a:pPr marL="0" indent="0">
              <a:buNone/>
            </a:pPr>
            <a:endParaRPr lang="en-US" dirty="0"/>
          </a:p>
          <a:p>
            <a:pPr marL="0" indent="0">
              <a:buNone/>
            </a:pPr>
            <a:r>
              <a:rPr lang="en-US" dirty="0"/>
              <a:t>If an applicant was eligible for more than one type of unit, the applicant was placed into the smallest number of bedrooms available, favoring a lower rent if eligible for multiple units of the same size. </a:t>
            </a:r>
          </a:p>
          <a:p>
            <a:pPr marL="0" indent="0">
              <a:buNone/>
            </a:pPr>
            <a:endParaRPr lang="en-US" dirty="0"/>
          </a:p>
          <a:p>
            <a:pPr marL="0" indent="0">
              <a:buNone/>
            </a:pPr>
            <a:endParaRPr lang="en-US" dirty="0"/>
          </a:p>
          <a:p>
            <a:pPr marL="0" indent="0">
              <a:buNone/>
            </a:pPr>
            <a:r>
              <a:rPr lang="en-US" dirty="0"/>
              <a:t>At each preference processing stage, awarded applicants were evaluated to determine if they satisfied other preference categories that had not yet been processed. For example, if a mobility unit placement also qualified for the CP, they would be counted as satisfying one unit in both preferences. The result of this nested preference was that the number of available units in both preferences would be decreased, and the units available in the no preference or open stage would be increased. The exception to the nested preference process was that a unit could not satisfy both a mobility and hearing/vision placement. </a:t>
            </a:r>
          </a:p>
          <a:p>
            <a:pPr marL="0" indent="0">
              <a:buNone/>
            </a:pPr>
            <a:r>
              <a:rPr lang="en-US" dirty="0"/>
              <a:t> </a:t>
            </a:r>
          </a:p>
          <a:p>
            <a:endParaRPr lang="en-US" dirty="0"/>
          </a:p>
        </p:txBody>
      </p:sp>
    </p:spTree>
    <p:extLst>
      <p:ext uri="{BB962C8B-B14F-4D97-AF65-F5344CB8AC3E}">
        <p14:creationId xmlns:p14="http://schemas.microsoft.com/office/powerpoint/2010/main" val="8321778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3365-7127-AD65-253A-AEEA651B92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AC24E8-F717-E43A-130B-536F8A3452A5}"/>
              </a:ext>
            </a:extLst>
          </p:cNvPr>
          <p:cNvSpPr>
            <a:spLocks noGrp="1"/>
          </p:cNvSpPr>
          <p:nvPr>
            <p:ph idx="1"/>
          </p:nvPr>
        </p:nvSpPr>
        <p:spPr/>
        <p:txBody>
          <a:bodyPr/>
          <a:lstStyle/>
          <a:p>
            <a:pPr marL="0" indent="0">
              <a:buNone/>
            </a:pPr>
            <a:r>
              <a:rPr lang="en-US" dirty="0"/>
              <a:t>A second factor that would impact the likelihood of selection is the project which the application is requesting since the attractiveness of the project may impact the number and type of applications seeking a unit. A third factor is the types of apartments available at the project. That is, there are a variety of types of apartments available, and the mix of applicants for each apartment type varies, which could impact selection. </a:t>
            </a:r>
            <a:r>
              <a:rPr lang="en-US" b="1" dirty="0"/>
              <a:t>These second and third factors are not random, and the extent to which they will vary by CP status or race is unknown, but they may well be correlated with CP status or race. </a:t>
            </a:r>
          </a:p>
          <a:p>
            <a:endParaRPr lang="en-US" dirty="0"/>
          </a:p>
        </p:txBody>
      </p:sp>
    </p:spTree>
    <p:extLst>
      <p:ext uri="{BB962C8B-B14F-4D97-AF65-F5344CB8AC3E}">
        <p14:creationId xmlns:p14="http://schemas.microsoft.com/office/powerpoint/2010/main" val="13581136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730F-77DE-E65F-745C-71DCCDB4F0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2312F7-D116-99AC-7352-84E980C4BCA3}"/>
              </a:ext>
            </a:extLst>
          </p:cNvPr>
          <p:cNvSpPr>
            <a:spLocks noGrp="1"/>
          </p:cNvSpPr>
          <p:nvPr>
            <p:ph idx="1"/>
          </p:nvPr>
        </p:nvSpPr>
        <p:spPr/>
        <p:txBody>
          <a:bodyPr>
            <a:normAutofit/>
          </a:bodyPr>
          <a:lstStyle/>
          <a:p>
            <a:pPr marL="0" indent="0">
              <a:buNone/>
            </a:pPr>
            <a:r>
              <a:rPr lang="en-US" dirty="0"/>
              <a:t>From Beveridge: </a:t>
            </a:r>
          </a:p>
          <a:p>
            <a:pPr marL="0" indent="0">
              <a:buNone/>
            </a:pPr>
            <a:endParaRPr lang="en-US" dirty="0"/>
          </a:p>
          <a:p>
            <a:pPr marL="0" indent="0">
              <a:buNone/>
            </a:pPr>
            <a:r>
              <a:rPr lang="en-US" dirty="0"/>
              <a:t>10. Within a project’s lottery, there are, in the overwhelming percentage of lotteries, multiple “unit types” that are, at least initially, available to be competed for. Each unit type in a lottery is characterized by a unique combination of number of bedrooms, a monthly rent, a minimum income, and a range of permissible HH sizes, with the maximum permissible HH income generally varying by each permissible HH size. Each unit type is also associated with a particular AMI level of household income. </a:t>
            </a:r>
          </a:p>
          <a:p>
            <a:pPr marL="0" indent="0">
              <a:buNone/>
            </a:pPr>
            <a:endParaRPr lang="en-US" dirty="0"/>
          </a:p>
        </p:txBody>
      </p:sp>
    </p:spTree>
    <p:extLst>
      <p:ext uri="{BB962C8B-B14F-4D97-AF65-F5344CB8AC3E}">
        <p14:creationId xmlns:p14="http://schemas.microsoft.com/office/powerpoint/2010/main" val="13010472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42F92-49A6-F889-2E85-F2746084E2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8F4D1D-702E-0615-E202-D645E95C78BE}"/>
              </a:ext>
            </a:extLst>
          </p:cNvPr>
          <p:cNvSpPr>
            <a:spLocks noGrp="1"/>
          </p:cNvSpPr>
          <p:nvPr>
            <p:ph idx="1"/>
          </p:nvPr>
        </p:nvSpPr>
        <p:spPr/>
        <p:txBody>
          <a:bodyPr/>
          <a:lstStyle/>
          <a:p>
            <a:pPr marL="0" indent="0">
              <a:buNone/>
            </a:pPr>
            <a:r>
              <a:rPr lang="en-US" dirty="0"/>
              <a:t>12. Neither HPD nor HDC make any initial threshold judgment about the qualifications of an applicant HH.3 In some respects, the process at this point is unremarkable: those who have wanted to apply have applied; once the lottery application process has ended, the agencies assign random sequence numbers to each application to determine the order in which a developer’s marketing agent is obliged to review them; and several pieces of data about applicant HHs, including, notably, the applicant HH’s self-reported annual HH income and HH-size, are made available to the marketing agent. </a:t>
            </a:r>
          </a:p>
        </p:txBody>
      </p:sp>
    </p:spTree>
    <p:extLst>
      <p:ext uri="{BB962C8B-B14F-4D97-AF65-F5344CB8AC3E}">
        <p14:creationId xmlns:p14="http://schemas.microsoft.com/office/powerpoint/2010/main" val="36031964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FB77-592B-B98F-C2D7-AFD41D936E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5D243F-0C2E-CE53-DC08-5FAA1B65D50E}"/>
              </a:ext>
            </a:extLst>
          </p:cNvPr>
          <p:cNvSpPr>
            <a:spLocks noGrp="1"/>
          </p:cNvSpPr>
          <p:nvPr>
            <p:ph idx="1"/>
          </p:nvPr>
        </p:nvSpPr>
        <p:spPr/>
        <p:txBody>
          <a:bodyPr/>
          <a:lstStyle/>
          <a:p>
            <a:pPr marL="0" indent="0">
              <a:buNone/>
            </a:pPr>
            <a:r>
              <a:rPr lang="en-US" dirty="0"/>
              <a:t>15. I was asked for this report to examine data from defendant’s affordable housing lotteries to determine whether the community preference policy operates to create discriminatory effects against one or more racial or ethnic groups. I was also asked to determine whether these effects are reflective of a pattern that perpetuates segregation more (and allows integration less) than what would exist without the policy. </a:t>
            </a:r>
          </a:p>
          <a:p>
            <a:pPr marL="0" indent="0">
              <a:buNone/>
            </a:pPr>
            <a:endParaRPr lang="en-US" dirty="0"/>
          </a:p>
        </p:txBody>
      </p:sp>
    </p:spTree>
    <p:extLst>
      <p:ext uri="{BB962C8B-B14F-4D97-AF65-F5344CB8AC3E}">
        <p14:creationId xmlns:p14="http://schemas.microsoft.com/office/powerpoint/2010/main" val="19647751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2EED-EA4D-3E42-FBF2-3A08E7FC77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E6EEB4-99BB-EC52-CA4F-73C7BF0AB55C}"/>
              </a:ext>
            </a:extLst>
          </p:cNvPr>
          <p:cNvSpPr>
            <a:spLocks noGrp="1"/>
          </p:cNvSpPr>
          <p:nvPr>
            <p:ph idx="1"/>
          </p:nvPr>
        </p:nvSpPr>
        <p:spPr/>
        <p:txBody>
          <a:bodyPr/>
          <a:lstStyle/>
          <a:p>
            <a:pPr marL="0" indent="0">
              <a:buNone/>
            </a:pPr>
            <a:r>
              <a:rPr lang="en-US" dirty="0"/>
              <a:t>Use this for post about school choice: how to interpret an application?</a:t>
            </a:r>
          </a:p>
          <a:p>
            <a:pPr marL="0" indent="0">
              <a:buNone/>
            </a:pPr>
            <a:endParaRPr lang="en-US" dirty="0"/>
          </a:p>
          <a:p>
            <a:pPr marL="0" indent="0">
              <a:buNone/>
            </a:pPr>
            <a:r>
              <a:rPr lang="en-US" dirty="0"/>
              <a:t>32. Any hypothesis that New Yorkers are always or mostly interested in remaining in their existing community district is belied by the evidence of lottery participation for those seeking affordable housing. </a:t>
            </a:r>
          </a:p>
          <a:p>
            <a:endParaRPr lang="en-US" dirty="0"/>
          </a:p>
        </p:txBody>
      </p:sp>
    </p:spTree>
    <p:extLst>
      <p:ext uri="{BB962C8B-B14F-4D97-AF65-F5344CB8AC3E}">
        <p14:creationId xmlns:p14="http://schemas.microsoft.com/office/powerpoint/2010/main" val="3364391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39034</TotalTime>
  <Words>4724</Words>
  <Application>Microsoft Macintosh PowerPoint</Application>
  <PresentationFormat>Widescreen</PresentationFormat>
  <Paragraphs>900</Paragraphs>
  <Slides>67</Slides>
  <Notes>0</Notes>
  <HiddenSlides>18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Calibri Light</vt:lpstr>
      <vt:lpstr>Cambria Math</vt:lpstr>
      <vt:lpstr>Helvetica Neue</vt:lpstr>
      <vt:lpstr>Office Theme</vt:lpstr>
      <vt:lpstr>Do “Community Preference” Policies Violate the Fair Housing Act?</vt:lpstr>
      <vt:lpstr>What are the effects of New York’s “Community Preference” Policy? </vt:lpstr>
      <vt:lpstr>Talk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Preferences</vt:lpstr>
      <vt:lpstr>How do they handle this all?</vt:lpstr>
      <vt:lpstr>How do they handle this all?</vt:lpstr>
      <vt:lpstr>How do they handle this all?</vt:lpstr>
      <vt:lpstr>PowerPoint Presentation</vt:lpstr>
      <vt:lpstr>What are consequences of using this algorithm?</vt:lpstr>
      <vt:lpstr>What are consequences of using this algorithm?</vt:lpstr>
      <vt:lpstr>A Simple Example</vt:lpstr>
      <vt:lpstr>A Simple Example</vt:lpstr>
      <vt:lpstr>A Simple Example</vt:lpstr>
      <vt:lpstr>A Simple Example</vt:lpstr>
      <vt:lpstr>A Simple Example</vt:lpstr>
      <vt:lpstr>A Simple Example</vt:lpstr>
      <vt:lpstr>Outcomes from different policies</vt:lpstr>
      <vt:lpstr>Outcomes from different policies</vt:lpstr>
      <vt:lpstr>Outcomes from different policies</vt:lpstr>
      <vt:lpstr>Outcomes from different policies</vt:lpstr>
      <vt:lpstr>Outcomes from different policies</vt:lpstr>
      <vt:lpstr>Outcomes from different policies</vt:lpstr>
      <vt:lpstr>Outcomes from different policies</vt:lpstr>
      <vt:lpstr>The effect of community preference</vt:lpstr>
      <vt:lpstr>The effect of community preference</vt:lpstr>
      <vt:lpstr>Why is this happening?</vt:lpstr>
      <vt:lpstr>Why is this happening? (more detail)</vt:lpstr>
      <vt:lpstr>Why is this happening? (more detail)</vt:lpstr>
      <vt:lpstr>Why is this happening? (more detail)</vt:lpstr>
      <vt:lpstr>Why is this happening? (more detail)</vt:lpstr>
      <vt:lpstr>Why is this happening? (more detail)</vt:lpstr>
      <vt:lpstr>Why is this happening? (more detail)</vt:lpstr>
      <vt:lpstr>Is this actually happening?</vt:lpstr>
      <vt:lpstr>From Beveridge’s Analysis</vt:lpstr>
      <vt:lpstr>Evidence: types with  ≥5 units to insiders, 0 to outsiders.</vt:lpstr>
      <vt:lpstr>Recall Siskin’s conclusions from Part 2…</vt:lpstr>
      <vt:lpstr>Siskin’s Method for  Determining Considered Applications</vt:lpstr>
      <vt:lpstr>Siskin’s Method for  Determining Considered Applications</vt:lpstr>
      <vt:lpstr>Siskin’s Method for  Determining Considered Applications</vt:lpstr>
      <vt:lpstr>Community Preference Policy: Summary</vt:lpstr>
      <vt:lpstr>How is Community Preference Implemented?</vt:lpstr>
      <vt:lpstr>Community Preference + Income Reserves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Nicholas A Arnosti</dc:creator>
  <cp:lastModifiedBy>Nicholas A Arnosti</cp:lastModifiedBy>
  <cp:revision>106</cp:revision>
  <dcterms:created xsi:type="dcterms:W3CDTF">2022-05-03T08:53:30Z</dcterms:created>
  <dcterms:modified xsi:type="dcterms:W3CDTF">2022-06-28T13:11:47Z</dcterms:modified>
</cp:coreProperties>
</file>